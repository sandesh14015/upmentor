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[TIME: 0:00–1:00]
SAY: "Good [morning/afternoon] everyone. My name is [Nimai/Soumya] and I'm a co-founder of UpMentor. Thank you [Principal name] for having us today.
In the next 55 minutes, I'm going to show you something that will change how you think about your future — whether you're a student, a teacher, or a school leader.
No sales pitch. Just the truth about where the world is going, what it means for you specifically, and what you can do about it starting today.
Let's begin."
DO: Make eye contact with the principal first, then scan the room. Stand still — don't pace yet. Smile once, then go serious. The contrast creates attention.
TIMING: 1 minute maximum on this slide.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QUESTION  [TIME: 1:00–2:30]
SAY: "Let me start with a question. And I want you to actually think about it — not just hear it.
[READ SLIDE SLOWLY]
When did you last learn something AI can't do?
[PAUSE 8 SECONDS — let silence sit. Don't fill it.]
Most people can't answer that. Because the honest answer is: everything being taught in most schools right now — AI can already do faster, better, and cheaper.
Writing essays. Solving math problems. Summarising chapters. Generating code. Translating languages. Even diagnosing diseases.
This isn't a threat. It's a reality. And the question is: are you going to fight it, or are you going to learn to use it?"
DO: Say the question, then go SILENT for a full 8 seconds. Let students feel uncomfortable. That discomfort is what opens them to learning. Do not rush it.
TIMING: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AI EXPLOSION  [TIME: 2:30–4:30]
SAY: "Let me give you some numbers. Not to impress you — to shock you into reality.
ChatGPT got 100 million users in its first 2 months. To put that in perspective: Instagram took 2.5 years. Netflix took 10 years.
300 million people use AI tools every week right now. That's more than the entire population of the United States.
And here's the one that should keep every educator in this room up at night: 85% of current jobs will be significantly changed by AI by 2030. Not eliminated necessarily — but changed. Fundamentally.
Your students are 16 years old today. They will enter the workforce in 2028, 2029, 2030 — exactly when this transformation peaks.
The question is not whether AI will affect their careers. It will. The question is whether they'll be the ones using it — or the ones being replaced by it."
DO: Point to each card as you mention the number. Pause after the 85% card — let it land.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WHAT AI CAN DO  [TIME: 4:30–6:30]
SAY: "Let me be specific. Because 'AI will change everything' is easy to say and easy to ignore.
Here is what AI can do right now — today — for free:
[Point to each card]
Write — a student can generate a full essay on any topic in 30 seconds. Better grammar than most adults.
Solve — upload a photo of your maths homework. Get step-by-step solution in 10 seconds.
Create — professional-quality presentations, logo designs, music. Without any design skills.
Research — 100 research papers summarised into one clear page in under a minute.
Translate — 100 languages, instantly, with cultural context.
Diagnose — not perfectly, but AI can identify likely medical conditions, legal issues, financial problems better than many non-specialists.
[PAUSE]
Now. I want you to imagine a student who knows how to use ALL of these tools properly. Ethically. Critically. Strategically.
That student is not just ahead of their classmates. They're ahead of most adults in the workforce."
DO: Move through cards quickly — 10 seconds each. The speed itself creates impact. Don't over-explain.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UNCOMFORTABLE TRUTH  [TIME: 6:30–8:30]
SAY: "I want to ask something directly. And I ask this with complete respect.
How many students in this school use ChatGPT for their assignments?
[PAUSE — let hands go up, or let silence confirm it]
Right. Most of them. We know this.
And here's what's happening right now: students are using these tools to skip thinking rather than amplify it. They're copying outputs without understanding them. They're sharing private information with AI systems. They're unable to tell when AI is wrong — and it is wrong, regularly.
They're developing a dependency without developing a skill.
This is not the students' fault. This is what happens when a technology this powerful arrives and nobody teaches how to use it properly.
[Beat]
The schools that ignore this aren't protecting their students. They're leaving them to figure it out alone."
DO: This slide should feel heavy. Slow down. Speak quietly — the contrast with the earlier energy creates impact. If a teacher nods, acknowledge it. "Exactly."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CAREER IMPACT  [TIME: 8:30–11:00]
SAY: "Let me make this completely concrete. Two students. Same school. Same grades. Same subject.
One of them spends the next 6 months learning to use AI properly. The other doesn't.
[Point to green column]
The AI-literate student: gets hired faster because they demonstrate a skill most candidates don't have. They complete work in a fraction of the time — which means they take on more, deliver more, earn more. Their college application has a project, a certificate, and a letter of recommendation that mentions specific AI skills. They look different. They ARE different.
[Point to red column]
The other student: does everything the same way they always have. Works hard, but slowly. Can't explain what makes them different from 1000 other applicants. Gets passed over — not because they're bad, but because someone else has an edge they don't.
[Beat]
And here's what makes this urgent: this isn't hypothetical. This is happening right now in hiring offices, in college admissions rooms, in every industry from medicine to law to design to teaching.
The divide between AI-literate and AI-illiterate is the new divide between opportunity and struggle."
DO: Use your hands — point to each column. Make the contrast physical, not just verbal. Let the word "struggle" land before you move on.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PRIYA'S STORY  [TIME: 11:00–13:30]
SAY: "Let me tell you about Priya.
[Read slide slowly — pause after each line]
Average grades. Science stream. Not a coder. Not from a special background.
But she spent 6 weeks in a structured AI program. And for her capstone project, she built an AI system that evaluates short-answer exams and gives students instant feedback. She tested it with actual teachers in her school.
She didn't submit a certificate. She submitted a project, a story, and a recommendation letter that described exactly what she built, what problem it solved, and what kind of thinker she is.
The college admission officer didn't see another student who studied hard. They saw a student who already thinks like a professional.
She got in. She got an internship before she'd enrolled.
[Beat — look at students]
Priya is not extraordinary. She's what happens when a student is given the right tools and taught how to use them properly.
Every student in this room has the same potential."
DO: Speak slowly on this slide. Let students picture themselves as Priya. Pause after "She got in." Then look at the room directly before moving on.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WHY SCHOOLS MUST ACT  [TIME: 13:30–15:30]
SAY: "Now I want to speak directly to the school leadership in the room.
You are being asked to make a choice. Not by us — by the market, by parents, by the government, by the future your students are about to walk into.
[Walk through each card]
Parents are already asking about AI programs. We speak to them every week. The first question after 'what are your results?' is now 'do you have AI or coding programs?' Schools without an answer look behind the times.
The National Education Policy 2020 explicitly includes AI literacy as a core future skill. The schools that build this now write the standard. The schools that wait comply with someone else's standard — years later, under pressure.
Rankings and reputation: every school in Bhubaneswar is competing for the same students. An AI program is a visible, marketable, real differentiator. It generates parent word-of-mouth. It generates press coverage.
And for your teachers — training your faculty in AI doesn't just solve their anxiety about being replaced. It makes them leaders. The most forward-thinking educators in any school in the city."
DO: Look at the principal specifically on this slide. These are their concerns — address them directly. Nod toward teachers when you mention them.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INTRODUCING UPMENTOR  [TIME: 15:30–17:00]
SAY: "This is where UpMentor comes in.
We are an AI education company. And our job is simple: we bring a complete, structured AI literacy program directly to your school.
You don't hire new teachers. You don't redesign your curriculum. You don't invest in new technology.
We bring everything. We deliver everything. We certify everyone.
[Point to the 3 bottom cards]
Zero infrastructure needed from you. The program runs inside your existing timetable.
100% done-for-you. Curriculum, trainers, assessments, certificates — all UpMentor.
One school per area. This is important. We don't partner with competitor schools in the same locality. The first school to partner with us in this area owns that story. Permanently.
[Pause]
Your competitor school cannot buy what you already have."
DO: Say "Your competitor school cannot buy what you already have" slowly. Watch the principal's reaction. That line usually gets a visible response.
TIMING: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THE AILA SYSTEM  [TIME: 17:00–19:30]
SAY: "Our program is built on the AILA System — AI Literacy and Application. It runs across 8 weeks, 24 sessions, in 3 distinct phases.
[Point to Phase 1]
Phase 1 is AI Cognition. We start with the mind, not the tools. Students first understand what AI actually is — and what it isn't. We destroy the myths. We build critical thinking about AI before we let them touch a single tool. This is what most programs skip, and it's why their graduates are still confused.
[Point to Phase 2]
Phase 2 is AI Production. Now students use AI tools for real tasks — their actual subjects, their actual assignments, real projects. Prompt engineering. Workflow automation. Building something real. This is where the skill becomes tangible.
[Point to Phase 3]
Phase 3 is AI Identity. Ethics. Risks. Responsible use. And crucially — the Contribution Statement Protocol. Every student documents what they built, what they learned, and how they think. This is what the LOR is written from. This is what makes the credential real.
Three phases. 24 sessions. And three proprietary frameworks that are not available anywhere else."
DO: Use your finger to trace across the 3 phases as you describe them. This makes the structure physical and memorable.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THE 4 CREDENTIALS  [TIME: 19:30–22:00]
SAY: "This is what separates UpMentor from every other program your students could attend.
Most programs give you a certificate. We give your students four credentials.
[Read each one — pause after each]
One: A verified Course Completion Certificate. Project-backed. Unique certificate ID that can be verified online. Shareable on LinkedIn. Valid for college applications and job interviews.
Two: An Internship Certificate. Not a participation award. A certificate earned by completing a real project with a real output — evaluated by an actual partner organisation.
Three: An Outstanding Performance Award. This one is selective — top 10% only. Because rarity is what gives it value. Any employer or admission officer who sees this knows it wasn't handed out to everyone.
Four: A Letter of Recommendation. Personalised. Not a template. It mentions this student's specific project, their AI skills by name, and one personal observation about how they think. This is the credential that tips decisions.
[Pause — look at the room]
No other program in Odisha offers all four from a single structured curriculum. When your student walks out of UpMentor, they don't just have skills. They have proof."
DO: Slow way down on the LOR description. That's the one parents and students care most about. Watch faces — if you see reaction, hold it longer.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SCHOOL BENEFITS  [TIME: 22:00–24:30]
SAY: "Let me tell you specifically what your school gets from this partnership.
[Walk through cards]
The AI-Enabled School badge — official UpMentor branding you can display on your website, at your gate, in your prospectus. Parents see it. Students mention it. It generates the kind of word-of-mouth no marketing budget can buy.
Teacher AI Training — every faculty member you want included gets trained. They become the most forward-thinking educators in any school in this city.
Cohort Outcomes Report — after every program, we give you a full data report. Completion rates. Scores. Employer placements. Feedback. You can show this to parents, to your board, to anyone who asks.
Exclusive territory rights — I want to be clear about this. We are physically incapable of offering this program to your competitor school in this area once you sign. That exclusivity is permanent.
Annual AI Competition — we help you host a school-level AI showcase. Students present their projects. It becomes an event. Parents attend. Local press covers it.
And zero infrastructure cost. You don't build anything. We deliver everything."
DO: When you say "your competitor school in this area once you sign — that exclusivity is permanent" — pause and let that land. For principals this is the strongest sentence on this slide.
TIMING: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SESSION SAMPLE  [TIME: 24:30–26:30]
SAY: "I know what some of you are thinking: 'This sounds good on paper — but what actually happens in the room?'
Let me show you a sample session. Session 6 — Prompt Engineering for Your Subjects. 55 minutes.
[Walk through the timeline]
We start with a hook that makes every student admit something. 'Who has copied an AI answer they didn't understand?' Almost every hand goes up. That honesty is the starting point.
Then we explain the concept — what prompt engineering is, why it matters. A bad prompt gets a useless answer. A structured prompt gets something you can actually use.
Live demo — on screen, on their actual subjects. Not a generic example. Their specific curriculum.
Practice — students write prompts for a real assignment they have this week. The trainer circulates and gives live feedback.
Challenge — a competition for the best prompt. Class votes. Top 3 get discussed.
Debrief — students document their work in their AI Portfolio, which feeds into their final assessment.
Every session follows this structure. Active. Specific. Immediately useful. No lectures. No passive listening."
DO: This slide tells teachers and principals the sessions are credible and structured. If a teacher looks skeptical, make eye contact here. This is for them.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PARTNERSHIP MODEL  [TIME: 26:30–28:30]
SAY: "Let me explain exactly how this works, because I want to be clear that there is no pressure today.
[Point to Tier 1]
We are here today for Tier 1 — the free seminar. You are experiencing it right now. Zero cost. Zero commitment. No contract. We simply want to show you the quality of what we do.
[Point to Tier 2]
If after today you want your students to go through the full program — that's Tier 2. The complete 8-week AILA curriculum, teacher training, and all 4 credentials for every participating student.
[Point to Tier 3]
Tier 3 is the full annual partnership. Everything in Tier 2 plus the AI-Enabled School badge, branding materials, the annual AI competition hosted at your campus, and permanent exclusive territory rights.
[Pause]
You don't have to decide anything today. But I do want to be transparent about one thing: Tier 3 — the exclusive territory — is available to one school per area. Once another school in this locality takes it, it's closed.
Today's seminar is yours unconditionally. Everything else is your choice."
DO: When you say "once another school in this locality takes it, it's closed" — don't rush past it. Let it sit for 2 seconds.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WHO WE ARE  [TIME: 28:30–30:00]
SAY: "You should know who you're talking to.
We are UpMentor Edutech Private Limited — a registered company, incorporated in May 2025, based here in Bhubaneswar.
[Point to your photo / card]
I'm [Nimai/Soumya] — I own the [product/business] side of UpMentor. I designed the AILA System curriculum and every assessment in the program. / I handle all school partnerships, employer relationships, and the business side.
[Point to Soumya's card]
My co-founder [Soumya/Nimai] owns the [business/product] side — every school partnership, every employer MoU, all legal and financial structure.
We are not a national company parachuting into Odisha. We are from here. We understand this market, these students, and these schools — because this is where we grew up and where we're building.
Our mission is to make UpMentor the program that every student in Odisha — and eventually across India — completes before they enter the workforce."
DO: This slide humanises you. Speak warmly. This is the only slide where you're allowed to be slightly less formal. Show that you believe in this.
TIMING: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LIVE DEMO  [TIME: 30:00–34:00]
SAY: "This is my favourite part. I want to actually show you something — not just tell you about it.
If anyone has a phone or laptop, open ChatGPT right now. Free version is fine.
[Wait 20 seconds for people to open it]
Everyone ready? OK. Here's the exercise.
First — type this: 'Explain photosynthesis.' Send it. Read what you get.
[Pause 30 seconds]
Now type this exact prompt: [READ SLIDE — slowly]
'Explain photosynthesis to a Class 10 student who already understands diffusion but gets confused by the light-dependent reaction. Use an analogy involving a factory.'
[Pause 45 seconds while they read]
Show me — which answer would you actually use for studying?
[Let students respond]
This is what prompt engineering is. The difference between those two prompts is 15 words and 30 seconds of thought. And it produces an output that's 10 times more useful.
This is the skill we teach. Not 'use ChatGPT.' How to think with AI."
DO: This is the most important 4 minutes of the seminar. If students are engaged here, they're sold. If only a few phones come out, invite a student up to your laptop. Never skip this demo.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FOMO CLOSE  [TIME: 34:00–36:00]
SAY: "I want to say something directly to every student in this room. And I want you to hear this — not as a pitch, but as something I genuinely believe.
[Read slide slowly]
Your batch will graduate into the most competitive job market in history.
Not because the economy is bad. Because there are more qualified candidates, more AI-assisted work, and higher expectations than any generation before you has ever faced.
[Pause]
The students who master AI now will define the pace for everyone else. They will get the internships first. The job offers first. The college placements first. Not because they're smarter — because they're prepared.
The ones who wait won't fail. But they will spend the early part of their careers catching up to people who started when you had the chance.
[Look at room]
That window — to be first, to have the credential, to have the LOR — is open right now.
It won't stay open."
DO: Say the last line quietly. Almost a whisper. The quieter you say "it won't stay open" the more it lands. No theatrics — just truth.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OBJECTIONS  [TIME: 36:00–40:00]
SAY: "Before we go further, let me address the questions I know are in the room — because we get them at every school.
[Read each Q&amp;A — you can paraphrase but cover every point]
The ChatGPT concern: this is the most common one. And the answer is — if this were just a ChatGPT tutorial, I wouldn't be standing here. The tools change every 6 months. We teach the thinking, not the tool.
Academic integrity: I appreciate that this is a real concern. The research is clear — students who understand how AI works misuse it less, not more. Ignorance creates misuse. Education prevents it.
Timetable: we've made this work in schools that said they had no room. Our curriculum team designs specifically for your schedule before we ever run a session.
Tool change: watch this space. AI tools will look completely different by 2027. The students who understand principles will adapt. The ones who learned a specific tool will struggle.
[Pause]
Do you have any others? I'd rather answer them now."
DO: Genuinely invite questions here. "I'd rather answer them now" is an invitation that builds trust. If a tough question comes, welcome it warmly. Never be defensive.
TIMING: 4 minutes (including potential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NEXT STEPS  [TIME: 40:00–43:00]
SAY: "So here's exactly what happens from here.
Today: we're going to pass around a simple interest form. Two minutes. Name, school, phone number, role. That's it. No commitment. No contract. Just a way for us to follow up with everyone who wants more information.
Within 48 hours: [Soumya's name] from our team calls you personally. Answers questions. Shares the full partnership proposal if you want it.
This week: if you're interested in partnering, we schedule a 30-minute meeting — just you and us — to go through the agreement in detail.
July 2025: Cohort 1 begins. Your students become the first batch in Bhubaneswar to hold UpMentor credentials.
[Pause — point to the blue bar]
The July cohort has limited spots. And the exclusive territory — one school per area — goes to whoever confirms first.
I want to be clear: there's no pressure here. We would rather partner with the right school slowly than rush the wrong partnership. If you need time to think, that's completely fine. Just know that someone in your area is going to make this decision."
DO: Pass out physical interest forms now (print before the seminar) OR show a QR code. Don't rely on people to WhatsApp you later — get the information in the room.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FINAL CTA  [TIME: 43:00–55:00]
SAY: "That's the presentation. Thank you for your time and your attention.
Before I open for questions — let me say one thing.
We started UpMentor because we believe every student in Odisha deserves access to this skill. Not just students at top schools in metro cities. Students right here. This is personal for us — we're from here.
We're not here to sell you a product. We're here to offer you a partnership. And the best partnerships are the ones where both sides genuinely win.
Your students get skills and four credentials that no other program gives them. Your teachers get trained and empowered. Your school gets recognised as a place that's preparing students for the real world.
We win when your students get placed, when your school grows, when the outcomes are real.
[Look around the room]
I'm going to open for questions now. And after that, we'll pass around the interest form. No pressure — just let us know if you want to continue the conversation.
Who has the first question?"
DO: The Q&amp;A is part of the seminar. Budget 10–12 minutes for questions. Welcome every question warmly. If a tough question comes, answer it directly — don't deflect. After Q&amp;A, pass forms and stay in the room for 10 minutes. The principal conversations that happen after you formally close are often where the deal is made.
CRITICAL: Before you leave, directly ask the principal: "Would you like us to share the full partnership proposal with you this week?" A yes to this question is 70% of the way to a signed agreement.
TIMING: Close at 43 mins. Q&amp;A takes you to 55 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5029200" y="-1371600"/>
            <a:ext cx="5486400" cy="5486400"/>
          </a:xfrm>
          <a:prstGeom prst="ellipse">
            <a:avLst/>
          </a:prstGeom>
          <a:solidFill>
            <a:srgbClr val="1554F0">
              <a:alpha val="18000"/>
            </a:srgbClr>
          </a:solidFill>
          <a:ln w="12700">
            <a:solidFill>
              <a:srgbClr val="1554F0">
                <a:alpha val="18000"/>
              </a:srgbClr>
            </a:solidFill>
            <a:prstDash val="solid"/>
          </a:ln>
        </p:spPr>
      </p:sp>
      <p:sp>
        <p:nvSpPr>
          <p:cNvPr id="3" name="Shape 1"/>
          <p:cNvSpPr/>
          <p:nvPr/>
        </p:nvSpPr>
        <p:spPr>
          <a:xfrm>
            <a:off x="6400800" y="2286000"/>
            <a:ext cx="2743200" cy="2743200"/>
          </a:xfrm>
          <a:prstGeom prst="ellipse">
            <a:avLst/>
          </a:prstGeom>
          <a:solidFill>
            <a:srgbClr val="00C4F0">
              <a:alpha val="12000"/>
            </a:srgbClr>
          </a:solidFill>
          <a:ln w="12700">
            <a:solidFill>
              <a:srgbClr val="00C4F0">
                <a:alpha val="12000"/>
              </a:srgbClr>
            </a:solidFill>
            <a:prstDash val="solid"/>
          </a:ln>
        </p:spPr>
      </p:sp>
      <p:pic>
        <p:nvPicPr>
          <p:cNvPr id="4" name="Image 0" descr="UpMentor">    </p:cNvPr>
          <p:cNvPicPr>
            <a:picLocks noChangeAspect="1"/>
          </p:cNvPicPr>
          <p:nvPr/>
        </p:nvPicPr>
        <p:blipFill>
          <a:blip r:embed="rId1"/>
          <a:stretch>
            <a:fillRect/>
          </a:stretch>
        </p:blipFill>
        <p:spPr>
          <a:xfrm>
            <a:off x="457200" y="256032"/>
            <a:ext cx="1177747" cy="420624"/>
          </a:xfrm>
          <a:prstGeom prst="rect">
            <a:avLst/>
          </a:prstGeom>
        </p:spPr>
      </p:pic>
      <p:sp>
        <p:nvSpPr>
          <p:cNvPr id="5" name="Text 2"/>
          <p:cNvSpPr/>
          <p:nvPr/>
        </p:nvSpPr>
        <p:spPr>
          <a:xfrm>
            <a:off x="457200" y="1188720"/>
            <a:ext cx="4572000" cy="274320"/>
          </a:xfrm>
          <a:prstGeom prst="rect">
            <a:avLst/>
          </a:prstGeom>
          <a:noFill/>
          <a:ln/>
        </p:spPr>
        <p:txBody>
          <a:bodyPr wrap="square" lIns="0" tIns="0" rIns="0" bIns="0" rtlCol="0" anchor="ctr"/>
          <a:lstStyle/>
          <a:p>
            <a:pPr indent="0" marL="0">
              <a:buNone/>
            </a:pPr>
            <a:r>
              <a:rPr lang="en-US" sz="1000" b="1" spc="500" kern="0" dirty="0">
                <a:solidFill>
                  <a:srgbClr val="00C4F0"/>
                </a:solidFill>
                <a:latin typeface="Calibri" pitchFamily="34" charset="0"/>
                <a:ea typeface="Calibri" pitchFamily="34" charset="-122"/>
                <a:cs typeface="Calibri" pitchFamily="34" charset="-120"/>
              </a:rPr>
              <a:t>FREE SEMINAR</a:t>
            </a:r>
            <a:endParaRPr lang="en-US" sz="1000" dirty="0"/>
          </a:p>
        </p:txBody>
      </p:sp>
      <p:sp>
        <p:nvSpPr>
          <p:cNvPr id="6" name="Text 3"/>
          <p:cNvSpPr/>
          <p:nvPr/>
        </p:nvSpPr>
        <p:spPr>
          <a:xfrm>
            <a:off x="457200" y="1508760"/>
            <a:ext cx="5943600" cy="2560320"/>
          </a:xfrm>
          <a:prstGeom prst="rect">
            <a:avLst/>
          </a:prstGeom>
          <a:noFill/>
          <a:ln/>
        </p:spPr>
        <p:txBody>
          <a:bodyPr wrap="square" rtlCol="0" anchor="ctr"/>
          <a:lstStyle/>
          <a:p>
            <a:pPr indent="0" marL="0">
              <a:lnSpc>
                <a:spcPct val="115000"/>
              </a:lnSpc>
              <a:buNone/>
            </a:pPr>
            <a:r>
              <a:rPr lang="en-US" sz="4400" b="1" dirty="0">
                <a:solidFill>
                  <a:srgbClr val="EEF4FF"/>
                </a:solidFill>
                <a:latin typeface="Calibri" pitchFamily="34" charset="0"/>
                <a:ea typeface="Calibri" pitchFamily="34" charset="-122"/>
                <a:cs typeface="Calibri" pitchFamily="34" charset="-120"/>
              </a:rPr>
              <a:t>How AI Will
</a:t>
            </a:r>
            <a:pPr indent="0" marL="0">
              <a:lnSpc>
                <a:spcPct val="115000"/>
              </a:lnSpc>
              <a:buNone/>
            </a:pPr>
            <a:r>
              <a:rPr lang="en-US" sz="4400" b="1" dirty="0">
                <a:solidFill>
                  <a:srgbClr val="00C4F0"/>
                </a:solidFill>
                <a:latin typeface="Calibri" pitchFamily="34" charset="0"/>
                <a:ea typeface="Calibri" pitchFamily="34" charset="-122"/>
                <a:cs typeface="Calibri" pitchFamily="34" charset="-120"/>
              </a:rPr>
              <a:t>Change Careers
</a:t>
            </a:r>
            <a:pPr indent="0" marL="0">
              <a:lnSpc>
                <a:spcPct val="115000"/>
              </a:lnSpc>
              <a:buNone/>
            </a:pPr>
            <a:r>
              <a:rPr lang="en-US" sz="4400" b="1" dirty="0">
                <a:solidFill>
                  <a:srgbClr val="EEF4FF"/>
                </a:solidFill>
                <a:latin typeface="Calibri" pitchFamily="34" charset="0"/>
                <a:ea typeface="Calibri" pitchFamily="34" charset="-122"/>
                <a:cs typeface="Calibri" pitchFamily="34" charset="-120"/>
              </a:rPr>
              <a:t>&amp; Education</a:t>
            </a:r>
            <a:endParaRPr lang="en-US" sz="4400" dirty="0"/>
          </a:p>
        </p:txBody>
      </p:sp>
      <p:sp>
        <p:nvSpPr>
          <p:cNvPr id="7" name="Text 4"/>
          <p:cNvSpPr/>
          <p:nvPr/>
        </p:nvSpPr>
        <p:spPr>
          <a:xfrm>
            <a:off x="457200" y="4160520"/>
            <a:ext cx="5486400" cy="502920"/>
          </a:xfrm>
          <a:prstGeom prst="rect">
            <a:avLst/>
          </a:prstGeom>
          <a:noFill/>
          <a:ln/>
        </p:spPr>
        <p:txBody>
          <a:bodyPr wrap="square" rtlCol="0" anchor="ctr"/>
          <a:lstStyle/>
          <a:p>
            <a:pPr indent="0" marL="0">
              <a:buNone/>
            </a:pPr>
            <a:r>
              <a:rPr lang="en-US" sz="1300" i="1" dirty="0">
                <a:solidFill>
                  <a:srgbClr val="7A9ACC"/>
                </a:solidFill>
                <a:latin typeface="Calibri" pitchFamily="34" charset="0"/>
                <a:ea typeface="Calibri" pitchFamily="34" charset="-122"/>
                <a:cs typeface="Calibri" pitchFamily="34" charset="-120"/>
              </a:rPr>
              <a:t>A 60-minute session that will permanently change how you think about your future.</a:t>
            </a:r>
            <a:endParaRPr lang="en-US" sz="1300" dirty="0"/>
          </a:p>
        </p:txBody>
      </p:sp>
      <p:sp>
        <p:nvSpPr>
          <p:cNvPr id="8" name="Shape 5"/>
          <p:cNvSpPr/>
          <p:nvPr/>
        </p:nvSpPr>
        <p:spPr>
          <a:xfrm>
            <a:off x="6492240" y="1371600"/>
            <a:ext cx="2286000" cy="2926080"/>
          </a:xfrm>
          <a:prstGeom prst="roundRect">
            <a:avLst>
              <a:gd name="adj" fmla="val 4000"/>
            </a:avLst>
          </a:prstGeom>
          <a:solidFill>
            <a:srgbClr val="0E1C38"/>
          </a:solidFill>
          <a:ln w="12700">
            <a:solidFill>
              <a:srgbClr val="1A2D52"/>
            </a:solidFill>
            <a:prstDash val="solid"/>
          </a:ln>
          <a:effectLst>
            <a:outerShdw sx="100000" sy="100000" kx="0" ky="0" algn="bl" rotWithShape="0" blurRad="127000" dist="38100" dir="2700000">
              <a:srgbClr val="000000">
                <a:alpha val="30000"/>
              </a:srgbClr>
            </a:outerShdw>
          </a:effectLst>
        </p:spPr>
      </p:sp>
      <p:sp>
        <p:nvSpPr>
          <p:cNvPr id="9" name="Text 6"/>
          <p:cNvSpPr/>
          <p:nvPr/>
        </p:nvSpPr>
        <p:spPr>
          <a:xfrm>
            <a:off x="6629400" y="1572768"/>
            <a:ext cx="2011680" cy="256032"/>
          </a:xfrm>
          <a:prstGeom prst="rect">
            <a:avLst/>
          </a:prstGeom>
          <a:noFill/>
          <a:ln/>
        </p:spPr>
        <p:txBody>
          <a:bodyPr wrap="square" rtlCol="0" anchor="ctr"/>
          <a:lstStyle/>
          <a:p>
            <a:pPr algn="ctr" indent="0" marL="0">
              <a:buNone/>
            </a:pPr>
            <a:r>
              <a:rPr lang="en-US" sz="1000" dirty="0">
                <a:solidFill>
                  <a:srgbClr val="7A9ACC"/>
                </a:solidFill>
                <a:latin typeface="Calibri" pitchFamily="34" charset="0"/>
                <a:ea typeface="Calibri" pitchFamily="34" charset="-122"/>
                <a:cs typeface="Calibri" pitchFamily="34" charset="-120"/>
              </a:rPr>
              <a:t>Presented by</a:t>
            </a:r>
            <a:endParaRPr lang="en-US" sz="1000" dirty="0"/>
          </a:p>
        </p:txBody>
      </p:sp>
      <p:sp>
        <p:nvSpPr>
          <p:cNvPr id="10" name="Text 7"/>
          <p:cNvSpPr/>
          <p:nvPr/>
        </p:nvSpPr>
        <p:spPr>
          <a:xfrm>
            <a:off x="6629400" y="1828800"/>
            <a:ext cx="2011680" cy="548640"/>
          </a:xfrm>
          <a:prstGeom prst="rect">
            <a:avLst/>
          </a:prstGeom>
          <a:noFill/>
          <a:ln/>
        </p:spPr>
        <p:txBody>
          <a:bodyPr wrap="square" rtlCol="0" anchor="ctr"/>
          <a:lstStyle/>
          <a:p>
            <a:pPr algn="ctr" indent="0" marL="0">
              <a:lnSpc>
                <a:spcPct val="120000"/>
              </a:lnSpc>
              <a:buNone/>
            </a:pPr>
            <a:r>
              <a:rPr lang="en-US" sz="1200" b="1" dirty="0">
                <a:solidFill>
                  <a:srgbClr val="EEF4FF"/>
                </a:solidFill>
                <a:latin typeface="Calibri" pitchFamily="34" charset="0"/>
                <a:ea typeface="Calibri" pitchFamily="34" charset="-122"/>
                <a:cs typeface="Calibri" pitchFamily="34" charset="-120"/>
              </a:rPr>
              <a:t>UpMentor Edutech</a:t>
            </a:r>
            <a:endParaRPr lang="en-US" sz="1200" dirty="0"/>
          </a:p>
          <a:p>
            <a:pPr algn="ctr" indent="0" marL="0">
              <a:lnSpc>
                <a:spcPct val="120000"/>
              </a:lnSpc>
              <a:buNone/>
            </a:pPr>
            <a:r>
              <a:rPr lang="en-US" sz="1200" b="1" dirty="0">
                <a:solidFill>
                  <a:srgbClr val="EEF4FF"/>
                </a:solidFill>
                <a:latin typeface="Calibri" pitchFamily="34" charset="0"/>
                <a:ea typeface="Calibri" pitchFamily="34" charset="-122"/>
                <a:cs typeface="Calibri" pitchFamily="34" charset="-120"/>
              </a:rPr>
              <a:t>Private Limited</a:t>
            </a:r>
            <a:endParaRPr lang="en-US" sz="1200" dirty="0"/>
          </a:p>
        </p:txBody>
      </p:sp>
      <p:sp>
        <p:nvSpPr>
          <p:cNvPr id="11" name="Shape 8"/>
          <p:cNvSpPr/>
          <p:nvPr/>
        </p:nvSpPr>
        <p:spPr>
          <a:xfrm>
            <a:off x="6766560" y="2487168"/>
            <a:ext cx="1737360" cy="0"/>
          </a:xfrm>
          <a:prstGeom prst="line">
            <a:avLst/>
          </a:prstGeom>
          <a:noFill/>
          <a:ln w="12700">
            <a:solidFill>
              <a:srgbClr val="1A2D52"/>
            </a:solidFill>
            <a:prstDash val="solid"/>
          </a:ln>
        </p:spPr>
      </p:sp>
      <p:sp>
        <p:nvSpPr>
          <p:cNvPr id="12" name="Text 9"/>
          <p:cNvSpPr/>
          <p:nvPr/>
        </p:nvSpPr>
        <p:spPr>
          <a:xfrm>
            <a:off x="6629400" y="2578608"/>
            <a:ext cx="2011680" cy="256032"/>
          </a:xfrm>
          <a:prstGeom prst="rect">
            <a:avLst/>
          </a:prstGeom>
          <a:noFill/>
          <a:ln/>
        </p:spPr>
        <p:txBody>
          <a:bodyPr wrap="square" rtlCol="0" anchor="ctr"/>
          <a:lstStyle/>
          <a:p>
            <a:pPr algn="ctr" indent="0" marL="0">
              <a:buNone/>
            </a:pPr>
            <a:r>
              <a:rPr lang="en-US" sz="1000" dirty="0">
                <a:solidFill>
                  <a:srgbClr val="7A9ACC"/>
                </a:solidFill>
                <a:latin typeface="Calibri" pitchFamily="34" charset="0"/>
                <a:ea typeface="Calibri" pitchFamily="34" charset="-122"/>
                <a:cs typeface="Calibri" pitchFamily="34" charset="-120"/>
              </a:rPr>
              <a:t>Bhubaneswar, Odisha</a:t>
            </a:r>
            <a:endParaRPr lang="en-US" sz="1000" dirty="0"/>
          </a:p>
        </p:txBody>
      </p:sp>
      <p:sp>
        <p:nvSpPr>
          <p:cNvPr id="13" name="Text 10"/>
          <p:cNvSpPr/>
          <p:nvPr/>
        </p:nvSpPr>
        <p:spPr>
          <a:xfrm>
            <a:off x="6629400" y="2852928"/>
            <a:ext cx="2011680" cy="256032"/>
          </a:xfrm>
          <a:prstGeom prst="rect">
            <a:avLst/>
          </a:prstGeom>
          <a:noFill/>
          <a:ln/>
        </p:spPr>
        <p:txBody>
          <a:bodyPr wrap="square" rtlCol="0" anchor="ctr"/>
          <a:lstStyle/>
          <a:p>
            <a:pPr algn="ctr" indent="0" marL="0">
              <a:buNone/>
            </a:pPr>
            <a:r>
              <a:rPr lang="en-US" sz="1000" dirty="0">
                <a:solidFill>
                  <a:srgbClr val="7A9ACC"/>
                </a:solidFill>
                <a:latin typeface="Calibri" pitchFamily="34" charset="0"/>
                <a:ea typeface="Calibri" pitchFamily="34" charset="-122"/>
                <a:cs typeface="Calibri" pitchFamily="34" charset="-120"/>
              </a:rPr>
              <a:t>2025–26</a:t>
            </a:r>
            <a:endParaRPr lang="en-US" sz="1000" dirty="0"/>
          </a:p>
        </p:txBody>
      </p:sp>
      <p:sp>
        <p:nvSpPr>
          <p:cNvPr id="14" name="Shape 11"/>
          <p:cNvSpPr/>
          <p:nvPr/>
        </p:nvSpPr>
        <p:spPr>
          <a:xfrm>
            <a:off x="6766560" y="3200400"/>
            <a:ext cx="1737360" cy="0"/>
          </a:xfrm>
          <a:prstGeom prst="line">
            <a:avLst/>
          </a:prstGeom>
          <a:noFill/>
          <a:ln w="12700">
            <a:solidFill>
              <a:srgbClr val="1A2D52"/>
            </a:solidFill>
            <a:prstDash val="solid"/>
          </a:ln>
        </p:spPr>
      </p:sp>
      <p:sp>
        <p:nvSpPr>
          <p:cNvPr id="15" name="Text 12"/>
          <p:cNvSpPr/>
          <p:nvPr/>
        </p:nvSpPr>
        <p:spPr>
          <a:xfrm>
            <a:off x="6629400" y="3310128"/>
            <a:ext cx="2011680" cy="256032"/>
          </a:xfrm>
          <a:prstGeom prst="rect">
            <a:avLst/>
          </a:prstGeom>
          <a:noFill/>
          <a:ln/>
        </p:spPr>
        <p:txBody>
          <a:bodyPr wrap="square" rtlCol="0" anchor="ctr"/>
          <a:lstStyle/>
          <a:p>
            <a:pPr algn="ctr" indent="0" marL="0">
              <a:buNone/>
            </a:pPr>
            <a:r>
              <a:rPr lang="en-US" sz="1000" dirty="0">
                <a:solidFill>
                  <a:srgbClr val="00C4F0"/>
                </a:solidFill>
                <a:latin typeface="Calibri" pitchFamily="34" charset="0"/>
                <a:ea typeface="Calibri" pitchFamily="34" charset="-122"/>
                <a:cs typeface="Calibri" pitchFamily="34" charset="-120"/>
              </a:rPr>
              <a:t>Duration: 55–60 min</a:t>
            </a:r>
            <a:endParaRPr lang="en-US" sz="1000" dirty="0"/>
          </a:p>
        </p:txBody>
      </p:sp>
      <p:sp>
        <p:nvSpPr>
          <p:cNvPr id="16" name="Text 13"/>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1005840"/>
            <a:ext cx="8229600" cy="457200"/>
          </a:xfrm>
          <a:prstGeom prst="rect">
            <a:avLst/>
          </a:prstGeom>
          <a:noFill/>
          <a:ln/>
        </p:spPr>
        <p:txBody>
          <a:bodyPr wrap="square" rtlCol="0" anchor="ctr"/>
          <a:lstStyle/>
          <a:p>
            <a:pPr algn="ctr" indent="0" marL="0">
              <a:buNone/>
            </a:pPr>
            <a:r>
              <a:rPr lang="en-US" sz="1600" i="1" dirty="0">
                <a:solidFill>
                  <a:srgbClr val="7A9ACC"/>
                </a:solidFill>
                <a:latin typeface="Calibri" pitchFamily="34" charset="0"/>
                <a:ea typeface="Calibri" pitchFamily="34" charset="-122"/>
                <a:cs typeface="Calibri" pitchFamily="34" charset="-120"/>
              </a:rPr>
              <a:t>Let me ask you one question.</a:t>
            </a:r>
            <a:endParaRPr lang="en-US" sz="1600" dirty="0"/>
          </a:p>
        </p:txBody>
      </p:sp>
      <p:sp>
        <p:nvSpPr>
          <p:cNvPr id="4" name="Text 1"/>
          <p:cNvSpPr/>
          <p:nvPr/>
        </p:nvSpPr>
        <p:spPr>
          <a:xfrm>
            <a:off x="457200" y="1554480"/>
            <a:ext cx="8229600" cy="2286000"/>
          </a:xfrm>
          <a:prstGeom prst="rect">
            <a:avLst/>
          </a:prstGeom>
          <a:noFill/>
          <a:ln/>
        </p:spPr>
        <p:txBody>
          <a:bodyPr wrap="square" rtlCol="0" anchor="ctr"/>
          <a:lstStyle/>
          <a:p>
            <a:pPr algn="ctr" indent="0" marL="0">
              <a:lnSpc>
                <a:spcPct val="110000"/>
              </a:lnSpc>
              <a:buNone/>
            </a:pPr>
            <a:r>
              <a:rPr lang="en-US" sz="4200" b="1" dirty="0">
                <a:solidFill>
                  <a:srgbClr val="EEF4FF"/>
                </a:solidFill>
                <a:latin typeface="Calibri" pitchFamily="34" charset="0"/>
                <a:ea typeface="Calibri" pitchFamily="34" charset="-122"/>
                <a:cs typeface="Calibri" pitchFamily="34" charset="-120"/>
              </a:rPr>
              <a:t>When did you last</a:t>
            </a:r>
            <a:endParaRPr lang="en-US" sz="4200" dirty="0"/>
          </a:p>
          <a:p>
            <a:pPr algn="ctr" indent="0" marL="0">
              <a:lnSpc>
                <a:spcPct val="110000"/>
              </a:lnSpc>
              <a:buNone/>
            </a:pPr>
            <a:r>
              <a:rPr lang="en-US" sz="4200" b="1" dirty="0">
                <a:solidFill>
                  <a:srgbClr val="EEF4FF"/>
                </a:solidFill>
                <a:latin typeface="Calibri" pitchFamily="34" charset="0"/>
                <a:ea typeface="Calibri" pitchFamily="34" charset="-122"/>
                <a:cs typeface="Calibri" pitchFamily="34" charset="-120"/>
              </a:rPr>
              <a:t>learn something</a:t>
            </a:r>
            <a:endParaRPr lang="en-US" sz="4200" dirty="0"/>
          </a:p>
          <a:p>
            <a:pPr algn="ctr" indent="0" marL="0">
              <a:lnSpc>
                <a:spcPct val="110000"/>
              </a:lnSpc>
              <a:buNone/>
            </a:pPr>
            <a:r>
              <a:rPr lang="en-US" sz="4200" b="1" dirty="0">
                <a:solidFill>
                  <a:srgbClr val="EEF4FF"/>
                </a:solidFill>
                <a:latin typeface="Calibri" pitchFamily="34" charset="0"/>
                <a:ea typeface="Calibri" pitchFamily="34" charset="-122"/>
                <a:cs typeface="Calibri" pitchFamily="34" charset="-120"/>
              </a:rPr>
              <a:t>AI can't do?</a:t>
            </a:r>
            <a:endParaRPr lang="en-US" sz="4200" dirty="0"/>
          </a:p>
        </p:txBody>
      </p:sp>
      <p:sp>
        <p:nvSpPr>
          <p:cNvPr id="5" name="Text 2"/>
          <p:cNvSpPr/>
          <p:nvPr/>
        </p:nvSpPr>
        <p:spPr>
          <a:xfrm>
            <a:off x="457200" y="3977640"/>
            <a:ext cx="8229600" cy="365760"/>
          </a:xfrm>
          <a:prstGeom prst="rect">
            <a:avLst/>
          </a:prstGeom>
          <a:noFill/>
          <a:ln/>
        </p:spPr>
        <p:txBody>
          <a:bodyPr wrap="square" rtlCol="0" anchor="ctr"/>
          <a:lstStyle/>
          <a:p>
            <a:pPr algn="ctr" indent="0" marL="0">
              <a:buNone/>
            </a:pPr>
            <a:r>
              <a:rPr lang="en-US" sz="1400" i="1" dirty="0">
                <a:solidFill>
                  <a:srgbClr val="00C4F0"/>
                </a:solidFill>
                <a:latin typeface="Calibri" pitchFamily="34" charset="0"/>
                <a:ea typeface="Calibri" pitchFamily="34" charset="-122"/>
                <a:cs typeface="Calibri" pitchFamily="34" charset="-120"/>
              </a:rPr>
              <a:t>Take 10 seconds. Think honestly.</a:t>
            </a:r>
            <a:endParaRPr lang="en-US" sz="1400" dirty="0"/>
          </a:p>
        </p:txBody>
      </p:sp>
      <p:sp>
        <p:nvSpPr>
          <p:cNvPr id="6" name="Text 3"/>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685800"/>
            <a:ext cx="8229600" cy="457200"/>
          </a:xfrm>
          <a:prstGeom prst="rect">
            <a:avLst/>
          </a:prstGeom>
          <a:noFill/>
          <a:ln/>
        </p:spPr>
        <p:txBody>
          <a:bodyPr wrap="square" rtlCol="0" anchor="ctr"/>
          <a:lstStyle/>
          <a:p>
            <a:pPr algn="ctr" indent="0" marL="0">
              <a:buNone/>
            </a:pPr>
            <a:r>
              <a:rPr lang="en-US" sz="2200" b="1" dirty="0">
                <a:solidFill>
                  <a:srgbClr val="EEF4FF"/>
                </a:solidFill>
                <a:latin typeface="Calibri" pitchFamily="34" charset="0"/>
                <a:ea typeface="Calibri" pitchFamily="34" charset="-122"/>
                <a:cs typeface="Calibri" pitchFamily="34" charset="-120"/>
              </a:rPr>
              <a:t>The world changed in 2023.</a:t>
            </a:r>
            <a:endParaRPr lang="en-US" sz="2200" dirty="0"/>
          </a:p>
        </p:txBody>
      </p:sp>
      <p:sp>
        <p:nvSpPr>
          <p:cNvPr id="4" name="Text 1"/>
          <p:cNvSpPr/>
          <p:nvPr/>
        </p:nvSpPr>
        <p:spPr>
          <a:xfrm>
            <a:off x="457200" y="1097280"/>
            <a:ext cx="8229600" cy="365760"/>
          </a:xfrm>
          <a:prstGeom prst="rect">
            <a:avLst/>
          </a:prstGeom>
          <a:noFill/>
          <a:ln/>
        </p:spPr>
        <p:txBody>
          <a:bodyPr wrap="square" rtlCol="0" anchor="ctr"/>
          <a:lstStyle/>
          <a:p>
            <a:pPr algn="ctr" indent="0" marL="0">
              <a:buNone/>
            </a:pPr>
            <a:r>
              <a:rPr lang="en-US" sz="1800" i="1" dirty="0">
                <a:solidFill>
                  <a:srgbClr val="00C4F0"/>
                </a:solidFill>
                <a:latin typeface="Calibri" pitchFamily="34" charset="0"/>
                <a:ea typeface="Calibri" pitchFamily="34" charset="-122"/>
                <a:cs typeface="Calibri" pitchFamily="34" charset="-120"/>
              </a:rPr>
              <a:t>And it's never going back.</a:t>
            </a:r>
            <a:endParaRPr lang="en-US" sz="1800" dirty="0"/>
          </a:p>
        </p:txBody>
      </p:sp>
      <p:sp>
        <p:nvSpPr>
          <p:cNvPr id="5" name="Shape 2"/>
          <p:cNvSpPr/>
          <p:nvPr/>
        </p:nvSpPr>
        <p:spPr>
          <a:xfrm>
            <a:off x="365760" y="1600200"/>
            <a:ext cx="2560320" cy="1508760"/>
          </a:xfrm>
          <a:prstGeom prst="roundRect">
            <a:avLst>
              <a:gd name="adj" fmla="val 4848"/>
            </a:avLst>
          </a:prstGeom>
          <a:solidFill>
            <a:srgbClr val="0E1C38"/>
          </a:solidFill>
          <a:ln w="12700">
            <a:solidFill>
              <a:srgbClr val="1A2D52"/>
            </a:solidFill>
            <a:prstDash val="solid"/>
          </a:ln>
          <a:effectLst>
            <a:outerShdw sx="100000" sy="100000" kx="0" ky="0" algn="bl" rotWithShape="0" blurRad="101600" dist="38100" dir="2700000">
              <a:srgbClr val="000000">
                <a:alpha val="25000"/>
              </a:srgbClr>
            </a:outerShdw>
          </a:effectLst>
        </p:spPr>
      </p:sp>
      <p:sp>
        <p:nvSpPr>
          <p:cNvPr id="6" name="Text 3"/>
          <p:cNvSpPr/>
          <p:nvPr/>
        </p:nvSpPr>
        <p:spPr>
          <a:xfrm>
            <a:off x="530352" y="1746504"/>
            <a:ext cx="2286000" cy="640080"/>
          </a:xfrm>
          <a:prstGeom prst="rect">
            <a:avLst/>
          </a:prstGeom>
          <a:noFill/>
          <a:ln/>
        </p:spPr>
        <p:txBody>
          <a:bodyPr wrap="square" rtlCol="0" anchor="ctr"/>
          <a:lstStyle/>
          <a:p>
            <a:pPr indent="0" marL="0">
              <a:buNone/>
            </a:pPr>
            <a:r>
              <a:rPr lang="en-US" sz="3600" b="1" dirty="0">
                <a:solidFill>
                  <a:srgbClr val="00C4F0"/>
                </a:solidFill>
                <a:latin typeface="Arial Black" pitchFamily="34" charset="0"/>
                <a:ea typeface="Arial Black" pitchFamily="34" charset="-122"/>
                <a:cs typeface="Arial Black" pitchFamily="34" charset="-120"/>
              </a:rPr>
              <a:t>100M</a:t>
            </a:r>
            <a:pPr indent="0" marL="0">
              <a:buNone/>
            </a:pPr>
            <a:r>
              <a:rPr lang="en-US" sz="2000" b="1" dirty="0">
                <a:solidFill>
                  <a:srgbClr val="00C4F0"/>
                </a:solidFill>
                <a:latin typeface="Calibri" pitchFamily="34" charset="0"/>
                <a:ea typeface="Calibri" pitchFamily="34" charset="-122"/>
                <a:cs typeface="Calibri" pitchFamily="34" charset="-120"/>
              </a:rPr>
              <a:t>+</a:t>
            </a:r>
            <a:endParaRPr lang="en-US" sz="3600" dirty="0"/>
          </a:p>
        </p:txBody>
      </p:sp>
      <p:sp>
        <p:nvSpPr>
          <p:cNvPr id="7" name="Text 4"/>
          <p:cNvSpPr/>
          <p:nvPr/>
        </p:nvSpPr>
        <p:spPr>
          <a:xfrm>
            <a:off x="530352" y="2350008"/>
            <a:ext cx="2286000" cy="502920"/>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ChatGPT users in</a:t>
            </a:r>
            <a:endParaRPr lang="en-US" sz="1100" dirty="0"/>
          </a:p>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first 2 months.</a:t>
            </a:r>
            <a:endParaRPr lang="en-US" sz="1100" dirty="0"/>
          </a:p>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Fastest product ever.</a:t>
            </a:r>
            <a:endParaRPr lang="en-US" sz="1100" dirty="0"/>
          </a:p>
        </p:txBody>
      </p:sp>
      <p:sp>
        <p:nvSpPr>
          <p:cNvPr id="8" name="Shape 5"/>
          <p:cNvSpPr/>
          <p:nvPr/>
        </p:nvSpPr>
        <p:spPr>
          <a:xfrm>
            <a:off x="3291840" y="1600200"/>
            <a:ext cx="2560320" cy="1508760"/>
          </a:xfrm>
          <a:prstGeom prst="roundRect">
            <a:avLst>
              <a:gd name="adj" fmla="val 4848"/>
            </a:avLst>
          </a:prstGeom>
          <a:solidFill>
            <a:srgbClr val="0E1C38"/>
          </a:solidFill>
          <a:ln w="12700">
            <a:solidFill>
              <a:srgbClr val="1A2D52"/>
            </a:solidFill>
            <a:prstDash val="solid"/>
          </a:ln>
          <a:effectLst>
            <a:outerShdw sx="100000" sy="100000" kx="0" ky="0" algn="bl" rotWithShape="0" blurRad="101600" dist="38100" dir="2700000">
              <a:srgbClr val="000000">
                <a:alpha val="25000"/>
              </a:srgbClr>
            </a:outerShdw>
          </a:effectLst>
        </p:spPr>
      </p:sp>
      <p:sp>
        <p:nvSpPr>
          <p:cNvPr id="9" name="Text 6"/>
          <p:cNvSpPr/>
          <p:nvPr/>
        </p:nvSpPr>
        <p:spPr>
          <a:xfrm>
            <a:off x="3456432" y="1746504"/>
            <a:ext cx="2286000" cy="640080"/>
          </a:xfrm>
          <a:prstGeom prst="rect">
            <a:avLst/>
          </a:prstGeom>
          <a:noFill/>
          <a:ln/>
        </p:spPr>
        <p:txBody>
          <a:bodyPr wrap="square" rtlCol="0" anchor="ctr"/>
          <a:lstStyle/>
          <a:p>
            <a:pPr indent="0" marL="0">
              <a:buNone/>
            </a:pPr>
            <a:r>
              <a:rPr lang="en-US" sz="3600" b="1" dirty="0">
                <a:solidFill>
                  <a:srgbClr val="6AFB5A"/>
                </a:solidFill>
                <a:latin typeface="Arial Black" pitchFamily="34" charset="0"/>
                <a:ea typeface="Arial Black" pitchFamily="34" charset="-122"/>
                <a:cs typeface="Arial Black" pitchFamily="34" charset="-120"/>
              </a:rPr>
              <a:t>300M</a:t>
            </a:r>
            <a:pPr indent="0" marL="0">
              <a:buNone/>
            </a:pPr>
            <a:r>
              <a:rPr lang="en-US" sz="2000" b="1" dirty="0">
                <a:solidFill>
                  <a:srgbClr val="6AFB5A"/>
                </a:solidFill>
                <a:latin typeface="Calibri" pitchFamily="34" charset="0"/>
                <a:ea typeface="Calibri" pitchFamily="34" charset="-122"/>
                <a:cs typeface="Calibri" pitchFamily="34" charset="-120"/>
              </a:rPr>
              <a:t>+</a:t>
            </a:r>
            <a:endParaRPr lang="en-US" sz="3600" dirty="0"/>
          </a:p>
        </p:txBody>
      </p:sp>
      <p:sp>
        <p:nvSpPr>
          <p:cNvPr id="10" name="Text 7"/>
          <p:cNvSpPr/>
          <p:nvPr/>
        </p:nvSpPr>
        <p:spPr>
          <a:xfrm>
            <a:off x="3456432" y="2350008"/>
            <a:ext cx="2286000" cy="502920"/>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People use AI</a:t>
            </a:r>
            <a:endParaRPr lang="en-US" sz="1100" dirty="0"/>
          </a:p>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tools every</a:t>
            </a:r>
            <a:endParaRPr lang="en-US" sz="1100" dirty="0"/>
          </a:p>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single week.</a:t>
            </a:r>
            <a:endParaRPr lang="en-US" sz="1100" dirty="0"/>
          </a:p>
        </p:txBody>
      </p:sp>
      <p:sp>
        <p:nvSpPr>
          <p:cNvPr id="11" name="Shape 8"/>
          <p:cNvSpPr/>
          <p:nvPr/>
        </p:nvSpPr>
        <p:spPr>
          <a:xfrm>
            <a:off x="6217920" y="1600200"/>
            <a:ext cx="2560320" cy="1508760"/>
          </a:xfrm>
          <a:prstGeom prst="roundRect">
            <a:avLst>
              <a:gd name="adj" fmla="val 4848"/>
            </a:avLst>
          </a:prstGeom>
          <a:solidFill>
            <a:srgbClr val="0E1C38"/>
          </a:solidFill>
          <a:ln w="12700">
            <a:solidFill>
              <a:srgbClr val="1A2D52"/>
            </a:solidFill>
            <a:prstDash val="solid"/>
          </a:ln>
          <a:effectLst>
            <a:outerShdw sx="100000" sy="100000" kx="0" ky="0" algn="bl" rotWithShape="0" blurRad="101600" dist="38100" dir="2700000">
              <a:srgbClr val="000000">
                <a:alpha val="25000"/>
              </a:srgbClr>
            </a:outerShdw>
          </a:effectLst>
        </p:spPr>
      </p:sp>
      <p:sp>
        <p:nvSpPr>
          <p:cNvPr id="12" name="Text 9"/>
          <p:cNvSpPr/>
          <p:nvPr/>
        </p:nvSpPr>
        <p:spPr>
          <a:xfrm>
            <a:off x="6382512" y="1746504"/>
            <a:ext cx="2286000" cy="640080"/>
          </a:xfrm>
          <a:prstGeom prst="rect">
            <a:avLst/>
          </a:prstGeom>
          <a:noFill/>
          <a:ln/>
        </p:spPr>
        <p:txBody>
          <a:bodyPr wrap="square" rtlCol="0" anchor="ctr"/>
          <a:lstStyle/>
          <a:p>
            <a:pPr indent="0" marL="0">
              <a:buNone/>
            </a:pPr>
            <a:r>
              <a:rPr lang="en-US" sz="3600" b="1" dirty="0">
                <a:solidFill>
                  <a:srgbClr val="F5B642"/>
                </a:solidFill>
                <a:latin typeface="Arial Black" pitchFamily="34" charset="0"/>
                <a:ea typeface="Arial Black" pitchFamily="34" charset="-122"/>
                <a:cs typeface="Arial Black" pitchFamily="34" charset="-120"/>
              </a:rPr>
              <a:t>85%</a:t>
            </a:r>
            <a:pPr indent="0" marL="0">
              <a:buNone/>
            </a:pPr>
            <a:endParaRPr lang="en-US" sz="3600" dirty="0"/>
          </a:p>
        </p:txBody>
      </p:sp>
      <p:sp>
        <p:nvSpPr>
          <p:cNvPr id="13" name="Text 10"/>
          <p:cNvSpPr/>
          <p:nvPr/>
        </p:nvSpPr>
        <p:spPr>
          <a:xfrm>
            <a:off x="6382512" y="2350008"/>
            <a:ext cx="2286000" cy="502920"/>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Of current jobs</a:t>
            </a:r>
            <a:endParaRPr lang="en-US" sz="1100" dirty="0"/>
          </a:p>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will be significantly</a:t>
            </a:r>
            <a:endParaRPr lang="en-US" sz="1100" dirty="0"/>
          </a:p>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changed by AI by 2030.</a:t>
            </a:r>
            <a:endParaRPr lang="en-US" sz="1100" dirty="0"/>
          </a:p>
        </p:txBody>
      </p:sp>
      <p:sp>
        <p:nvSpPr>
          <p:cNvPr id="14" name="Text 11"/>
          <p:cNvSpPr/>
          <p:nvPr/>
        </p:nvSpPr>
        <p:spPr>
          <a:xfrm>
            <a:off x="457200" y="4773168"/>
            <a:ext cx="8229600" cy="228600"/>
          </a:xfrm>
          <a:prstGeom prst="rect">
            <a:avLst/>
          </a:prstGeom>
          <a:noFill/>
          <a:ln/>
        </p:spPr>
        <p:txBody>
          <a:bodyPr wrap="square" rtlCol="0" anchor="ctr"/>
          <a:lstStyle/>
          <a:p>
            <a:pPr algn="ctr" indent="0" marL="0">
              <a:buNone/>
            </a:pPr>
            <a:r>
              <a:rPr lang="en-US" sz="900" dirty="0">
                <a:solidFill>
                  <a:srgbClr val="3A5070"/>
                </a:solidFill>
                <a:latin typeface="Calibri" pitchFamily="34" charset="0"/>
                <a:ea typeface="Calibri" pitchFamily="34" charset="-122"/>
                <a:cs typeface="Calibri" pitchFamily="34" charset="-120"/>
              </a:rPr>
              <a:t>Source: World Economic Forum, McKinsey Global Institute, OpenAI</a:t>
            </a:r>
            <a:endParaRPr lang="en-US" sz="900" dirty="0"/>
          </a:p>
        </p:txBody>
      </p:sp>
      <p:sp>
        <p:nvSpPr>
          <p:cNvPr id="15" name="Text 12"/>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94360"/>
            <a:ext cx="8229600" cy="457200"/>
          </a:xfrm>
          <a:prstGeom prst="rect">
            <a:avLst/>
          </a:prstGeom>
          <a:noFill/>
          <a:ln/>
        </p:spPr>
        <p:txBody>
          <a:bodyPr wrap="square" rtlCol="0" anchor="ctr"/>
          <a:lstStyle/>
          <a:p>
            <a:pPr indent="0" marL="0">
              <a:buNone/>
            </a:pPr>
            <a:r>
              <a:rPr lang="en-US" sz="2200" b="1" dirty="0">
                <a:solidFill>
                  <a:srgbClr val="EEF4FF"/>
                </a:solidFill>
                <a:latin typeface="Calibri" pitchFamily="34" charset="0"/>
                <a:ea typeface="Calibri" pitchFamily="34" charset="-122"/>
                <a:cs typeface="Calibri" pitchFamily="34" charset="-120"/>
              </a:rPr>
              <a:t>What AI can already do — RIGHT NOW</a:t>
            </a:r>
            <a:endParaRPr lang="en-US" sz="2200" dirty="0"/>
          </a:p>
        </p:txBody>
      </p:sp>
      <p:sp>
        <p:nvSpPr>
          <p:cNvPr id="4" name="Shape 1"/>
          <p:cNvSpPr/>
          <p:nvPr/>
        </p:nvSpPr>
        <p:spPr>
          <a:xfrm>
            <a:off x="320040" y="1170432"/>
            <a:ext cx="274320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5" name="Text 2"/>
          <p:cNvSpPr/>
          <p:nvPr/>
        </p:nvSpPr>
        <p:spPr>
          <a:xfrm>
            <a:off x="502920" y="133502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3"/>
          <p:cNvSpPr/>
          <p:nvPr/>
        </p:nvSpPr>
        <p:spPr>
          <a:xfrm>
            <a:off x="502920" y="1883664"/>
            <a:ext cx="237744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Write</a:t>
            </a:r>
            <a:endParaRPr lang="en-US" sz="1300" dirty="0"/>
          </a:p>
        </p:txBody>
      </p:sp>
      <p:sp>
        <p:nvSpPr>
          <p:cNvPr id="7" name="Text 4"/>
          <p:cNvSpPr/>
          <p:nvPr/>
        </p:nvSpPr>
        <p:spPr>
          <a:xfrm>
            <a:off x="502920" y="2194560"/>
            <a:ext cx="237744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Essays, reports, emails, stories — better than average in seconds.</a:t>
            </a:r>
            <a:endParaRPr lang="en-US" sz="1100" dirty="0"/>
          </a:p>
        </p:txBody>
      </p:sp>
      <p:sp>
        <p:nvSpPr>
          <p:cNvPr id="8" name="Shape 5"/>
          <p:cNvSpPr/>
          <p:nvPr/>
        </p:nvSpPr>
        <p:spPr>
          <a:xfrm>
            <a:off x="3200400" y="1170432"/>
            <a:ext cx="274320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9" name="Text 6"/>
          <p:cNvSpPr/>
          <p:nvPr/>
        </p:nvSpPr>
        <p:spPr>
          <a:xfrm>
            <a:off x="3383280" y="133502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7"/>
          <p:cNvSpPr/>
          <p:nvPr/>
        </p:nvSpPr>
        <p:spPr>
          <a:xfrm>
            <a:off x="3383280" y="1883664"/>
            <a:ext cx="237744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Solve</a:t>
            </a:r>
            <a:endParaRPr lang="en-US" sz="1300" dirty="0"/>
          </a:p>
        </p:txBody>
      </p:sp>
      <p:sp>
        <p:nvSpPr>
          <p:cNvPr id="11" name="Text 8"/>
          <p:cNvSpPr/>
          <p:nvPr/>
        </p:nvSpPr>
        <p:spPr>
          <a:xfrm>
            <a:off x="3383280" y="2194560"/>
            <a:ext cx="237744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Advanced maths, physics problems, coding challenges instantly.</a:t>
            </a:r>
            <a:endParaRPr lang="en-US" sz="1100" dirty="0"/>
          </a:p>
        </p:txBody>
      </p:sp>
      <p:sp>
        <p:nvSpPr>
          <p:cNvPr id="12" name="Shape 9"/>
          <p:cNvSpPr/>
          <p:nvPr/>
        </p:nvSpPr>
        <p:spPr>
          <a:xfrm>
            <a:off x="6080760" y="1170432"/>
            <a:ext cx="274320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3" name="Text 10"/>
          <p:cNvSpPr/>
          <p:nvPr/>
        </p:nvSpPr>
        <p:spPr>
          <a:xfrm>
            <a:off x="6263640" y="133502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1"/>
          <p:cNvSpPr/>
          <p:nvPr/>
        </p:nvSpPr>
        <p:spPr>
          <a:xfrm>
            <a:off x="6263640" y="1883664"/>
            <a:ext cx="237744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Create</a:t>
            </a:r>
            <a:endParaRPr lang="en-US" sz="1300" dirty="0"/>
          </a:p>
        </p:txBody>
      </p:sp>
      <p:sp>
        <p:nvSpPr>
          <p:cNvPr id="15" name="Text 12"/>
          <p:cNvSpPr/>
          <p:nvPr/>
        </p:nvSpPr>
        <p:spPr>
          <a:xfrm>
            <a:off x="6263640" y="2194560"/>
            <a:ext cx="237744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Professional designs, videos, music, presentations — no skill needed.</a:t>
            </a:r>
            <a:endParaRPr lang="en-US" sz="1100" dirty="0"/>
          </a:p>
        </p:txBody>
      </p:sp>
      <p:sp>
        <p:nvSpPr>
          <p:cNvPr id="16" name="Shape 13"/>
          <p:cNvSpPr/>
          <p:nvPr/>
        </p:nvSpPr>
        <p:spPr>
          <a:xfrm>
            <a:off x="320040" y="3044952"/>
            <a:ext cx="274320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7" name="Text 14"/>
          <p:cNvSpPr/>
          <p:nvPr/>
        </p:nvSpPr>
        <p:spPr>
          <a:xfrm>
            <a:off x="502920" y="320954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8" name="Text 15"/>
          <p:cNvSpPr/>
          <p:nvPr/>
        </p:nvSpPr>
        <p:spPr>
          <a:xfrm>
            <a:off x="502920" y="3758184"/>
            <a:ext cx="237744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Research</a:t>
            </a:r>
            <a:endParaRPr lang="en-US" sz="1300" dirty="0"/>
          </a:p>
        </p:txBody>
      </p:sp>
      <p:sp>
        <p:nvSpPr>
          <p:cNvPr id="19" name="Text 16"/>
          <p:cNvSpPr/>
          <p:nvPr/>
        </p:nvSpPr>
        <p:spPr>
          <a:xfrm>
            <a:off x="502920" y="4069080"/>
            <a:ext cx="237744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Summarise 100 research papers into 1 page in 30 seconds.</a:t>
            </a:r>
            <a:endParaRPr lang="en-US" sz="1100" dirty="0"/>
          </a:p>
        </p:txBody>
      </p:sp>
      <p:sp>
        <p:nvSpPr>
          <p:cNvPr id="20" name="Shape 17"/>
          <p:cNvSpPr/>
          <p:nvPr/>
        </p:nvSpPr>
        <p:spPr>
          <a:xfrm>
            <a:off x="3200400" y="3044952"/>
            <a:ext cx="274320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21" name="Text 18"/>
          <p:cNvSpPr/>
          <p:nvPr/>
        </p:nvSpPr>
        <p:spPr>
          <a:xfrm>
            <a:off x="3383280" y="320954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2" name="Text 19"/>
          <p:cNvSpPr/>
          <p:nvPr/>
        </p:nvSpPr>
        <p:spPr>
          <a:xfrm>
            <a:off x="3383280" y="3758184"/>
            <a:ext cx="237744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Translate</a:t>
            </a:r>
            <a:endParaRPr lang="en-US" sz="1300" dirty="0"/>
          </a:p>
        </p:txBody>
      </p:sp>
      <p:sp>
        <p:nvSpPr>
          <p:cNvPr id="23" name="Text 20"/>
          <p:cNvSpPr/>
          <p:nvPr/>
        </p:nvSpPr>
        <p:spPr>
          <a:xfrm>
            <a:off x="3383280" y="4069080"/>
            <a:ext cx="237744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100+ languages, real-time, with cultural nuance.</a:t>
            </a:r>
            <a:endParaRPr lang="en-US" sz="1100" dirty="0"/>
          </a:p>
        </p:txBody>
      </p:sp>
      <p:sp>
        <p:nvSpPr>
          <p:cNvPr id="24" name="Shape 21"/>
          <p:cNvSpPr/>
          <p:nvPr/>
        </p:nvSpPr>
        <p:spPr>
          <a:xfrm>
            <a:off x="6080760" y="3044952"/>
            <a:ext cx="274320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25" name="Text 22"/>
          <p:cNvSpPr/>
          <p:nvPr/>
        </p:nvSpPr>
        <p:spPr>
          <a:xfrm>
            <a:off x="6263640" y="320954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6" name="Text 23"/>
          <p:cNvSpPr/>
          <p:nvPr/>
        </p:nvSpPr>
        <p:spPr>
          <a:xfrm>
            <a:off x="6263640" y="3758184"/>
            <a:ext cx="237744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Diagnose</a:t>
            </a:r>
            <a:endParaRPr lang="en-US" sz="1300" dirty="0"/>
          </a:p>
        </p:txBody>
      </p:sp>
      <p:sp>
        <p:nvSpPr>
          <p:cNvPr id="27" name="Text 24"/>
          <p:cNvSpPr/>
          <p:nvPr/>
        </p:nvSpPr>
        <p:spPr>
          <a:xfrm>
            <a:off x="6263640" y="4069080"/>
            <a:ext cx="237744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Medical symptoms, legal issues, financial advice — 24/7.</a:t>
            </a:r>
            <a:endParaRPr lang="en-US" sz="1100" dirty="0"/>
          </a:p>
        </p:txBody>
      </p:sp>
      <p:sp>
        <p:nvSpPr>
          <p:cNvPr id="28" name="Text 25"/>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510"/>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94360"/>
            <a:ext cx="8229600" cy="457200"/>
          </a:xfrm>
          <a:prstGeom prst="rect">
            <a:avLst/>
          </a:prstGeom>
          <a:noFill/>
          <a:ln/>
        </p:spPr>
        <p:txBody>
          <a:bodyPr wrap="square" rtlCol="0" anchor="ctr"/>
          <a:lstStyle/>
          <a:p>
            <a:pPr algn="ctr" indent="0" marL="0">
              <a:buNone/>
            </a:pPr>
            <a:r>
              <a:rPr lang="en-US" sz="1300" b="1" spc="300" kern="0" dirty="0">
                <a:solidFill>
                  <a:srgbClr val="FF3B5C"/>
                </a:solidFill>
                <a:latin typeface="Calibri" pitchFamily="34" charset="0"/>
                <a:ea typeface="Calibri" pitchFamily="34" charset="-122"/>
                <a:cs typeface="Calibri" pitchFamily="34" charset="-120"/>
              </a:rPr>
              <a:t>The Uncomfortable Truth</a:t>
            </a:r>
            <a:endParaRPr lang="en-US" sz="1300" dirty="0"/>
          </a:p>
        </p:txBody>
      </p:sp>
      <p:sp>
        <p:nvSpPr>
          <p:cNvPr id="4" name="Text 1"/>
          <p:cNvSpPr/>
          <p:nvPr/>
        </p:nvSpPr>
        <p:spPr>
          <a:xfrm>
            <a:off x="457200" y="1097280"/>
            <a:ext cx="8229600" cy="1463040"/>
          </a:xfrm>
          <a:prstGeom prst="rect">
            <a:avLst/>
          </a:prstGeom>
          <a:noFill/>
          <a:ln/>
        </p:spPr>
        <p:txBody>
          <a:bodyPr wrap="square" rtlCol="0" anchor="ctr"/>
          <a:lstStyle/>
          <a:p>
            <a:pPr algn="ctr" indent="0" marL="0">
              <a:lnSpc>
                <a:spcPct val="105000"/>
              </a:lnSpc>
              <a:buNone/>
            </a:pPr>
            <a:r>
              <a:rPr lang="en-US" sz="4600" b="1" dirty="0">
                <a:solidFill>
                  <a:srgbClr val="EEF4FF"/>
                </a:solidFill>
                <a:latin typeface="Calibri" pitchFamily="34" charset="0"/>
                <a:ea typeface="Calibri" pitchFamily="34" charset="-122"/>
                <a:cs typeface="Calibri" pitchFamily="34" charset="-120"/>
              </a:rPr>
              <a:t>Your students are already</a:t>
            </a:r>
            <a:endParaRPr lang="en-US" sz="4600" dirty="0"/>
          </a:p>
          <a:p>
            <a:pPr algn="ctr" indent="0" marL="0">
              <a:lnSpc>
                <a:spcPct val="105000"/>
              </a:lnSpc>
              <a:buNone/>
            </a:pPr>
            <a:r>
              <a:rPr lang="en-US" sz="4600" b="1" dirty="0">
                <a:solidFill>
                  <a:srgbClr val="EEF4FF"/>
                </a:solidFill>
                <a:latin typeface="Calibri" pitchFamily="34" charset="0"/>
                <a:ea typeface="Calibri" pitchFamily="34" charset="-122"/>
                <a:cs typeface="Calibri" pitchFamily="34" charset="-120"/>
              </a:rPr>
              <a:t>using AI.</a:t>
            </a:r>
            <a:endParaRPr lang="en-US" sz="4600" dirty="0"/>
          </a:p>
        </p:txBody>
      </p:sp>
      <p:sp>
        <p:nvSpPr>
          <p:cNvPr id="5" name="Text 2"/>
          <p:cNvSpPr/>
          <p:nvPr/>
        </p:nvSpPr>
        <p:spPr>
          <a:xfrm>
            <a:off x="457200" y="2697480"/>
            <a:ext cx="8229600" cy="1280160"/>
          </a:xfrm>
          <a:prstGeom prst="rect">
            <a:avLst/>
          </a:prstGeom>
          <a:noFill/>
          <a:ln/>
        </p:spPr>
        <p:txBody>
          <a:bodyPr wrap="square" rtlCol="0" anchor="ctr"/>
          <a:lstStyle/>
          <a:p>
            <a:pPr algn="ctr" indent="0" marL="0">
              <a:lnSpc>
                <a:spcPct val="135000"/>
              </a:lnSpc>
              <a:buNone/>
            </a:pPr>
            <a:r>
              <a:rPr lang="en-US" sz="2200" dirty="0">
                <a:solidFill>
                  <a:srgbClr val="7A9ACC"/>
                </a:solidFill>
                <a:latin typeface="Calibri" pitchFamily="34" charset="0"/>
                <a:ea typeface="Calibri" pitchFamily="34" charset="-122"/>
                <a:cs typeface="Calibri" pitchFamily="34" charset="-120"/>
              </a:rPr>
              <a:t>Without guidance.</a:t>
            </a:r>
            <a:endParaRPr lang="en-US" sz="2200" dirty="0"/>
          </a:p>
          <a:p>
            <a:pPr algn="ctr" indent="0" marL="0">
              <a:lnSpc>
                <a:spcPct val="135000"/>
              </a:lnSpc>
              <a:buNone/>
            </a:pPr>
            <a:r>
              <a:rPr lang="en-US" sz="2200" dirty="0">
                <a:solidFill>
                  <a:srgbClr val="7A9ACC"/>
                </a:solidFill>
                <a:latin typeface="Calibri" pitchFamily="34" charset="0"/>
                <a:ea typeface="Calibri" pitchFamily="34" charset="-122"/>
                <a:cs typeface="Calibri" pitchFamily="34" charset="-120"/>
              </a:rPr>
              <a:t>Without ethics.</a:t>
            </a:r>
            <a:endParaRPr lang="en-US" sz="2200" dirty="0"/>
          </a:p>
          <a:p>
            <a:pPr algn="ctr" indent="0" marL="0">
              <a:lnSpc>
                <a:spcPct val="135000"/>
              </a:lnSpc>
              <a:buNone/>
            </a:pPr>
            <a:r>
              <a:rPr lang="en-US" sz="2200" dirty="0">
                <a:solidFill>
                  <a:srgbClr val="7A9ACC"/>
                </a:solidFill>
                <a:latin typeface="Calibri" pitchFamily="34" charset="0"/>
                <a:ea typeface="Calibri" pitchFamily="34" charset="-122"/>
                <a:cs typeface="Calibri" pitchFamily="34" charset="-120"/>
              </a:rPr>
              <a:t>Without understanding the risks.</a:t>
            </a:r>
            <a:endParaRPr lang="en-US" sz="2200" dirty="0"/>
          </a:p>
        </p:txBody>
      </p:sp>
      <p:sp>
        <p:nvSpPr>
          <p:cNvPr id="6" name="Shape 3"/>
          <p:cNvSpPr/>
          <p:nvPr/>
        </p:nvSpPr>
        <p:spPr>
          <a:xfrm>
            <a:off x="2286000" y="4114800"/>
            <a:ext cx="4572000" cy="658368"/>
          </a:xfrm>
          <a:prstGeom prst="roundRect">
            <a:avLst>
              <a:gd name="adj" fmla="val 13889"/>
            </a:avLst>
          </a:prstGeom>
          <a:solidFill>
            <a:srgbClr val="FF3B5C">
              <a:alpha val="15000"/>
            </a:srgbClr>
          </a:solidFill>
          <a:ln w="12700">
            <a:solidFill>
              <a:srgbClr val="FF3B5C"/>
            </a:solidFill>
            <a:prstDash val="solid"/>
          </a:ln>
        </p:spPr>
      </p:sp>
      <p:sp>
        <p:nvSpPr>
          <p:cNvPr id="7" name="Text 4"/>
          <p:cNvSpPr/>
          <p:nvPr/>
        </p:nvSpPr>
        <p:spPr>
          <a:xfrm>
            <a:off x="2286000" y="4114800"/>
            <a:ext cx="4572000" cy="658368"/>
          </a:xfrm>
          <a:prstGeom prst="rect">
            <a:avLst/>
          </a:prstGeom>
          <a:noFill/>
          <a:ln/>
        </p:spPr>
        <p:txBody>
          <a:bodyPr wrap="square" rtlCol="0" anchor="ctr"/>
          <a:lstStyle/>
          <a:p>
            <a:pPr algn="ctr" indent="0" marL="0">
              <a:buNone/>
            </a:pPr>
            <a:r>
              <a:rPr lang="en-US" sz="1200" b="1" dirty="0">
                <a:solidFill>
                  <a:srgbClr val="EEF4FF"/>
                </a:solidFill>
                <a:latin typeface="Calibri" pitchFamily="34" charset="0"/>
                <a:ea typeface="Calibri" pitchFamily="34" charset="-122"/>
                <a:cs typeface="Calibri" pitchFamily="34" charset="-120"/>
              </a:rPr>
              <a:t>The question is not IF they'll use AI. It's whether you'll teach them HOW.</a:t>
            </a:r>
            <a:endParaRPr lang="en-US" sz="1200" dirty="0"/>
          </a:p>
        </p:txBody>
      </p:sp>
      <p:sp>
        <p:nvSpPr>
          <p:cNvPr id="8" name="Text 5"/>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94360"/>
            <a:ext cx="8229600" cy="457200"/>
          </a:xfrm>
          <a:prstGeom prst="rect">
            <a:avLst/>
          </a:prstGeom>
          <a:noFill/>
          <a:ln/>
        </p:spPr>
        <p:txBody>
          <a:bodyPr wrap="square" rtlCol="0" anchor="ctr"/>
          <a:lstStyle/>
          <a:p>
            <a:pPr indent="0" marL="0">
              <a:buNone/>
            </a:pPr>
            <a:r>
              <a:rPr lang="en-US" sz="2000" b="1" dirty="0">
                <a:solidFill>
                  <a:srgbClr val="EEF4FF"/>
                </a:solidFill>
                <a:latin typeface="Calibri" pitchFamily="34" charset="0"/>
                <a:ea typeface="Calibri" pitchFamily="34" charset="-122"/>
                <a:cs typeface="Calibri" pitchFamily="34" charset="-120"/>
              </a:rPr>
              <a:t>How AI is changing careers — RIGHT NOW</a:t>
            </a:r>
            <a:endParaRPr lang="en-US" sz="2000" dirty="0"/>
          </a:p>
        </p:txBody>
      </p:sp>
      <p:sp>
        <p:nvSpPr>
          <p:cNvPr id="4" name="Shape 1"/>
          <p:cNvSpPr/>
          <p:nvPr/>
        </p:nvSpPr>
        <p:spPr>
          <a:xfrm>
            <a:off x="320040" y="1143000"/>
            <a:ext cx="3977640" cy="3474720"/>
          </a:xfrm>
          <a:prstGeom prst="roundRect">
            <a:avLst>
              <a:gd name="adj" fmla="val 2632"/>
            </a:avLst>
          </a:prstGeom>
          <a:solidFill>
            <a:srgbClr val="0F1E10"/>
          </a:solidFill>
          <a:ln w="12700">
            <a:solidFill>
              <a:srgbClr val="1A3A1E"/>
            </a:solidFill>
            <a:prstDash val="solid"/>
          </a:ln>
          <a:effectLst>
            <a:outerShdw sx="100000" sy="100000" kx="0" ky="0" algn="bl" rotWithShape="0" blurRad="76200" dist="25400" dir="2700000">
              <a:srgbClr val="000000">
                <a:alpha val="20000"/>
              </a:srgbClr>
            </a:outerShdw>
          </a:effectLst>
        </p:spPr>
      </p:sp>
      <p:sp>
        <p:nvSpPr>
          <p:cNvPr id="5" name="Text 2"/>
          <p:cNvSpPr/>
          <p:nvPr/>
        </p:nvSpPr>
        <p:spPr>
          <a:xfrm>
            <a:off x="502920" y="1280160"/>
            <a:ext cx="3566160" cy="347472"/>
          </a:xfrm>
          <a:prstGeom prst="rect">
            <a:avLst/>
          </a:prstGeom>
          <a:noFill/>
          <a:ln/>
        </p:spPr>
        <p:txBody>
          <a:bodyPr wrap="square" lIns="0" tIns="0" rIns="0" bIns="0" rtlCol="0" anchor="ctr"/>
          <a:lstStyle/>
          <a:p>
            <a:pPr indent="0" marL="0">
              <a:buNone/>
            </a:pPr>
            <a:r>
              <a:rPr lang="en-US" sz="1200" b="1" dirty="0">
                <a:solidFill>
                  <a:srgbClr val="6AFB5A"/>
                </a:solidFill>
                <a:latin typeface="Calibri" pitchFamily="34" charset="0"/>
                <a:ea typeface="Calibri" pitchFamily="34" charset="-122"/>
                <a:cs typeface="Calibri" pitchFamily="34" charset="-120"/>
              </a:rPr>
              <a:t>✅  AI LITERACY = SUPERPOWER</a:t>
            </a:r>
            <a:endParaRPr lang="en-US" sz="1200" dirty="0"/>
          </a:p>
        </p:txBody>
      </p:sp>
      <p:sp>
        <p:nvSpPr>
          <p:cNvPr id="6" name="Text 3"/>
          <p:cNvSpPr/>
          <p:nvPr/>
        </p:nvSpPr>
        <p:spPr>
          <a:xfrm>
            <a:off x="502920" y="1691640"/>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Get hired faster than non-AI users</a:t>
            </a:r>
            <a:endParaRPr lang="en-US" sz="1200" dirty="0"/>
          </a:p>
        </p:txBody>
      </p:sp>
      <p:sp>
        <p:nvSpPr>
          <p:cNvPr id="7" name="Text 4"/>
          <p:cNvSpPr/>
          <p:nvPr/>
        </p:nvSpPr>
        <p:spPr>
          <a:xfrm>
            <a:off x="502920" y="2075688"/>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Complete work in 20% of the time</a:t>
            </a:r>
            <a:endParaRPr lang="en-US" sz="1200" dirty="0"/>
          </a:p>
        </p:txBody>
      </p:sp>
      <p:sp>
        <p:nvSpPr>
          <p:cNvPr id="8" name="Text 5"/>
          <p:cNvSpPr/>
          <p:nvPr/>
        </p:nvSpPr>
        <p:spPr>
          <a:xfrm>
            <a:off x="502920" y="2459736"/>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Command higher salaries</a:t>
            </a:r>
            <a:endParaRPr lang="en-US" sz="1200" dirty="0"/>
          </a:p>
        </p:txBody>
      </p:sp>
      <p:sp>
        <p:nvSpPr>
          <p:cNvPr id="9" name="Text 6"/>
          <p:cNvSpPr/>
          <p:nvPr/>
        </p:nvSpPr>
        <p:spPr>
          <a:xfrm>
            <a:off x="502920" y="2843784"/>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Stand out in college applications</a:t>
            </a:r>
            <a:endParaRPr lang="en-US" sz="1200" dirty="0"/>
          </a:p>
        </p:txBody>
      </p:sp>
      <p:sp>
        <p:nvSpPr>
          <p:cNvPr id="10" name="Text 7"/>
          <p:cNvSpPr/>
          <p:nvPr/>
        </p:nvSpPr>
        <p:spPr>
          <a:xfrm>
            <a:off x="502920" y="3227832"/>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Lead teams that use AI tools</a:t>
            </a:r>
            <a:endParaRPr lang="en-US" sz="1200" dirty="0"/>
          </a:p>
        </p:txBody>
      </p:sp>
      <p:sp>
        <p:nvSpPr>
          <p:cNvPr id="11" name="Text 8"/>
          <p:cNvSpPr/>
          <p:nvPr/>
        </p:nvSpPr>
        <p:spPr>
          <a:xfrm>
            <a:off x="502920" y="3611880"/>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Build products without a full tech team</a:t>
            </a:r>
            <a:endParaRPr lang="en-US" sz="1200" dirty="0"/>
          </a:p>
        </p:txBody>
      </p:sp>
      <p:sp>
        <p:nvSpPr>
          <p:cNvPr id="12" name="Shape 9"/>
          <p:cNvSpPr/>
          <p:nvPr/>
        </p:nvSpPr>
        <p:spPr>
          <a:xfrm>
            <a:off x="4846320" y="1143000"/>
            <a:ext cx="3977640" cy="3474720"/>
          </a:xfrm>
          <a:prstGeom prst="roundRect">
            <a:avLst>
              <a:gd name="adj" fmla="val 2632"/>
            </a:avLst>
          </a:prstGeom>
          <a:solidFill>
            <a:srgbClr val="1A0C0C"/>
          </a:solidFill>
          <a:ln w="12700">
            <a:solidFill>
              <a:srgbClr val="3A1515"/>
            </a:solidFill>
            <a:prstDash val="solid"/>
          </a:ln>
          <a:effectLst>
            <a:outerShdw sx="100000" sy="100000" kx="0" ky="0" algn="bl" rotWithShape="0" blurRad="76200" dist="25400" dir="2700000">
              <a:srgbClr val="000000">
                <a:alpha val="20000"/>
              </a:srgbClr>
            </a:outerShdw>
          </a:effectLst>
        </p:spPr>
      </p:sp>
      <p:sp>
        <p:nvSpPr>
          <p:cNvPr id="13" name="Text 10"/>
          <p:cNvSpPr/>
          <p:nvPr/>
        </p:nvSpPr>
        <p:spPr>
          <a:xfrm>
            <a:off x="5029200" y="1280160"/>
            <a:ext cx="3566160" cy="347472"/>
          </a:xfrm>
          <a:prstGeom prst="rect">
            <a:avLst/>
          </a:prstGeom>
          <a:noFill/>
          <a:ln/>
        </p:spPr>
        <p:txBody>
          <a:bodyPr wrap="square" lIns="0" tIns="0" rIns="0" bIns="0" rtlCol="0" anchor="ctr"/>
          <a:lstStyle/>
          <a:p>
            <a:pPr indent="0" marL="0">
              <a:buNone/>
            </a:pPr>
            <a:r>
              <a:rPr lang="en-US" sz="1200" b="1" dirty="0">
                <a:solidFill>
                  <a:srgbClr val="FF3B5C"/>
                </a:solidFill>
                <a:latin typeface="Calibri" pitchFamily="34" charset="0"/>
                <a:ea typeface="Calibri" pitchFamily="34" charset="-122"/>
                <a:cs typeface="Calibri" pitchFamily="34" charset="-120"/>
              </a:rPr>
              <a:t>⚠️  NO AI LITERACY = LEFT BEHIND</a:t>
            </a:r>
            <a:endParaRPr lang="en-US" sz="1200" dirty="0"/>
          </a:p>
        </p:txBody>
      </p:sp>
      <p:sp>
        <p:nvSpPr>
          <p:cNvPr id="14" name="Text 11"/>
          <p:cNvSpPr/>
          <p:nvPr/>
        </p:nvSpPr>
        <p:spPr>
          <a:xfrm>
            <a:off x="5029200" y="1691640"/>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Replaced by colleagues who use AI</a:t>
            </a:r>
            <a:endParaRPr lang="en-US" sz="1200" dirty="0"/>
          </a:p>
        </p:txBody>
      </p:sp>
      <p:sp>
        <p:nvSpPr>
          <p:cNvPr id="15" name="Text 12"/>
          <p:cNvSpPr/>
          <p:nvPr/>
        </p:nvSpPr>
        <p:spPr>
          <a:xfrm>
            <a:off x="5029200" y="2075688"/>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Takes 5× longer on same tasks</a:t>
            </a:r>
            <a:endParaRPr lang="en-US" sz="1200" dirty="0"/>
          </a:p>
        </p:txBody>
      </p:sp>
      <p:sp>
        <p:nvSpPr>
          <p:cNvPr id="16" name="Text 13"/>
          <p:cNvSpPr/>
          <p:nvPr/>
        </p:nvSpPr>
        <p:spPr>
          <a:xfrm>
            <a:off x="5029200" y="2459736"/>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First to be let go in downturns</a:t>
            </a:r>
            <a:endParaRPr lang="en-US" sz="1200" dirty="0"/>
          </a:p>
        </p:txBody>
      </p:sp>
      <p:sp>
        <p:nvSpPr>
          <p:cNvPr id="17" name="Text 14"/>
          <p:cNvSpPr/>
          <p:nvPr/>
        </p:nvSpPr>
        <p:spPr>
          <a:xfrm>
            <a:off x="5029200" y="2843784"/>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College applications look identical</a:t>
            </a:r>
            <a:endParaRPr lang="en-US" sz="1200" dirty="0"/>
          </a:p>
        </p:txBody>
      </p:sp>
      <p:sp>
        <p:nvSpPr>
          <p:cNvPr id="18" name="Text 15"/>
          <p:cNvSpPr/>
          <p:nvPr/>
        </p:nvSpPr>
        <p:spPr>
          <a:xfrm>
            <a:off x="5029200" y="3227832"/>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Managed by AI-fluent juniors</a:t>
            </a:r>
            <a:endParaRPr lang="en-US" sz="1200" dirty="0"/>
          </a:p>
        </p:txBody>
      </p:sp>
      <p:sp>
        <p:nvSpPr>
          <p:cNvPr id="19" name="Text 16"/>
          <p:cNvSpPr/>
          <p:nvPr/>
        </p:nvSpPr>
        <p:spPr>
          <a:xfrm>
            <a:off x="5029200" y="3611880"/>
            <a:ext cx="3566160" cy="347472"/>
          </a:xfrm>
          <a:prstGeom prst="rect">
            <a:avLst/>
          </a:prstGeom>
          <a:noFill/>
          <a:ln/>
        </p:spPr>
        <p:txBody>
          <a:bodyPr wrap="square" rtlCol="0" anchor="ctr"/>
          <a:lstStyle/>
          <a:p>
            <a:pPr marL="342900" indent="-342900">
              <a:buSzPct val="100000"/>
              <a:buChar char="•"/>
            </a:pPr>
            <a:r>
              <a:rPr lang="en-US" sz="1200" dirty="0">
                <a:solidFill>
                  <a:srgbClr val="7A9ACC"/>
                </a:solidFill>
                <a:latin typeface="Calibri" pitchFamily="34" charset="0"/>
                <a:ea typeface="Calibri" pitchFamily="34" charset="-122"/>
                <a:cs typeface="Calibri" pitchFamily="34" charset="-120"/>
              </a:rPr>
              <a:t>Career ceiling hits early and hard</a:t>
            </a:r>
            <a:endParaRPr lang="en-US" sz="1200" dirty="0"/>
          </a:p>
        </p:txBody>
      </p:sp>
      <p:sp>
        <p:nvSpPr>
          <p:cNvPr id="20" name="Text 17"/>
          <p:cNvSpPr/>
          <p:nvPr/>
        </p:nvSpPr>
        <p:spPr>
          <a:xfrm>
            <a:off x="457200" y="4773168"/>
            <a:ext cx="8229600" cy="256032"/>
          </a:xfrm>
          <a:prstGeom prst="rect">
            <a:avLst/>
          </a:prstGeom>
          <a:noFill/>
          <a:ln/>
        </p:spPr>
        <p:txBody>
          <a:bodyPr wrap="square" rtlCol="0" anchor="ctr"/>
          <a:lstStyle/>
          <a:p>
            <a:pPr algn="ctr" indent="0" marL="0">
              <a:buNone/>
            </a:pPr>
            <a:r>
              <a:rPr lang="en-US" sz="1100" i="1" dirty="0">
                <a:solidFill>
                  <a:srgbClr val="7A9ACC"/>
                </a:solidFill>
                <a:latin typeface="Calibri" pitchFamily="34" charset="0"/>
                <a:ea typeface="Calibri" pitchFamily="34" charset="-122"/>
                <a:cs typeface="Calibri" pitchFamily="34" charset="-120"/>
              </a:rPr>
              <a:t>This is happening in every field: medicine, law, finance, design, engineering, teaching.</a:t>
            </a:r>
            <a:endParaRPr lang="en-US" sz="1100" dirty="0"/>
          </a:p>
        </p:txBody>
      </p:sp>
      <p:sp>
        <p:nvSpPr>
          <p:cNvPr id="21" name="Text 18"/>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94360"/>
            <a:ext cx="8229600" cy="411480"/>
          </a:xfrm>
          <a:prstGeom prst="rect">
            <a:avLst/>
          </a:prstGeom>
          <a:noFill/>
          <a:ln/>
        </p:spPr>
        <p:txBody>
          <a:bodyPr wrap="square" rtlCol="0" anchor="ctr"/>
          <a:lstStyle/>
          <a:p>
            <a:pPr indent="0" marL="0">
              <a:buNone/>
            </a:pPr>
            <a:r>
              <a:rPr lang="en-US" sz="2000" b="1" dirty="0">
                <a:solidFill>
                  <a:srgbClr val="EEF4FF"/>
                </a:solidFill>
                <a:latin typeface="Calibri" pitchFamily="34" charset="0"/>
                <a:ea typeface="Calibri" pitchFamily="34" charset="-122"/>
                <a:cs typeface="Calibri" pitchFamily="34" charset="-120"/>
              </a:rPr>
              <a:t>Meet the student who gets it.</a:t>
            </a:r>
            <a:endParaRPr lang="en-US" sz="2000" dirty="0"/>
          </a:p>
        </p:txBody>
      </p:sp>
      <p:sp>
        <p:nvSpPr>
          <p:cNvPr id="4" name="Shape 1"/>
          <p:cNvSpPr/>
          <p:nvPr/>
        </p:nvSpPr>
        <p:spPr>
          <a:xfrm>
            <a:off x="320040" y="1097280"/>
            <a:ext cx="8503920" cy="2377440"/>
          </a:xfrm>
          <a:prstGeom prst="roundRect">
            <a:avLst>
              <a:gd name="adj" fmla="val 3846"/>
            </a:avLst>
          </a:prstGeom>
          <a:solidFill>
            <a:srgbClr val="0E1C38"/>
          </a:solidFill>
          <a:ln w="12700">
            <a:solidFill>
              <a:srgbClr val="1A2D52"/>
            </a:solidFill>
            <a:prstDash val="solid"/>
          </a:ln>
          <a:effectLst>
            <a:outerShdw sx="100000" sy="100000" kx="0" ky="0" algn="bl" rotWithShape="0" blurRad="101600" dist="38100" dir="2700000">
              <a:srgbClr val="000000">
                <a:alpha val="25000"/>
              </a:srgbClr>
            </a:outerShdw>
          </a:effectLst>
        </p:spPr>
      </p:sp>
      <p:sp>
        <p:nvSpPr>
          <p:cNvPr id="5" name="Text 2"/>
          <p:cNvSpPr/>
          <p:nvPr/>
        </p:nvSpPr>
        <p:spPr>
          <a:xfrm>
            <a:off x="548640" y="1261872"/>
            <a:ext cx="8046720" cy="365760"/>
          </a:xfrm>
          <a:prstGeom prst="rect">
            <a:avLst/>
          </a:prstGeom>
          <a:noFill/>
          <a:ln/>
        </p:spPr>
        <p:txBody>
          <a:bodyPr wrap="square" rtlCol="0" anchor="ctr"/>
          <a:lstStyle/>
          <a:p>
            <a:pPr indent="0" marL="0">
              <a:buNone/>
            </a:pPr>
            <a:r>
              <a:rPr lang="en-US" sz="1300" b="1" i="1" dirty="0">
                <a:solidFill>
                  <a:srgbClr val="00C4F0"/>
                </a:solidFill>
                <a:latin typeface="Calibri" pitchFamily="34" charset="0"/>
                <a:ea typeface="Calibri" pitchFamily="34" charset="-122"/>
                <a:cs typeface="Calibri" pitchFamily="34" charset="-120"/>
              </a:rPr>
              <a:t>Priya. Class 12. Science stream. Average grades. But she spent 6 weeks in UpMentor's program.</a:t>
            </a:r>
            <a:endParaRPr lang="en-US" sz="1300" dirty="0"/>
          </a:p>
        </p:txBody>
      </p:sp>
      <p:sp>
        <p:nvSpPr>
          <p:cNvPr id="6" name="Text 3"/>
          <p:cNvSpPr/>
          <p:nvPr/>
        </p:nvSpPr>
        <p:spPr>
          <a:xfrm>
            <a:off x="548640" y="1664208"/>
            <a:ext cx="8046720" cy="1645920"/>
          </a:xfrm>
          <a:prstGeom prst="rect">
            <a:avLst/>
          </a:prstGeom>
          <a:noFill/>
          <a:ln/>
        </p:spPr>
        <p:txBody>
          <a:bodyPr wrap="square" rtlCol="0" anchor="ctr"/>
          <a:lstStyle/>
          <a:p>
            <a:pPr indent="0" marL="0">
              <a:lnSpc>
                <a:spcPct val="140000"/>
              </a:lnSpc>
              <a:buNone/>
            </a:pPr>
            <a:r>
              <a:rPr lang="en-US" sz="1200" b="1" dirty="0">
                <a:solidFill>
                  <a:srgbClr val="EEF4FF"/>
                </a:solidFill>
                <a:latin typeface="Calibri" pitchFamily="34" charset="0"/>
                <a:ea typeface="Calibri" pitchFamily="34" charset="-122"/>
                <a:cs typeface="Calibri" pitchFamily="34" charset="-120"/>
              </a:rPr>
              <a:t>Her capstone project: </a:t>
            </a:r>
            <a:pPr indent="0" marL="0">
              <a:lnSpc>
                <a:spcPct val="140000"/>
              </a:lnSpc>
              <a:buNone/>
            </a:pPr>
            <a:r>
              <a:rPr lang="en-US" sz="1200" dirty="0">
                <a:solidFill>
                  <a:srgbClr val="7A9ACC"/>
                </a:solidFill>
                <a:latin typeface="Calibri" pitchFamily="34" charset="0"/>
                <a:ea typeface="Calibri" pitchFamily="34" charset="-122"/>
                <a:cs typeface="Calibri" pitchFamily="34" charset="-120"/>
              </a:rPr>
              <a:t>An AI system that evaluates short-answer exam responses and gives instant feedback to students — built using ChatGPT and tested with 3 teachers in her school.</a:t>
            </a:r>
            <a:pPr indent="0" marL="0">
              <a:lnSpc>
                <a:spcPct val="140000"/>
              </a:lnSpc>
              <a:buNone/>
            </a:pPr>
            <a:endParaRPr lang="en-US" sz="1200" dirty="0"/>
          </a:p>
          <a:p>
            <a:pPr indent="0" marL="0">
              <a:lnSpc>
                <a:spcPct val="140000"/>
              </a:lnSpc>
              <a:buNone/>
            </a:pPr>
            <a:endParaRPr lang="en-US" sz="1200" dirty="0"/>
          </a:p>
          <a:p>
            <a:pPr indent="0" marL="0">
              <a:lnSpc>
                <a:spcPct val="140000"/>
              </a:lnSpc>
              <a:buNone/>
            </a:pPr>
            <a:r>
              <a:rPr lang="en-US" sz="1200" dirty="0">
                <a:solidFill>
                  <a:srgbClr val="7A9ACC"/>
                </a:solidFill>
                <a:latin typeface="Calibri" pitchFamily="34" charset="0"/>
                <a:ea typeface="Calibri" pitchFamily="34" charset="-122"/>
                <a:cs typeface="Calibri" pitchFamily="34" charset="-120"/>
              </a:rPr>
              <a:t>She submitted this as her college application project. She got a personalised Letter of Recommendation from UpMentor describing exactly what she built and why it mattered.</a:t>
            </a:r>
            <a:endParaRPr lang="en-US" sz="1200" dirty="0"/>
          </a:p>
          <a:p>
            <a:pPr indent="0" marL="0">
              <a:lnSpc>
                <a:spcPct val="140000"/>
              </a:lnSpc>
              <a:buNone/>
            </a:pPr>
            <a:endParaRPr lang="en-US" sz="1200" dirty="0"/>
          </a:p>
          <a:p>
            <a:pPr indent="0" marL="0">
              <a:lnSpc>
                <a:spcPct val="140000"/>
              </a:lnSpc>
              <a:buNone/>
            </a:pPr>
            <a:endParaRPr lang="en-US" sz="1200" dirty="0"/>
          </a:p>
          <a:p>
            <a:pPr indent="0" marL="0">
              <a:lnSpc>
                <a:spcPct val="140000"/>
              </a:lnSpc>
              <a:buNone/>
            </a:pPr>
            <a:r>
              <a:rPr lang="en-US" sz="1200" b="1" dirty="0">
                <a:solidFill>
                  <a:srgbClr val="EEF4FF"/>
                </a:solidFill>
                <a:latin typeface="Calibri" pitchFamily="34" charset="0"/>
                <a:ea typeface="Calibri" pitchFamily="34" charset="-122"/>
                <a:cs typeface="Calibri" pitchFamily="34" charset="-120"/>
              </a:rPr>
              <a:t>Result: </a:t>
            </a:r>
            <a:endParaRPr lang="en-US" sz="1200" dirty="0"/>
          </a:p>
          <a:p>
            <a:pPr indent="0" marL="0">
              <a:lnSpc>
                <a:spcPct val="140000"/>
              </a:lnSpc>
              <a:buNone/>
            </a:pPr>
            <a:r>
              <a:rPr lang="en-US" sz="1200" dirty="0">
                <a:solidFill>
                  <a:srgbClr val="6AFB5A"/>
                </a:solidFill>
                <a:latin typeface="Calibri" pitchFamily="34" charset="0"/>
                <a:ea typeface="Calibri" pitchFamily="34" charset="-122"/>
                <a:cs typeface="Calibri" pitchFamily="34" charset="-120"/>
              </a:rPr>
              <a:t>Admission to her first-choice college. Internship offer before she'd even enrolled.</a:t>
            </a:r>
            <a:endParaRPr lang="en-US" sz="1200" dirty="0"/>
          </a:p>
        </p:txBody>
      </p:sp>
      <p:sp>
        <p:nvSpPr>
          <p:cNvPr id="7" name="Text 4"/>
          <p:cNvSpPr/>
          <p:nvPr/>
        </p:nvSpPr>
        <p:spPr>
          <a:xfrm>
            <a:off x="457200" y="3611880"/>
            <a:ext cx="8229600" cy="320040"/>
          </a:xfrm>
          <a:prstGeom prst="rect">
            <a:avLst/>
          </a:prstGeom>
          <a:noFill/>
          <a:ln/>
        </p:spPr>
        <p:txBody>
          <a:bodyPr wrap="square" rtlCol="0" anchor="ctr"/>
          <a:lstStyle/>
          <a:p>
            <a:pPr algn="ctr" indent="0" marL="0">
              <a:buNone/>
            </a:pPr>
            <a:r>
              <a:rPr lang="en-US" sz="1300" b="1" dirty="0">
                <a:solidFill>
                  <a:srgbClr val="EEF4FF"/>
                </a:solidFill>
                <a:latin typeface="Calibri" pitchFamily="34" charset="0"/>
                <a:ea typeface="Calibri" pitchFamily="34" charset="-122"/>
                <a:cs typeface="Calibri" pitchFamily="34" charset="-120"/>
              </a:rPr>
              <a:t>This is not exceptional. This is what structured AI education produces.</a:t>
            </a:r>
            <a:endParaRPr lang="en-US" sz="1300" dirty="0"/>
          </a:p>
        </p:txBody>
      </p:sp>
      <p:sp>
        <p:nvSpPr>
          <p:cNvPr id="8" name="Shape 5"/>
          <p:cNvSpPr/>
          <p:nvPr/>
        </p:nvSpPr>
        <p:spPr>
          <a:xfrm>
            <a:off x="320040" y="4005072"/>
            <a:ext cx="2697480" cy="1005840"/>
          </a:xfrm>
          <a:prstGeom prst="roundRect">
            <a:avLst>
              <a:gd name="adj" fmla="val 727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9" name="Text 6"/>
          <p:cNvSpPr/>
          <p:nvPr/>
        </p:nvSpPr>
        <p:spPr>
          <a:xfrm>
            <a:off x="502920" y="416966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7"/>
          <p:cNvSpPr/>
          <p:nvPr/>
        </p:nvSpPr>
        <p:spPr>
          <a:xfrm>
            <a:off x="502920" y="4718304"/>
            <a:ext cx="233172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Certificate</a:t>
            </a:r>
            <a:endParaRPr lang="en-US" sz="1300" dirty="0"/>
          </a:p>
        </p:txBody>
      </p:sp>
      <p:sp>
        <p:nvSpPr>
          <p:cNvPr id="11" name="Text 8"/>
          <p:cNvSpPr/>
          <p:nvPr/>
        </p:nvSpPr>
        <p:spPr>
          <a:xfrm>
            <a:off x="502920" y="5029200"/>
            <a:ext cx="2331720" cy="-18288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Verified AI Literacy</a:t>
            </a:r>
            <a:endParaRPr lang="en-US" sz="1100" dirty="0"/>
          </a:p>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Certificate with unique ID</a:t>
            </a:r>
            <a:endParaRPr lang="en-US" sz="1100" dirty="0"/>
          </a:p>
        </p:txBody>
      </p:sp>
      <p:sp>
        <p:nvSpPr>
          <p:cNvPr id="12" name="Shape 9"/>
          <p:cNvSpPr/>
          <p:nvPr/>
        </p:nvSpPr>
        <p:spPr>
          <a:xfrm>
            <a:off x="3200400" y="4005072"/>
            <a:ext cx="2697480" cy="1005840"/>
          </a:xfrm>
          <a:prstGeom prst="roundRect">
            <a:avLst>
              <a:gd name="adj" fmla="val 727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3" name="Text 10"/>
          <p:cNvSpPr/>
          <p:nvPr/>
        </p:nvSpPr>
        <p:spPr>
          <a:xfrm>
            <a:off x="3383280" y="416966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1"/>
          <p:cNvSpPr/>
          <p:nvPr/>
        </p:nvSpPr>
        <p:spPr>
          <a:xfrm>
            <a:off x="3383280" y="4718304"/>
            <a:ext cx="233172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LOR</a:t>
            </a:r>
            <a:endParaRPr lang="en-US" sz="1300" dirty="0"/>
          </a:p>
        </p:txBody>
      </p:sp>
      <p:sp>
        <p:nvSpPr>
          <p:cNvPr id="15" name="Text 12"/>
          <p:cNvSpPr/>
          <p:nvPr/>
        </p:nvSpPr>
        <p:spPr>
          <a:xfrm>
            <a:off x="3383280" y="5029200"/>
            <a:ext cx="2331720" cy="-18288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Personal Letter of</a:t>
            </a:r>
            <a:endParaRPr lang="en-US" sz="1100" dirty="0"/>
          </a:p>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Recommendation issued</a:t>
            </a:r>
            <a:endParaRPr lang="en-US" sz="1100" dirty="0"/>
          </a:p>
        </p:txBody>
      </p:sp>
      <p:sp>
        <p:nvSpPr>
          <p:cNvPr id="16" name="Shape 13"/>
          <p:cNvSpPr/>
          <p:nvPr/>
        </p:nvSpPr>
        <p:spPr>
          <a:xfrm>
            <a:off x="6080760" y="4005072"/>
            <a:ext cx="2697480" cy="1005840"/>
          </a:xfrm>
          <a:prstGeom prst="roundRect">
            <a:avLst>
              <a:gd name="adj" fmla="val 727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7" name="Text 14"/>
          <p:cNvSpPr/>
          <p:nvPr/>
        </p:nvSpPr>
        <p:spPr>
          <a:xfrm>
            <a:off x="6263640" y="416966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8" name="Text 15"/>
          <p:cNvSpPr/>
          <p:nvPr/>
        </p:nvSpPr>
        <p:spPr>
          <a:xfrm>
            <a:off x="6263640" y="4718304"/>
            <a:ext cx="233172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Internship</a:t>
            </a:r>
            <a:endParaRPr lang="en-US" sz="1300" dirty="0"/>
          </a:p>
        </p:txBody>
      </p:sp>
      <p:sp>
        <p:nvSpPr>
          <p:cNvPr id="19" name="Text 16"/>
          <p:cNvSpPr/>
          <p:nvPr/>
        </p:nvSpPr>
        <p:spPr>
          <a:xfrm>
            <a:off x="6263640" y="5029200"/>
            <a:ext cx="2331720" cy="-18288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Real placement before</a:t>
            </a:r>
            <a:endParaRPr lang="en-US" sz="1100" dirty="0"/>
          </a:p>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college even started</a:t>
            </a:r>
            <a:endParaRPr lang="en-US" sz="1100" dirty="0"/>
          </a:p>
        </p:txBody>
      </p:sp>
      <p:sp>
        <p:nvSpPr>
          <p:cNvPr id="20" name="Text 17"/>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A"/>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94360"/>
            <a:ext cx="8229600" cy="457200"/>
          </a:xfrm>
          <a:prstGeom prst="rect">
            <a:avLst/>
          </a:prstGeom>
          <a:noFill/>
          <a:ln/>
        </p:spPr>
        <p:txBody>
          <a:bodyPr wrap="square" rtlCol="0" anchor="ctr"/>
          <a:lstStyle/>
          <a:p>
            <a:pPr indent="0" marL="0">
              <a:buNone/>
            </a:pPr>
            <a:r>
              <a:rPr lang="en-US" sz="2200" b="1" dirty="0">
                <a:solidFill>
                  <a:srgbClr val="EEF4FF"/>
                </a:solidFill>
                <a:latin typeface="Calibri" pitchFamily="34" charset="0"/>
                <a:ea typeface="Calibri" pitchFamily="34" charset="-122"/>
                <a:cs typeface="Calibri" pitchFamily="34" charset="-120"/>
              </a:rPr>
              <a:t>Why every school must act — now.</a:t>
            </a:r>
            <a:endParaRPr lang="en-US" sz="2200" dirty="0"/>
          </a:p>
        </p:txBody>
      </p:sp>
      <p:sp>
        <p:nvSpPr>
          <p:cNvPr id="4" name="Shape 1"/>
          <p:cNvSpPr/>
          <p:nvPr/>
        </p:nvSpPr>
        <p:spPr>
          <a:xfrm>
            <a:off x="320040" y="1170432"/>
            <a:ext cx="420624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5" name="Text 2"/>
          <p:cNvSpPr/>
          <p:nvPr/>
        </p:nvSpPr>
        <p:spPr>
          <a:xfrm>
            <a:off x="502920" y="133502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3"/>
          <p:cNvSpPr/>
          <p:nvPr/>
        </p:nvSpPr>
        <p:spPr>
          <a:xfrm>
            <a:off x="502920" y="1883664"/>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Parent Expectations Are Changing</a:t>
            </a:r>
            <a:endParaRPr lang="en-US" sz="1300" dirty="0"/>
          </a:p>
        </p:txBody>
      </p:sp>
      <p:sp>
        <p:nvSpPr>
          <p:cNvPr id="7" name="Text 4"/>
          <p:cNvSpPr/>
          <p:nvPr/>
        </p:nvSpPr>
        <p:spPr>
          <a:xfrm>
            <a:off x="502920" y="2194560"/>
            <a:ext cx="384048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Parents researching schools are now asking: 'Do you have an AI program?' Schools without one look outdated — even if everything else is excellent.</a:t>
            </a:r>
            <a:endParaRPr lang="en-US" sz="1100" dirty="0"/>
          </a:p>
        </p:txBody>
      </p:sp>
      <p:sp>
        <p:nvSpPr>
          <p:cNvPr id="8" name="Shape 5"/>
          <p:cNvSpPr/>
          <p:nvPr/>
        </p:nvSpPr>
        <p:spPr>
          <a:xfrm>
            <a:off x="4754880" y="1170432"/>
            <a:ext cx="420624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9" name="Text 6"/>
          <p:cNvSpPr/>
          <p:nvPr/>
        </p:nvSpPr>
        <p:spPr>
          <a:xfrm>
            <a:off x="4937760" y="133502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7"/>
          <p:cNvSpPr/>
          <p:nvPr/>
        </p:nvSpPr>
        <p:spPr>
          <a:xfrm>
            <a:off x="4937760" y="1883664"/>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NEP 2020 Mandates It</a:t>
            </a:r>
            <a:endParaRPr lang="en-US" sz="1300" dirty="0"/>
          </a:p>
        </p:txBody>
      </p:sp>
      <p:sp>
        <p:nvSpPr>
          <p:cNvPr id="11" name="Text 8"/>
          <p:cNvSpPr/>
          <p:nvPr/>
        </p:nvSpPr>
        <p:spPr>
          <a:xfrm>
            <a:off x="4937760" y="2194560"/>
            <a:ext cx="384048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The National Education Policy explicitly includes AI and coding literacy as core future skills. Early adopters shape the standard — late adopters comply with it.</a:t>
            </a:r>
            <a:endParaRPr lang="en-US" sz="1100" dirty="0"/>
          </a:p>
        </p:txBody>
      </p:sp>
      <p:sp>
        <p:nvSpPr>
          <p:cNvPr id="12" name="Shape 9"/>
          <p:cNvSpPr/>
          <p:nvPr/>
        </p:nvSpPr>
        <p:spPr>
          <a:xfrm>
            <a:off x="320040" y="3044952"/>
            <a:ext cx="420624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3" name="Text 10"/>
          <p:cNvSpPr/>
          <p:nvPr/>
        </p:nvSpPr>
        <p:spPr>
          <a:xfrm>
            <a:off x="502920" y="320954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1"/>
          <p:cNvSpPr/>
          <p:nvPr/>
        </p:nvSpPr>
        <p:spPr>
          <a:xfrm>
            <a:off x="502920" y="3758184"/>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Rankings &amp; Reputation</a:t>
            </a:r>
            <a:endParaRPr lang="en-US" sz="1300" dirty="0"/>
          </a:p>
        </p:txBody>
      </p:sp>
      <p:sp>
        <p:nvSpPr>
          <p:cNvPr id="15" name="Text 12"/>
          <p:cNvSpPr/>
          <p:nvPr/>
        </p:nvSpPr>
        <p:spPr>
          <a:xfrm>
            <a:off x="502920" y="4069080"/>
            <a:ext cx="384048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Schools with AI programs attract better students, more engaged parents, and stronger press coverage. It's a visible differentiator in a competitive market.</a:t>
            </a:r>
            <a:endParaRPr lang="en-US" sz="1100" dirty="0"/>
          </a:p>
        </p:txBody>
      </p:sp>
      <p:sp>
        <p:nvSpPr>
          <p:cNvPr id="16" name="Shape 13"/>
          <p:cNvSpPr/>
          <p:nvPr/>
        </p:nvSpPr>
        <p:spPr>
          <a:xfrm>
            <a:off x="4754880" y="3044952"/>
            <a:ext cx="4206240" cy="1783080"/>
          </a:xfrm>
          <a:prstGeom prst="roundRect">
            <a:avLst>
              <a:gd name="adj" fmla="val 4103"/>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7" name="Text 14"/>
          <p:cNvSpPr/>
          <p:nvPr/>
        </p:nvSpPr>
        <p:spPr>
          <a:xfrm>
            <a:off x="4937760" y="3209544"/>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8" name="Text 15"/>
          <p:cNvSpPr/>
          <p:nvPr/>
        </p:nvSpPr>
        <p:spPr>
          <a:xfrm>
            <a:off x="4937760" y="3758184"/>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Teacher Relevance</a:t>
            </a:r>
            <a:endParaRPr lang="en-US" sz="1300" dirty="0"/>
          </a:p>
        </p:txBody>
      </p:sp>
      <p:sp>
        <p:nvSpPr>
          <p:cNvPr id="19" name="Text 16"/>
          <p:cNvSpPr/>
          <p:nvPr/>
        </p:nvSpPr>
        <p:spPr>
          <a:xfrm>
            <a:off x="4937760" y="4069080"/>
            <a:ext cx="3840480" cy="594360"/>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AI makes teachers worry about their own relevance. Schools that train teachers to use AI don't just solve this — they create faculty who are 2 years ahead of every other school.</a:t>
            </a:r>
            <a:endParaRPr lang="en-US" sz="1100" dirty="0"/>
          </a:p>
        </p:txBody>
      </p:sp>
      <p:sp>
        <p:nvSpPr>
          <p:cNvPr id="20" name="Text 17"/>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640080"/>
            <a:ext cx="8229600" cy="365760"/>
          </a:xfrm>
          <a:prstGeom prst="rect">
            <a:avLst/>
          </a:prstGeom>
          <a:noFill/>
          <a:ln/>
        </p:spPr>
        <p:txBody>
          <a:bodyPr wrap="square" rtlCol="0" anchor="ctr"/>
          <a:lstStyle/>
          <a:p>
            <a:pPr algn="ctr" indent="0" marL="0">
              <a:buNone/>
            </a:pPr>
            <a:r>
              <a:rPr lang="en-US" sz="1400" i="1" dirty="0">
                <a:solidFill>
                  <a:srgbClr val="7A9ACC"/>
                </a:solidFill>
                <a:latin typeface="Calibri" pitchFamily="34" charset="0"/>
                <a:ea typeface="Calibri" pitchFamily="34" charset="-122"/>
                <a:cs typeface="Calibri" pitchFamily="34" charset="-120"/>
              </a:rPr>
              <a:t>Introducing</a:t>
            </a:r>
            <a:endParaRPr lang="en-US" sz="1400" dirty="0"/>
          </a:p>
        </p:txBody>
      </p:sp>
      <p:sp>
        <p:nvSpPr>
          <p:cNvPr id="4" name="Shape 1"/>
          <p:cNvSpPr/>
          <p:nvPr/>
        </p:nvSpPr>
        <p:spPr>
          <a:xfrm>
            <a:off x="2286000" y="1051560"/>
            <a:ext cx="4572000" cy="1280160"/>
          </a:xfrm>
          <a:prstGeom prst="roundRect">
            <a:avLst>
              <a:gd name="adj" fmla="val 8571"/>
            </a:avLst>
          </a:prstGeom>
          <a:solidFill>
            <a:srgbClr val="1554F0"/>
          </a:solidFill>
          <a:ln w="12700">
            <a:solidFill>
              <a:srgbClr val="1554F0"/>
            </a:solidFill>
            <a:prstDash val="solid"/>
          </a:ln>
          <a:effectLst>
            <a:outerShdw sx="100000" sy="100000" kx="0" ky="0" algn="bl" rotWithShape="0" blurRad="203200" dist="50800" dir="2700000">
              <a:srgbClr val="000000">
                <a:alpha val="40000"/>
              </a:srgbClr>
            </a:outerShdw>
          </a:effectLst>
        </p:spPr>
      </p:sp>
      <p:sp>
        <p:nvSpPr>
          <p:cNvPr id="5" name="Text 2"/>
          <p:cNvSpPr/>
          <p:nvPr/>
        </p:nvSpPr>
        <p:spPr>
          <a:xfrm>
            <a:off x="2286000" y="1051560"/>
            <a:ext cx="4572000" cy="1280160"/>
          </a:xfrm>
          <a:prstGeom prst="rect">
            <a:avLst/>
          </a:prstGeom>
          <a:noFill/>
          <a:ln/>
        </p:spPr>
        <p:txBody>
          <a:bodyPr wrap="square" rtlCol="0" anchor="ctr"/>
          <a:lstStyle/>
          <a:p>
            <a:pPr algn="ctr" indent="0" marL="0">
              <a:buNone/>
            </a:pPr>
            <a:r>
              <a:rPr lang="en-US" sz="4200" b="1" dirty="0">
                <a:solidFill>
                  <a:srgbClr val="EEF4FF"/>
                </a:solidFill>
                <a:latin typeface="Calibri" pitchFamily="34" charset="0"/>
                <a:ea typeface="Calibri" pitchFamily="34" charset="-122"/>
                <a:cs typeface="Calibri" pitchFamily="34" charset="-120"/>
              </a:rPr>
              <a:t>UpMentor</a:t>
            </a:r>
            <a:endParaRPr lang="en-US" sz="4200" dirty="0"/>
          </a:p>
        </p:txBody>
      </p:sp>
      <p:sp>
        <p:nvSpPr>
          <p:cNvPr id="6" name="Text 3"/>
          <p:cNvSpPr/>
          <p:nvPr/>
        </p:nvSpPr>
        <p:spPr>
          <a:xfrm>
            <a:off x="457200" y="2450592"/>
            <a:ext cx="8229600" cy="365760"/>
          </a:xfrm>
          <a:prstGeom prst="rect">
            <a:avLst/>
          </a:prstGeom>
          <a:noFill/>
          <a:ln/>
        </p:spPr>
        <p:txBody>
          <a:bodyPr wrap="square" rtlCol="0" anchor="ctr"/>
          <a:lstStyle/>
          <a:p>
            <a:pPr algn="ctr" indent="0" marL="0">
              <a:buNone/>
            </a:pPr>
            <a:r>
              <a:rPr lang="en-US" sz="1400" spc="200" kern="0" dirty="0">
                <a:solidFill>
                  <a:srgbClr val="00C4F0"/>
                </a:solidFill>
                <a:latin typeface="Calibri" pitchFamily="34" charset="0"/>
                <a:ea typeface="Calibri" pitchFamily="34" charset="-122"/>
                <a:cs typeface="Calibri" pitchFamily="34" charset="-120"/>
              </a:rPr>
              <a:t>AI Literacy · Future Skills · Real Impact</a:t>
            </a:r>
            <a:endParaRPr lang="en-US" sz="1400" dirty="0"/>
          </a:p>
        </p:txBody>
      </p:sp>
      <p:sp>
        <p:nvSpPr>
          <p:cNvPr id="7" name="Text 4"/>
          <p:cNvSpPr/>
          <p:nvPr/>
        </p:nvSpPr>
        <p:spPr>
          <a:xfrm>
            <a:off x="731520" y="2907792"/>
            <a:ext cx="7680960" cy="822960"/>
          </a:xfrm>
          <a:prstGeom prst="rect">
            <a:avLst/>
          </a:prstGeom>
          <a:noFill/>
          <a:ln/>
        </p:spPr>
        <p:txBody>
          <a:bodyPr wrap="square" rtlCol="0" anchor="ctr"/>
          <a:lstStyle/>
          <a:p>
            <a:pPr algn="ctr" indent="0" marL="0">
              <a:lnSpc>
                <a:spcPct val="150000"/>
              </a:lnSpc>
              <a:buNone/>
            </a:pPr>
            <a:r>
              <a:rPr lang="en-US" sz="1400" dirty="0">
                <a:solidFill>
                  <a:srgbClr val="7A9ACC"/>
                </a:solidFill>
                <a:latin typeface="Calibri" pitchFamily="34" charset="0"/>
                <a:ea typeface="Calibri" pitchFamily="34" charset="-122"/>
                <a:cs typeface="Calibri" pitchFamily="34" charset="-120"/>
              </a:rPr>
              <a:t>We bring a complete, structured AI education program directly to your school.</a:t>
            </a:r>
            <a:endParaRPr lang="en-US" sz="1400" dirty="0"/>
          </a:p>
          <a:p>
            <a:pPr algn="ctr" indent="0" marL="0">
              <a:lnSpc>
                <a:spcPct val="150000"/>
              </a:lnSpc>
              <a:buNone/>
            </a:pPr>
            <a:r>
              <a:rPr lang="en-US" sz="1400" dirty="0">
                <a:solidFill>
                  <a:srgbClr val="7A9ACC"/>
                </a:solidFill>
                <a:latin typeface="Calibri" pitchFamily="34" charset="0"/>
                <a:ea typeface="Calibri" pitchFamily="34" charset="-122"/>
                <a:cs typeface="Calibri" pitchFamily="34" charset="-120"/>
              </a:rPr>
              <a:t>Your teachers get trained. Your students get certified. Your institution gets recognised.</a:t>
            </a:r>
            <a:endParaRPr lang="en-US" sz="1400" dirty="0"/>
          </a:p>
        </p:txBody>
      </p:sp>
      <p:sp>
        <p:nvSpPr>
          <p:cNvPr id="8" name="Shape 5"/>
          <p:cNvSpPr/>
          <p:nvPr/>
        </p:nvSpPr>
        <p:spPr>
          <a:xfrm>
            <a:off x="320040" y="3913632"/>
            <a:ext cx="2743200" cy="960120"/>
          </a:xfrm>
          <a:prstGeom prst="roundRect">
            <a:avLst>
              <a:gd name="adj" fmla="val 7619"/>
            </a:avLst>
          </a:prstGeom>
          <a:solidFill>
            <a:srgbClr val="0E1C38"/>
          </a:solidFill>
          <a:ln w="12700">
            <a:solidFill>
              <a:srgbClr val="1A2D52"/>
            </a:solidFill>
            <a:prstDash val="solid"/>
          </a:ln>
          <a:effectLst>
            <a:outerShdw sx="100000" sy="100000" kx="0" ky="0" algn="bl" rotWithShape="0" blurRad="63500" dist="25400" dir="2700000">
              <a:srgbClr val="000000">
                <a:alpha val="20000"/>
              </a:srgbClr>
            </a:outerShdw>
          </a:effectLst>
        </p:spPr>
      </p:sp>
      <p:sp>
        <p:nvSpPr>
          <p:cNvPr id="9" name="Text 6"/>
          <p:cNvSpPr/>
          <p:nvPr/>
        </p:nvSpPr>
        <p:spPr>
          <a:xfrm>
            <a:off x="320040" y="3968496"/>
            <a:ext cx="2743200" cy="411480"/>
          </a:xfrm>
          <a:prstGeom prst="rect">
            <a:avLst/>
          </a:prstGeom>
          <a:noFill/>
          <a:ln/>
        </p:spPr>
        <p:txBody>
          <a:bodyPr wrap="square" rtlCol="0" anchor="ctr"/>
          <a:lstStyle/>
          <a:p>
            <a:pPr algn="ctr" indent="0" marL="0">
              <a:buNone/>
            </a:pPr>
            <a:r>
              <a:rPr lang="en-US" sz="2000" b="1" dirty="0">
                <a:solidFill>
                  <a:srgbClr val="00C4F0"/>
                </a:solidFill>
                <a:latin typeface="Calibri" pitchFamily="34" charset="0"/>
                <a:ea typeface="Calibri" pitchFamily="34" charset="-122"/>
                <a:cs typeface="Calibri" pitchFamily="34" charset="-120"/>
              </a:rPr>
              <a:t>Zero</a:t>
            </a:r>
            <a:endParaRPr lang="en-US" sz="2000" dirty="0"/>
          </a:p>
        </p:txBody>
      </p:sp>
      <p:sp>
        <p:nvSpPr>
          <p:cNvPr id="10" name="Text 7"/>
          <p:cNvSpPr/>
          <p:nvPr/>
        </p:nvSpPr>
        <p:spPr>
          <a:xfrm>
            <a:off x="320040" y="4352544"/>
            <a:ext cx="2743200" cy="347472"/>
          </a:xfrm>
          <a:prstGeom prst="rect">
            <a:avLst/>
          </a:prstGeom>
          <a:noFill/>
          <a:ln/>
        </p:spPr>
        <p:txBody>
          <a:bodyPr wrap="square" rtlCol="0" anchor="ctr"/>
          <a:lstStyle/>
          <a:p>
            <a:pPr algn="ctr" indent="0" marL="0">
              <a:buNone/>
            </a:pPr>
            <a:r>
              <a:rPr lang="en-US" sz="1100" dirty="0">
                <a:solidFill>
                  <a:srgbClr val="7A9ACC"/>
                </a:solidFill>
                <a:latin typeface="Calibri" pitchFamily="34" charset="0"/>
                <a:ea typeface="Calibri" pitchFamily="34" charset="-122"/>
                <a:cs typeface="Calibri" pitchFamily="34" charset="-120"/>
              </a:rPr>
              <a:t>Infrastructure needed from you</a:t>
            </a:r>
            <a:endParaRPr lang="en-US" sz="1100" dirty="0"/>
          </a:p>
        </p:txBody>
      </p:sp>
      <p:sp>
        <p:nvSpPr>
          <p:cNvPr id="11" name="Shape 8"/>
          <p:cNvSpPr/>
          <p:nvPr/>
        </p:nvSpPr>
        <p:spPr>
          <a:xfrm>
            <a:off x="3246120" y="3913632"/>
            <a:ext cx="2743200" cy="960120"/>
          </a:xfrm>
          <a:prstGeom prst="roundRect">
            <a:avLst>
              <a:gd name="adj" fmla="val 7619"/>
            </a:avLst>
          </a:prstGeom>
          <a:solidFill>
            <a:srgbClr val="0E1C38"/>
          </a:solidFill>
          <a:ln w="12700">
            <a:solidFill>
              <a:srgbClr val="1A2D52"/>
            </a:solidFill>
            <a:prstDash val="solid"/>
          </a:ln>
          <a:effectLst>
            <a:outerShdw sx="100000" sy="100000" kx="0" ky="0" algn="bl" rotWithShape="0" blurRad="63500" dist="25400" dir="2700000">
              <a:srgbClr val="000000">
                <a:alpha val="20000"/>
              </a:srgbClr>
            </a:outerShdw>
          </a:effectLst>
        </p:spPr>
      </p:sp>
      <p:sp>
        <p:nvSpPr>
          <p:cNvPr id="12" name="Text 9"/>
          <p:cNvSpPr/>
          <p:nvPr/>
        </p:nvSpPr>
        <p:spPr>
          <a:xfrm>
            <a:off x="3246120" y="3968496"/>
            <a:ext cx="2743200" cy="411480"/>
          </a:xfrm>
          <a:prstGeom prst="rect">
            <a:avLst/>
          </a:prstGeom>
          <a:noFill/>
          <a:ln/>
        </p:spPr>
        <p:txBody>
          <a:bodyPr wrap="square" rtlCol="0" anchor="ctr"/>
          <a:lstStyle/>
          <a:p>
            <a:pPr algn="ctr" indent="0" marL="0">
              <a:buNone/>
            </a:pPr>
            <a:r>
              <a:rPr lang="en-US" sz="2000" b="1" dirty="0">
                <a:solidFill>
                  <a:srgbClr val="00C4F0"/>
                </a:solidFill>
                <a:latin typeface="Calibri" pitchFamily="34" charset="0"/>
                <a:ea typeface="Calibri" pitchFamily="34" charset="-122"/>
                <a:cs typeface="Calibri" pitchFamily="34" charset="-120"/>
              </a:rPr>
              <a:t>100%</a:t>
            </a:r>
            <a:endParaRPr lang="en-US" sz="2000" dirty="0"/>
          </a:p>
        </p:txBody>
      </p:sp>
      <p:sp>
        <p:nvSpPr>
          <p:cNvPr id="13" name="Text 10"/>
          <p:cNvSpPr/>
          <p:nvPr/>
        </p:nvSpPr>
        <p:spPr>
          <a:xfrm>
            <a:off x="3246120" y="4352544"/>
            <a:ext cx="2743200" cy="347472"/>
          </a:xfrm>
          <a:prstGeom prst="rect">
            <a:avLst/>
          </a:prstGeom>
          <a:noFill/>
          <a:ln/>
        </p:spPr>
        <p:txBody>
          <a:bodyPr wrap="square" rtlCol="0" anchor="ctr"/>
          <a:lstStyle/>
          <a:p>
            <a:pPr algn="ctr" indent="0" marL="0">
              <a:buNone/>
            </a:pPr>
            <a:r>
              <a:rPr lang="en-US" sz="1100" dirty="0">
                <a:solidFill>
                  <a:srgbClr val="7A9ACC"/>
                </a:solidFill>
                <a:latin typeface="Calibri" pitchFamily="34" charset="0"/>
                <a:ea typeface="Calibri" pitchFamily="34" charset="-122"/>
                <a:cs typeface="Calibri" pitchFamily="34" charset="-120"/>
              </a:rPr>
              <a:t>Done-for-you delivery</a:t>
            </a:r>
            <a:endParaRPr lang="en-US" sz="1100" dirty="0"/>
          </a:p>
        </p:txBody>
      </p:sp>
      <p:sp>
        <p:nvSpPr>
          <p:cNvPr id="14" name="Shape 11"/>
          <p:cNvSpPr/>
          <p:nvPr/>
        </p:nvSpPr>
        <p:spPr>
          <a:xfrm>
            <a:off x="6172200" y="3913632"/>
            <a:ext cx="2743200" cy="960120"/>
          </a:xfrm>
          <a:prstGeom prst="roundRect">
            <a:avLst>
              <a:gd name="adj" fmla="val 7619"/>
            </a:avLst>
          </a:prstGeom>
          <a:solidFill>
            <a:srgbClr val="0E1C38"/>
          </a:solidFill>
          <a:ln w="12700">
            <a:solidFill>
              <a:srgbClr val="1A2D52"/>
            </a:solidFill>
            <a:prstDash val="solid"/>
          </a:ln>
          <a:effectLst>
            <a:outerShdw sx="100000" sy="100000" kx="0" ky="0" algn="bl" rotWithShape="0" blurRad="63500" dist="25400" dir="2700000">
              <a:srgbClr val="000000">
                <a:alpha val="20000"/>
              </a:srgbClr>
            </a:outerShdw>
          </a:effectLst>
        </p:spPr>
      </p:sp>
      <p:sp>
        <p:nvSpPr>
          <p:cNvPr id="15" name="Text 12"/>
          <p:cNvSpPr/>
          <p:nvPr/>
        </p:nvSpPr>
        <p:spPr>
          <a:xfrm>
            <a:off x="6172200" y="3968496"/>
            <a:ext cx="2743200" cy="411480"/>
          </a:xfrm>
          <a:prstGeom prst="rect">
            <a:avLst/>
          </a:prstGeom>
          <a:noFill/>
          <a:ln/>
        </p:spPr>
        <p:txBody>
          <a:bodyPr wrap="square" rtlCol="0" anchor="ctr"/>
          <a:lstStyle/>
          <a:p>
            <a:pPr algn="ctr" indent="0" marL="0">
              <a:buNone/>
            </a:pPr>
            <a:r>
              <a:rPr lang="en-US" sz="2000" b="1" dirty="0">
                <a:solidFill>
                  <a:srgbClr val="00C4F0"/>
                </a:solidFill>
                <a:latin typeface="Calibri" pitchFamily="34" charset="0"/>
                <a:ea typeface="Calibri" pitchFamily="34" charset="-122"/>
                <a:cs typeface="Calibri" pitchFamily="34" charset="-120"/>
              </a:rPr>
              <a:t>1 School</a:t>
            </a:r>
            <a:endParaRPr lang="en-US" sz="2000" dirty="0"/>
          </a:p>
        </p:txBody>
      </p:sp>
      <p:sp>
        <p:nvSpPr>
          <p:cNvPr id="16" name="Text 13"/>
          <p:cNvSpPr/>
          <p:nvPr/>
        </p:nvSpPr>
        <p:spPr>
          <a:xfrm>
            <a:off x="6172200" y="4352544"/>
            <a:ext cx="2743200" cy="347472"/>
          </a:xfrm>
          <a:prstGeom prst="rect">
            <a:avLst/>
          </a:prstGeom>
          <a:noFill/>
          <a:ln/>
        </p:spPr>
        <p:txBody>
          <a:bodyPr wrap="square" rtlCol="0" anchor="ctr"/>
          <a:lstStyle/>
          <a:p>
            <a:pPr algn="ctr" indent="0" marL="0">
              <a:buNone/>
            </a:pPr>
            <a:r>
              <a:rPr lang="en-US" sz="1100" dirty="0">
                <a:solidFill>
                  <a:srgbClr val="7A9ACC"/>
                </a:solidFill>
                <a:latin typeface="Calibri" pitchFamily="34" charset="0"/>
                <a:ea typeface="Calibri" pitchFamily="34" charset="-122"/>
                <a:cs typeface="Calibri" pitchFamily="34" charset="-120"/>
              </a:rPr>
              <a:t>Per area. Exclusive.</a:t>
            </a:r>
            <a:endParaRPr lang="en-US" sz="1100" dirty="0"/>
          </a:p>
        </p:txBody>
      </p:sp>
      <p:sp>
        <p:nvSpPr>
          <p:cNvPr id="17" name="Text 14"/>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400" b="1" dirty="0">
                <a:solidFill>
                  <a:srgbClr val="EEF4FF"/>
                </a:solidFill>
                <a:latin typeface="Calibri" pitchFamily="34" charset="0"/>
                <a:ea typeface="Calibri" pitchFamily="34" charset="-122"/>
                <a:cs typeface="Calibri" pitchFamily="34" charset="-120"/>
              </a:rPr>
              <a:t>The AILA System™</a:t>
            </a:r>
            <a:endParaRPr lang="en-US" sz="2400" dirty="0"/>
          </a:p>
        </p:txBody>
      </p:sp>
      <p:sp>
        <p:nvSpPr>
          <p:cNvPr id="4" name="Text 1"/>
          <p:cNvSpPr/>
          <p:nvPr/>
        </p:nvSpPr>
        <p:spPr>
          <a:xfrm>
            <a:off x="457200" y="1005840"/>
            <a:ext cx="8229600" cy="320040"/>
          </a:xfrm>
          <a:prstGeom prst="rect">
            <a:avLst/>
          </a:prstGeom>
          <a:noFill/>
          <a:ln/>
        </p:spPr>
        <p:txBody>
          <a:bodyPr wrap="square" rtlCol="0" anchor="ctr"/>
          <a:lstStyle/>
          <a:p>
            <a:pPr indent="0" marL="0">
              <a:buNone/>
            </a:pPr>
            <a:r>
              <a:rPr lang="en-US" sz="1200" i="1" dirty="0">
                <a:solidFill>
                  <a:srgbClr val="7A9ACC"/>
                </a:solidFill>
                <a:latin typeface="Calibri" pitchFamily="34" charset="0"/>
                <a:ea typeface="Calibri" pitchFamily="34" charset="-122"/>
                <a:cs typeface="Calibri" pitchFamily="34" charset="-120"/>
              </a:rPr>
              <a:t>AI Literacy &amp; Application — UpMentor's proprietary 3-phase learning framework</a:t>
            </a:r>
            <a:endParaRPr lang="en-US" sz="1200" dirty="0"/>
          </a:p>
        </p:txBody>
      </p:sp>
      <p:sp>
        <p:nvSpPr>
          <p:cNvPr id="5" name="Shape 2"/>
          <p:cNvSpPr/>
          <p:nvPr/>
        </p:nvSpPr>
        <p:spPr>
          <a:xfrm>
            <a:off x="320040" y="1417320"/>
            <a:ext cx="2743200" cy="3337560"/>
          </a:xfrm>
          <a:prstGeom prst="roundRect">
            <a:avLst>
              <a:gd name="adj" fmla="val 3333"/>
            </a:avLst>
          </a:prstGeom>
          <a:solidFill>
            <a:srgbClr val="1554F0">
              <a:alpha val="25000"/>
            </a:srgbClr>
          </a:solidFill>
          <a:ln w="12700">
            <a:solidFill>
              <a:srgbClr val="00C4F0">
                <a:alpha val="50000"/>
              </a:srgbClr>
            </a:solidFill>
            <a:prstDash val="solid"/>
          </a:ln>
          <a:effectLst>
            <a:outerShdw sx="100000" sy="100000" kx="0" ky="0" algn="bl" rotWithShape="0" blurRad="101600" dist="38100" dir="2700000">
              <a:srgbClr val="000000">
                <a:alpha val="30000"/>
              </a:srgbClr>
            </a:outerShdw>
          </a:effectLst>
        </p:spPr>
      </p:sp>
      <p:sp>
        <p:nvSpPr>
          <p:cNvPr id="6" name="Shape 3"/>
          <p:cNvSpPr/>
          <p:nvPr/>
        </p:nvSpPr>
        <p:spPr>
          <a:xfrm>
            <a:off x="1325880" y="1508760"/>
            <a:ext cx="713232" cy="713232"/>
          </a:xfrm>
          <a:prstGeom prst="ellipse">
            <a:avLst/>
          </a:prstGeom>
          <a:solidFill>
            <a:srgbClr val="00C4F0"/>
          </a:solidFill>
          <a:ln w="12700">
            <a:solidFill>
              <a:srgbClr val="00C4F0"/>
            </a:solidFill>
            <a:prstDash val="solid"/>
          </a:ln>
        </p:spPr>
      </p:sp>
      <p:sp>
        <p:nvSpPr>
          <p:cNvPr id="7" name="Text 4"/>
          <p:cNvSpPr/>
          <p:nvPr/>
        </p:nvSpPr>
        <p:spPr>
          <a:xfrm>
            <a:off x="1325880" y="1508760"/>
            <a:ext cx="713232" cy="713232"/>
          </a:xfrm>
          <a:prstGeom prst="rect">
            <a:avLst/>
          </a:prstGeom>
          <a:noFill/>
          <a:ln/>
        </p:spPr>
        <p:txBody>
          <a:bodyPr wrap="square" rtlCol="0" anchor="ctr"/>
          <a:lstStyle/>
          <a:p>
            <a:pPr algn="ctr" indent="0" marL="0">
              <a:buNone/>
            </a:pPr>
            <a:r>
              <a:rPr lang="en-US" sz="2200" b="1" dirty="0">
                <a:solidFill>
                  <a:srgbClr val="060C18"/>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411480" y="2331720"/>
            <a:ext cx="2560320" cy="274320"/>
          </a:xfrm>
          <a:prstGeom prst="rect">
            <a:avLst/>
          </a:prstGeom>
          <a:noFill/>
          <a:ln/>
        </p:spPr>
        <p:txBody>
          <a:bodyPr wrap="square" rtlCol="0" anchor="ctr"/>
          <a:lstStyle/>
          <a:p>
            <a:pPr algn="ctr" indent="0" marL="0">
              <a:buNone/>
            </a:pPr>
            <a:r>
              <a:rPr lang="en-US" sz="1000" b="1" spc="200" kern="0" dirty="0">
                <a:solidFill>
                  <a:srgbClr val="00C4F0"/>
                </a:solidFill>
                <a:latin typeface="Calibri" pitchFamily="34" charset="0"/>
                <a:ea typeface="Calibri" pitchFamily="34" charset="-122"/>
                <a:cs typeface="Calibri" pitchFamily="34" charset="-120"/>
              </a:rPr>
              <a:t>Phase 1</a:t>
            </a:r>
            <a:endParaRPr lang="en-US" sz="1000" dirty="0"/>
          </a:p>
        </p:txBody>
      </p:sp>
      <p:sp>
        <p:nvSpPr>
          <p:cNvPr id="9" name="Text 6"/>
          <p:cNvSpPr/>
          <p:nvPr/>
        </p:nvSpPr>
        <p:spPr>
          <a:xfrm>
            <a:off x="411480" y="2606040"/>
            <a:ext cx="2560320" cy="411480"/>
          </a:xfrm>
          <a:prstGeom prst="rect">
            <a:avLst/>
          </a:prstGeom>
          <a:noFill/>
          <a:ln/>
        </p:spPr>
        <p:txBody>
          <a:bodyPr wrap="square" rtlCol="0" anchor="ctr"/>
          <a:lstStyle/>
          <a:p>
            <a:pPr algn="ctr" indent="0" marL="0">
              <a:buNone/>
            </a:pPr>
            <a:r>
              <a:rPr lang="en-US" sz="1700" b="1" dirty="0">
                <a:solidFill>
                  <a:srgbClr val="EEF4FF"/>
                </a:solidFill>
                <a:latin typeface="Calibri" pitchFamily="34" charset="0"/>
                <a:ea typeface="Calibri" pitchFamily="34" charset="-122"/>
                <a:cs typeface="Calibri" pitchFamily="34" charset="-120"/>
              </a:rPr>
              <a:t>AI Cognition</a:t>
            </a:r>
            <a:endParaRPr lang="en-US" sz="1700" dirty="0"/>
          </a:p>
        </p:txBody>
      </p:sp>
      <p:sp>
        <p:nvSpPr>
          <p:cNvPr id="10" name="Text 7"/>
          <p:cNvSpPr/>
          <p:nvPr/>
        </p:nvSpPr>
        <p:spPr>
          <a:xfrm>
            <a:off x="411480" y="3017520"/>
            <a:ext cx="2560320" cy="411480"/>
          </a:xfrm>
          <a:prstGeom prst="rect">
            <a:avLst/>
          </a:prstGeom>
          <a:noFill/>
          <a:ln/>
        </p:spPr>
        <p:txBody>
          <a:bodyPr wrap="square" rtlCol="0" anchor="ctr"/>
          <a:lstStyle/>
          <a:p>
            <a:pPr algn="ctr" indent="0" marL="0">
              <a:buNone/>
            </a:pPr>
            <a:r>
              <a:rPr lang="en-US" sz="1100" i="1" dirty="0">
                <a:solidFill>
                  <a:srgbClr val="00C4F0"/>
                </a:solidFill>
                <a:latin typeface="Calibri" pitchFamily="34" charset="0"/>
                <a:ea typeface="Calibri" pitchFamily="34" charset="-122"/>
                <a:cs typeface="Calibri" pitchFamily="34" charset="-120"/>
              </a:rPr>
              <a:t>Weeks 1–3</a:t>
            </a:r>
            <a:endParaRPr lang="en-US" sz="1100" dirty="0"/>
          </a:p>
          <a:p>
            <a:pPr algn="ctr" indent="0" marL="0">
              <a:buNone/>
            </a:pPr>
            <a:r>
              <a:rPr lang="en-US" sz="1100" i="1" dirty="0">
                <a:solidFill>
                  <a:srgbClr val="00C4F0"/>
                </a:solidFill>
                <a:latin typeface="Calibri" pitchFamily="34" charset="0"/>
                <a:ea typeface="Calibri" pitchFamily="34" charset="-122"/>
                <a:cs typeface="Calibri" pitchFamily="34" charset="-120"/>
              </a:rPr>
              <a:t>8 Sessions</a:t>
            </a:r>
            <a:endParaRPr lang="en-US" sz="1100" dirty="0"/>
          </a:p>
        </p:txBody>
      </p:sp>
      <p:sp>
        <p:nvSpPr>
          <p:cNvPr id="11" name="Text 8"/>
          <p:cNvSpPr/>
          <p:nvPr/>
        </p:nvSpPr>
        <p:spPr>
          <a:xfrm>
            <a:off x="411480" y="3493008"/>
            <a:ext cx="2560320" cy="1097280"/>
          </a:xfrm>
          <a:prstGeom prst="rect">
            <a:avLst/>
          </a:prstGeom>
          <a:noFill/>
          <a:ln/>
        </p:spPr>
        <p:txBody>
          <a:bodyPr wrap="square" rtlCol="0" anchor="ctr"/>
          <a:lstStyle/>
          <a:p>
            <a:pPr algn="ctr" indent="0" marL="0">
              <a:lnSpc>
                <a:spcPct val="130000"/>
              </a:lnSpc>
              <a:buNone/>
            </a:pPr>
            <a:r>
              <a:rPr lang="en-US" sz="1100" dirty="0">
                <a:solidFill>
                  <a:srgbClr val="7A9ACC"/>
                </a:solidFill>
                <a:latin typeface="Calibri" pitchFamily="34" charset="0"/>
                <a:ea typeface="Calibri" pitchFamily="34" charset="-122"/>
                <a:cs typeface="Calibri" pitchFamily="34" charset="-120"/>
              </a:rPr>
              <a:t>Understand what AI is, destroy myths, map the landscape, develop critical AI thinking. Build the mental model first.</a:t>
            </a:r>
            <a:endParaRPr lang="en-US" sz="1100" dirty="0"/>
          </a:p>
        </p:txBody>
      </p:sp>
      <p:sp>
        <p:nvSpPr>
          <p:cNvPr id="12" name="Shape 9"/>
          <p:cNvSpPr/>
          <p:nvPr/>
        </p:nvSpPr>
        <p:spPr>
          <a:xfrm>
            <a:off x="3200400" y="1417320"/>
            <a:ext cx="2743200" cy="3337560"/>
          </a:xfrm>
          <a:prstGeom prst="roundRect">
            <a:avLst>
              <a:gd name="adj" fmla="val 3333"/>
            </a:avLst>
          </a:prstGeom>
          <a:solidFill>
            <a:srgbClr val="0D5C1A">
              <a:alpha val="25000"/>
            </a:srgbClr>
          </a:solidFill>
          <a:ln w="12700">
            <a:solidFill>
              <a:srgbClr val="6AFB5A">
                <a:alpha val="50000"/>
              </a:srgbClr>
            </a:solidFill>
            <a:prstDash val="solid"/>
          </a:ln>
          <a:effectLst>
            <a:outerShdw sx="100000" sy="100000" kx="0" ky="0" algn="bl" rotWithShape="0" blurRad="101600" dist="38100" dir="2700000">
              <a:srgbClr val="000000">
                <a:alpha val="30000"/>
              </a:srgbClr>
            </a:outerShdw>
          </a:effectLst>
        </p:spPr>
      </p:sp>
      <p:sp>
        <p:nvSpPr>
          <p:cNvPr id="13" name="Shape 10"/>
          <p:cNvSpPr/>
          <p:nvPr/>
        </p:nvSpPr>
        <p:spPr>
          <a:xfrm>
            <a:off x="4206240" y="1508760"/>
            <a:ext cx="713232" cy="713232"/>
          </a:xfrm>
          <a:prstGeom prst="ellipse">
            <a:avLst/>
          </a:prstGeom>
          <a:solidFill>
            <a:srgbClr val="6AFB5A"/>
          </a:solidFill>
          <a:ln w="12700">
            <a:solidFill>
              <a:srgbClr val="6AFB5A"/>
            </a:solidFill>
            <a:prstDash val="solid"/>
          </a:ln>
        </p:spPr>
      </p:sp>
      <p:sp>
        <p:nvSpPr>
          <p:cNvPr id="14" name="Text 11"/>
          <p:cNvSpPr/>
          <p:nvPr/>
        </p:nvSpPr>
        <p:spPr>
          <a:xfrm>
            <a:off x="4206240" y="1508760"/>
            <a:ext cx="713232" cy="713232"/>
          </a:xfrm>
          <a:prstGeom prst="rect">
            <a:avLst/>
          </a:prstGeom>
          <a:noFill/>
          <a:ln/>
        </p:spPr>
        <p:txBody>
          <a:bodyPr wrap="square" rtlCol="0" anchor="ctr"/>
          <a:lstStyle/>
          <a:p>
            <a:pPr algn="ctr" indent="0" marL="0">
              <a:buNone/>
            </a:pPr>
            <a:r>
              <a:rPr lang="en-US" sz="2200" b="1" dirty="0">
                <a:solidFill>
                  <a:srgbClr val="060C18"/>
                </a:solidFill>
                <a:latin typeface="Calibri" pitchFamily="34" charset="0"/>
                <a:ea typeface="Calibri" pitchFamily="34" charset="-122"/>
                <a:cs typeface="Calibri" pitchFamily="34" charset="-120"/>
              </a:rPr>
              <a:t>2</a:t>
            </a:r>
            <a:endParaRPr lang="en-US" sz="2200" dirty="0"/>
          </a:p>
        </p:txBody>
      </p:sp>
      <p:sp>
        <p:nvSpPr>
          <p:cNvPr id="15" name="Text 12"/>
          <p:cNvSpPr/>
          <p:nvPr/>
        </p:nvSpPr>
        <p:spPr>
          <a:xfrm>
            <a:off x="3291840" y="2331720"/>
            <a:ext cx="2560320" cy="274320"/>
          </a:xfrm>
          <a:prstGeom prst="rect">
            <a:avLst/>
          </a:prstGeom>
          <a:noFill/>
          <a:ln/>
        </p:spPr>
        <p:txBody>
          <a:bodyPr wrap="square" rtlCol="0" anchor="ctr"/>
          <a:lstStyle/>
          <a:p>
            <a:pPr algn="ctr" indent="0" marL="0">
              <a:buNone/>
            </a:pPr>
            <a:r>
              <a:rPr lang="en-US" sz="1000" b="1" spc="200" kern="0" dirty="0">
                <a:solidFill>
                  <a:srgbClr val="6AFB5A"/>
                </a:solidFill>
                <a:latin typeface="Calibri" pitchFamily="34" charset="0"/>
                <a:ea typeface="Calibri" pitchFamily="34" charset="-122"/>
                <a:cs typeface="Calibri" pitchFamily="34" charset="-120"/>
              </a:rPr>
              <a:t>Phase 2</a:t>
            </a:r>
            <a:endParaRPr lang="en-US" sz="1000" dirty="0"/>
          </a:p>
        </p:txBody>
      </p:sp>
      <p:sp>
        <p:nvSpPr>
          <p:cNvPr id="16" name="Text 13"/>
          <p:cNvSpPr/>
          <p:nvPr/>
        </p:nvSpPr>
        <p:spPr>
          <a:xfrm>
            <a:off x="3291840" y="2606040"/>
            <a:ext cx="2560320" cy="411480"/>
          </a:xfrm>
          <a:prstGeom prst="rect">
            <a:avLst/>
          </a:prstGeom>
          <a:noFill/>
          <a:ln/>
        </p:spPr>
        <p:txBody>
          <a:bodyPr wrap="square" rtlCol="0" anchor="ctr"/>
          <a:lstStyle/>
          <a:p>
            <a:pPr algn="ctr" indent="0" marL="0">
              <a:buNone/>
            </a:pPr>
            <a:r>
              <a:rPr lang="en-US" sz="1700" b="1" dirty="0">
                <a:solidFill>
                  <a:srgbClr val="EEF4FF"/>
                </a:solidFill>
                <a:latin typeface="Calibri" pitchFamily="34" charset="0"/>
                <a:ea typeface="Calibri" pitchFamily="34" charset="-122"/>
                <a:cs typeface="Calibri" pitchFamily="34" charset="-120"/>
              </a:rPr>
              <a:t>AI Production</a:t>
            </a:r>
            <a:endParaRPr lang="en-US" sz="1700" dirty="0"/>
          </a:p>
        </p:txBody>
      </p:sp>
      <p:sp>
        <p:nvSpPr>
          <p:cNvPr id="17" name="Text 14"/>
          <p:cNvSpPr/>
          <p:nvPr/>
        </p:nvSpPr>
        <p:spPr>
          <a:xfrm>
            <a:off x="3291840" y="3017520"/>
            <a:ext cx="2560320" cy="411480"/>
          </a:xfrm>
          <a:prstGeom prst="rect">
            <a:avLst/>
          </a:prstGeom>
          <a:noFill/>
          <a:ln/>
        </p:spPr>
        <p:txBody>
          <a:bodyPr wrap="square" rtlCol="0" anchor="ctr"/>
          <a:lstStyle/>
          <a:p>
            <a:pPr algn="ctr" indent="0" marL="0">
              <a:buNone/>
            </a:pPr>
            <a:r>
              <a:rPr lang="en-US" sz="1100" i="1" dirty="0">
                <a:solidFill>
                  <a:srgbClr val="6AFB5A"/>
                </a:solidFill>
                <a:latin typeface="Calibri" pitchFamily="34" charset="0"/>
                <a:ea typeface="Calibri" pitchFamily="34" charset="-122"/>
                <a:cs typeface="Calibri" pitchFamily="34" charset="-120"/>
              </a:rPr>
              <a:t>Weeks 4–6</a:t>
            </a:r>
            <a:endParaRPr lang="en-US" sz="1100" dirty="0"/>
          </a:p>
          <a:p>
            <a:pPr algn="ctr" indent="0" marL="0">
              <a:buNone/>
            </a:pPr>
            <a:r>
              <a:rPr lang="en-US" sz="1100" i="1" dirty="0">
                <a:solidFill>
                  <a:srgbClr val="6AFB5A"/>
                </a:solidFill>
                <a:latin typeface="Calibri" pitchFamily="34" charset="0"/>
                <a:ea typeface="Calibri" pitchFamily="34" charset="-122"/>
                <a:cs typeface="Calibri" pitchFamily="34" charset="-120"/>
              </a:rPr>
              <a:t>8 Sessions</a:t>
            </a:r>
            <a:endParaRPr lang="en-US" sz="1100" dirty="0"/>
          </a:p>
        </p:txBody>
      </p:sp>
      <p:sp>
        <p:nvSpPr>
          <p:cNvPr id="18" name="Text 15"/>
          <p:cNvSpPr/>
          <p:nvPr/>
        </p:nvSpPr>
        <p:spPr>
          <a:xfrm>
            <a:off x="3291840" y="3493008"/>
            <a:ext cx="2560320" cy="1097280"/>
          </a:xfrm>
          <a:prstGeom prst="rect">
            <a:avLst/>
          </a:prstGeom>
          <a:noFill/>
          <a:ln/>
        </p:spPr>
        <p:txBody>
          <a:bodyPr wrap="square" rtlCol="0" anchor="ctr"/>
          <a:lstStyle/>
          <a:p>
            <a:pPr algn="ctr" indent="0" marL="0">
              <a:lnSpc>
                <a:spcPct val="130000"/>
              </a:lnSpc>
              <a:buNone/>
            </a:pPr>
            <a:r>
              <a:rPr lang="en-US" sz="1100" dirty="0">
                <a:solidFill>
                  <a:srgbClr val="7A9ACC"/>
                </a:solidFill>
                <a:latin typeface="Calibri" pitchFamily="34" charset="0"/>
                <a:ea typeface="Calibri" pitchFamily="34" charset="-122"/>
                <a:cs typeface="Calibri" pitchFamily="34" charset="-120"/>
              </a:rPr>
              <a:t>Use AI tools for real tasks. Prompt engineering, workflow automation, subject-specific AI, real project work.</a:t>
            </a:r>
            <a:endParaRPr lang="en-US" sz="1100" dirty="0"/>
          </a:p>
        </p:txBody>
      </p:sp>
      <p:sp>
        <p:nvSpPr>
          <p:cNvPr id="19" name="Shape 16"/>
          <p:cNvSpPr/>
          <p:nvPr/>
        </p:nvSpPr>
        <p:spPr>
          <a:xfrm>
            <a:off x="6080760" y="1417320"/>
            <a:ext cx="2743200" cy="3337560"/>
          </a:xfrm>
          <a:prstGeom prst="roundRect">
            <a:avLst>
              <a:gd name="adj" fmla="val 3333"/>
            </a:avLst>
          </a:prstGeom>
          <a:solidFill>
            <a:srgbClr val="5C3D00">
              <a:alpha val="25000"/>
            </a:srgbClr>
          </a:solidFill>
          <a:ln w="12700">
            <a:solidFill>
              <a:srgbClr val="F5B642">
                <a:alpha val="50000"/>
              </a:srgbClr>
            </a:solidFill>
            <a:prstDash val="solid"/>
          </a:ln>
          <a:effectLst>
            <a:outerShdw sx="100000" sy="100000" kx="0" ky="0" algn="bl" rotWithShape="0" blurRad="101600" dist="38100" dir="2700000">
              <a:srgbClr val="000000">
                <a:alpha val="30000"/>
              </a:srgbClr>
            </a:outerShdw>
          </a:effectLst>
        </p:spPr>
      </p:sp>
      <p:sp>
        <p:nvSpPr>
          <p:cNvPr id="20" name="Shape 17"/>
          <p:cNvSpPr/>
          <p:nvPr/>
        </p:nvSpPr>
        <p:spPr>
          <a:xfrm>
            <a:off x="7086600" y="1508760"/>
            <a:ext cx="713232" cy="713232"/>
          </a:xfrm>
          <a:prstGeom prst="ellipse">
            <a:avLst/>
          </a:prstGeom>
          <a:solidFill>
            <a:srgbClr val="F5B642"/>
          </a:solidFill>
          <a:ln w="12700">
            <a:solidFill>
              <a:srgbClr val="F5B642"/>
            </a:solidFill>
            <a:prstDash val="solid"/>
          </a:ln>
        </p:spPr>
      </p:sp>
      <p:sp>
        <p:nvSpPr>
          <p:cNvPr id="21" name="Text 18"/>
          <p:cNvSpPr/>
          <p:nvPr/>
        </p:nvSpPr>
        <p:spPr>
          <a:xfrm>
            <a:off x="7086600" y="1508760"/>
            <a:ext cx="713232" cy="713232"/>
          </a:xfrm>
          <a:prstGeom prst="rect">
            <a:avLst/>
          </a:prstGeom>
          <a:noFill/>
          <a:ln/>
        </p:spPr>
        <p:txBody>
          <a:bodyPr wrap="square" rtlCol="0" anchor="ctr"/>
          <a:lstStyle/>
          <a:p>
            <a:pPr algn="ctr" indent="0" marL="0">
              <a:buNone/>
            </a:pPr>
            <a:r>
              <a:rPr lang="en-US" sz="2200" b="1" dirty="0">
                <a:solidFill>
                  <a:srgbClr val="060C18"/>
                </a:solidFill>
                <a:latin typeface="Calibri" pitchFamily="34" charset="0"/>
                <a:ea typeface="Calibri" pitchFamily="34" charset="-122"/>
                <a:cs typeface="Calibri" pitchFamily="34" charset="-120"/>
              </a:rPr>
              <a:t>3</a:t>
            </a:r>
            <a:endParaRPr lang="en-US" sz="2200" dirty="0"/>
          </a:p>
        </p:txBody>
      </p:sp>
      <p:sp>
        <p:nvSpPr>
          <p:cNvPr id="22" name="Text 19"/>
          <p:cNvSpPr/>
          <p:nvPr/>
        </p:nvSpPr>
        <p:spPr>
          <a:xfrm>
            <a:off x="6172200" y="2331720"/>
            <a:ext cx="2560320" cy="274320"/>
          </a:xfrm>
          <a:prstGeom prst="rect">
            <a:avLst/>
          </a:prstGeom>
          <a:noFill/>
          <a:ln/>
        </p:spPr>
        <p:txBody>
          <a:bodyPr wrap="square" rtlCol="0" anchor="ctr"/>
          <a:lstStyle/>
          <a:p>
            <a:pPr algn="ctr" indent="0" marL="0">
              <a:buNone/>
            </a:pPr>
            <a:r>
              <a:rPr lang="en-US" sz="1000" b="1" spc="200" kern="0" dirty="0">
                <a:solidFill>
                  <a:srgbClr val="F5B642"/>
                </a:solidFill>
                <a:latin typeface="Calibri" pitchFamily="34" charset="0"/>
                <a:ea typeface="Calibri" pitchFamily="34" charset="-122"/>
                <a:cs typeface="Calibri" pitchFamily="34" charset="-120"/>
              </a:rPr>
              <a:t>Phase 3</a:t>
            </a:r>
            <a:endParaRPr lang="en-US" sz="1000" dirty="0"/>
          </a:p>
        </p:txBody>
      </p:sp>
      <p:sp>
        <p:nvSpPr>
          <p:cNvPr id="23" name="Text 20"/>
          <p:cNvSpPr/>
          <p:nvPr/>
        </p:nvSpPr>
        <p:spPr>
          <a:xfrm>
            <a:off x="6172200" y="2606040"/>
            <a:ext cx="2560320" cy="411480"/>
          </a:xfrm>
          <a:prstGeom prst="rect">
            <a:avLst/>
          </a:prstGeom>
          <a:noFill/>
          <a:ln/>
        </p:spPr>
        <p:txBody>
          <a:bodyPr wrap="square" rtlCol="0" anchor="ctr"/>
          <a:lstStyle/>
          <a:p>
            <a:pPr algn="ctr" indent="0" marL="0">
              <a:buNone/>
            </a:pPr>
            <a:r>
              <a:rPr lang="en-US" sz="1700" b="1" dirty="0">
                <a:solidFill>
                  <a:srgbClr val="EEF4FF"/>
                </a:solidFill>
                <a:latin typeface="Calibri" pitchFamily="34" charset="0"/>
                <a:ea typeface="Calibri" pitchFamily="34" charset="-122"/>
                <a:cs typeface="Calibri" pitchFamily="34" charset="-120"/>
              </a:rPr>
              <a:t>AI Identity</a:t>
            </a:r>
            <a:endParaRPr lang="en-US" sz="1700" dirty="0"/>
          </a:p>
        </p:txBody>
      </p:sp>
      <p:sp>
        <p:nvSpPr>
          <p:cNvPr id="24" name="Text 21"/>
          <p:cNvSpPr/>
          <p:nvPr/>
        </p:nvSpPr>
        <p:spPr>
          <a:xfrm>
            <a:off x="6172200" y="3017520"/>
            <a:ext cx="2560320" cy="411480"/>
          </a:xfrm>
          <a:prstGeom prst="rect">
            <a:avLst/>
          </a:prstGeom>
          <a:noFill/>
          <a:ln/>
        </p:spPr>
        <p:txBody>
          <a:bodyPr wrap="square" rtlCol="0" anchor="ctr"/>
          <a:lstStyle/>
          <a:p>
            <a:pPr algn="ctr" indent="0" marL="0">
              <a:buNone/>
            </a:pPr>
            <a:r>
              <a:rPr lang="en-US" sz="1100" i="1" dirty="0">
                <a:solidFill>
                  <a:srgbClr val="F5B642"/>
                </a:solidFill>
                <a:latin typeface="Calibri" pitchFamily="34" charset="0"/>
                <a:ea typeface="Calibri" pitchFamily="34" charset="-122"/>
                <a:cs typeface="Calibri" pitchFamily="34" charset="-120"/>
              </a:rPr>
              <a:t>Weeks 7–8</a:t>
            </a:r>
            <a:endParaRPr lang="en-US" sz="1100" dirty="0"/>
          </a:p>
          <a:p>
            <a:pPr algn="ctr" indent="0" marL="0">
              <a:buNone/>
            </a:pPr>
            <a:r>
              <a:rPr lang="en-US" sz="1100" i="1" dirty="0">
                <a:solidFill>
                  <a:srgbClr val="F5B642"/>
                </a:solidFill>
                <a:latin typeface="Calibri" pitchFamily="34" charset="0"/>
                <a:ea typeface="Calibri" pitchFamily="34" charset="-122"/>
                <a:cs typeface="Calibri" pitchFamily="34" charset="-120"/>
              </a:rPr>
              <a:t>8 Sessions</a:t>
            </a:r>
            <a:endParaRPr lang="en-US" sz="1100" dirty="0"/>
          </a:p>
        </p:txBody>
      </p:sp>
      <p:sp>
        <p:nvSpPr>
          <p:cNvPr id="25" name="Text 22"/>
          <p:cNvSpPr/>
          <p:nvPr/>
        </p:nvSpPr>
        <p:spPr>
          <a:xfrm>
            <a:off x="6172200" y="3493008"/>
            <a:ext cx="2560320" cy="1097280"/>
          </a:xfrm>
          <a:prstGeom prst="rect">
            <a:avLst/>
          </a:prstGeom>
          <a:noFill/>
          <a:ln/>
        </p:spPr>
        <p:txBody>
          <a:bodyPr wrap="square" rtlCol="0" anchor="ctr"/>
          <a:lstStyle/>
          <a:p>
            <a:pPr algn="ctr" indent="0" marL="0">
              <a:lnSpc>
                <a:spcPct val="130000"/>
              </a:lnSpc>
              <a:buNone/>
            </a:pPr>
            <a:r>
              <a:rPr lang="en-US" sz="1100" dirty="0">
                <a:solidFill>
                  <a:srgbClr val="7A9ACC"/>
                </a:solidFill>
                <a:latin typeface="Calibri" pitchFamily="34" charset="0"/>
                <a:ea typeface="Calibri" pitchFamily="34" charset="-122"/>
                <a:cs typeface="Calibri" pitchFamily="34" charset="-120"/>
              </a:rPr>
              <a:t>Ethics, risks, responsible use, your AI contribution statement. Graduate with a credential that proves it.</a:t>
            </a:r>
            <a:endParaRPr lang="en-US" sz="1100" dirty="0"/>
          </a:p>
        </p:txBody>
      </p:sp>
      <p:sp>
        <p:nvSpPr>
          <p:cNvPr id="26" name="Text 23"/>
          <p:cNvSpPr/>
          <p:nvPr/>
        </p:nvSpPr>
        <p:spPr>
          <a:xfrm>
            <a:off x="457200" y="4828032"/>
            <a:ext cx="8229600" cy="228600"/>
          </a:xfrm>
          <a:prstGeom prst="rect">
            <a:avLst/>
          </a:prstGeom>
          <a:noFill/>
          <a:ln/>
        </p:spPr>
        <p:txBody>
          <a:bodyPr wrap="square" rtlCol="0" anchor="ctr"/>
          <a:lstStyle/>
          <a:p>
            <a:pPr algn="ctr" indent="0" marL="0">
              <a:buNone/>
            </a:pPr>
            <a:r>
              <a:rPr lang="en-US" sz="1000" dirty="0">
                <a:solidFill>
                  <a:srgbClr val="3A5070"/>
                </a:solidFill>
                <a:latin typeface="Calibri" pitchFamily="34" charset="0"/>
                <a:ea typeface="Calibri" pitchFamily="34" charset="-122"/>
                <a:cs typeface="Calibri" pitchFamily="34" charset="-120"/>
              </a:rPr>
              <a:t>24 sessions · 8 weeks · 3 patent-pending proprietary frameworks</a:t>
            </a:r>
            <a:endParaRPr lang="en-US" sz="1000" dirty="0"/>
          </a:p>
        </p:txBody>
      </p:sp>
      <p:sp>
        <p:nvSpPr>
          <p:cNvPr id="27" name="Text 24"/>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400" b="1" dirty="0">
                <a:solidFill>
                  <a:srgbClr val="EEF4FF"/>
                </a:solidFill>
                <a:latin typeface="Calibri" pitchFamily="34" charset="0"/>
                <a:ea typeface="Calibri" pitchFamily="34" charset="-122"/>
                <a:cs typeface="Calibri" pitchFamily="34" charset="-120"/>
              </a:rPr>
              <a:t>What every student earns.</a:t>
            </a:r>
            <a:endParaRPr lang="en-US" sz="2400" dirty="0"/>
          </a:p>
        </p:txBody>
      </p:sp>
      <p:sp>
        <p:nvSpPr>
          <p:cNvPr id="4" name="Text 1"/>
          <p:cNvSpPr/>
          <p:nvPr/>
        </p:nvSpPr>
        <p:spPr>
          <a:xfrm>
            <a:off x="457200" y="1005840"/>
            <a:ext cx="8229600" cy="320040"/>
          </a:xfrm>
          <a:prstGeom prst="rect">
            <a:avLst/>
          </a:prstGeom>
          <a:noFill/>
          <a:ln/>
        </p:spPr>
        <p:txBody>
          <a:bodyPr wrap="square" rtlCol="0" anchor="ctr"/>
          <a:lstStyle/>
          <a:p>
            <a:pPr indent="0" marL="0">
              <a:buNone/>
            </a:pPr>
            <a:r>
              <a:rPr lang="en-US" sz="1400" i="1" dirty="0">
                <a:solidFill>
                  <a:srgbClr val="00C4F0"/>
                </a:solidFill>
                <a:latin typeface="Calibri" pitchFamily="34" charset="0"/>
                <a:ea typeface="Calibri" pitchFamily="34" charset="-122"/>
                <a:cs typeface="Calibri" pitchFamily="34" charset="-120"/>
              </a:rPr>
              <a:t>Not one certificate. Four credentials.</a:t>
            </a:r>
            <a:endParaRPr lang="en-US" sz="1400" dirty="0"/>
          </a:p>
        </p:txBody>
      </p:sp>
      <p:sp>
        <p:nvSpPr>
          <p:cNvPr id="5" name="Shape 2"/>
          <p:cNvSpPr/>
          <p:nvPr/>
        </p:nvSpPr>
        <p:spPr>
          <a:xfrm>
            <a:off x="320040" y="1426464"/>
            <a:ext cx="8503920" cy="786384"/>
          </a:xfrm>
          <a:prstGeom prst="roundRect">
            <a:avLst>
              <a:gd name="adj" fmla="val 9302"/>
            </a:avLst>
          </a:prstGeom>
          <a:solidFill>
            <a:srgbClr val="1554F0">
              <a:alpha val="20000"/>
            </a:srgbClr>
          </a:solidFill>
          <a:ln w="12700">
            <a:solidFill>
              <a:srgbClr val="00C4F0">
                <a:alpha val="40000"/>
              </a:srgbClr>
            </a:solidFill>
            <a:prstDash val="solid"/>
          </a:ln>
          <a:effectLst>
            <a:outerShdw sx="100000" sy="100000" kx="0" ky="0" algn="bl" rotWithShape="0" blurRad="63500" dist="25400" dir="2700000">
              <a:srgbClr val="000000">
                <a:alpha val="20000"/>
              </a:srgbClr>
            </a:outerShdw>
          </a:effectLst>
        </p:spPr>
      </p:sp>
      <p:sp>
        <p:nvSpPr>
          <p:cNvPr id="6" name="Text 3"/>
          <p:cNvSpPr/>
          <p:nvPr/>
        </p:nvSpPr>
        <p:spPr>
          <a:xfrm>
            <a:off x="457200" y="1426464"/>
            <a:ext cx="411480" cy="786384"/>
          </a:xfrm>
          <a:prstGeom prst="rect">
            <a:avLst/>
          </a:prstGeom>
          <a:noFill/>
          <a:ln/>
        </p:spPr>
        <p:txBody>
          <a:bodyPr wrap="square" rtlCol="0" anchor="ctr"/>
          <a:lstStyle/>
          <a:p>
            <a:pPr algn="ctr" indent="0" marL="0">
              <a:buNone/>
            </a:pPr>
            <a:r>
              <a:rPr lang="en-US" sz="1100" b="1" dirty="0">
                <a:solidFill>
                  <a:srgbClr val="00C4F0"/>
                </a:solidFill>
                <a:latin typeface="Calibri" pitchFamily="34" charset="0"/>
                <a:ea typeface="Calibri" pitchFamily="34" charset="-122"/>
                <a:cs typeface="Calibri" pitchFamily="34" charset="-120"/>
              </a:rPr>
              <a:t>01</a:t>
            </a:r>
            <a:endParaRPr lang="en-US" sz="1100" dirty="0"/>
          </a:p>
        </p:txBody>
      </p:sp>
      <p:sp>
        <p:nvSpPr>
          <p:cNvPr id="7" name="Text 4"/>
          <p:cNvSpPr/>
          <p:nvPr/>
        </p:nvSpPr>
        <p:spPr>
          <a:xfrm>
            <a:off x="896112" y="1426464"/>
            <a:ext cx="502920" cy="786384"/>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8" name="Text 5"/>
          <p:cNvSpPr/>
          <p:nvPr/>
        </p:nvSpPr>
        <p:spPr>
          <a:xfrm>
            <a:off x="1463040" y="1481328"/>
            <a:ext cx="2560320" cy="347472"/>
          </a:xfrm>
          <a:prstGeom prst="rect">
            <a:avLst/>
          </a:prstGeom>
          <a:noFill/>
          <a:ln/>
        </p:spPr>
        <p:txBody>
          <a:bodyPr wrap="square"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Course Completion Certificate</a:t>
            </a:r>
            <a:endParaRPr lang="en-US" sz="1300" dirty="0"/>
          </a:p>
        </p:txBody>
      </p:sp>
      <p:sp>
        <p:nvSpPr>
          <p:cNvPr id="9" name="Text 6"/>
          <p:cNvSpPr/>
          <p:nvPr/>
        </p:nvSpPr>
        <p:spPr>
          <a:xfrm>
            <a:off x="4160520" y="1499616"/>
            <a:ext cx="4480560" cy="640080"/>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Verified, project-backed, unique ID. Shareable on LinkedIn and valid for every college application and job interview.</a:t>
            </a:r>
            <a:endParaRPr lang="en-US" sz="1100" dirty="0"/>
          </a:p>
        </p:txBody>
      </p:sp>
      <p:sp>
        <p:nvSpPr>
          <p:cNvPr id="10" name="Shape 7"/>
          <p:cNvSpPr/>
          <p:nvPr/>
        </p:nvSpPr>
        <p:spPr>
          <a:xfrm>
            <a:off x="320040" y="2286000"/>
            <a:ext cx="8503920" cy="786384"/>
          </a:xfrm>
          <a:prstGeom prst="roundRect">
            <a:avLst>
              <a:gd name="adj" fmla="val 9302"/>
            </a:avLst>
          </a:prstGeom>
          <a:solidFill>
            <a:srgbClr val="0D5C1A">
              <a:alpha val="20000"/>
            </a:srgbClr>
          </a:solidFill>
          <a:ln w="12700">
            <a:solidFill>
              <a:srgbClr val="6AFB5A">
                <a:alpha val="40000"/>
              </a:srgbClr>
            </a:solidFill>
            <a:prstDash val="solid"/>
          </a:ln>
          <a:effectLst>
            <a:outerShdw sx="100000" sy="100000" kx="0" ky="0" algn="bl" rotWithShape="0" blurRad="63500" dist="25400" dir="2700000">
              <a:srgbClr val="000000">
                <a:alpha val="20000"/>
              </a:srgbClr>
            </a:outerShdw>
          </a:effectLst>
        </p:spPr>
      </p:sp>
      <p:sp>
        <p:nvSpPr>
          <p:cNvPr id="11" name="Text 8"/>
          <p:cNvSpPr/>
          <p:nvPr/>
        </p:nvSpPr>
        <p:spPr>
          <a:xfrm>
            <a:off x="457200" y="2286000"/>
            <a:ext cx="411480" cy="786384"/>
          </a:xfrm>
          <a:prstGeom prst="rect">
            <a:avLst/>
          </a:prstGeom>
          <a:noFill/>
          <a:ln/>
        </p:spPr>
        <p:txBody>
          <a:bodyPr wrap="square" rtlCol="0" anchor="ctr"/>
          <a:lstStyle/>
          <a:p>
            <a:pPr algn="ctr" indent="0" marL="0">
              <a:buNone/>
            </a:pPr>
            <a:r>
              <a:rPr lang="en-US" sz="1100" b="1" dirty="0">
                <a:solidFill>
                  <a:srgbClr val="6AFB5A"/>
                </a:solidFill>
                <a:latin typeface="Calibri" pitchFamily="34" charset="0"/>
                <a:ea typeface="Calibri" pitchFamily="34" charset="-122"/>
                <a:cs typeface="Calibri" pitchFamily="34" charset="-120"/>
              </a:rPr>
              <a:t>02</a:t>
            </a:r>
            <a:endParaRPr lang="en-US" sz="1100" dirty="0"/>
          </a:p>
        </p:txBody>
      </p:sp>
      <p:sp>
        <p:nvSpPr>
          <p:cNvPr id="12" name="Text 9"/>
          <p:cNvSpPr/>
          <p:nvPr/>
        </p:nvSpPr>
        <p:spPr>
          <a:xfrm>
            <a:off x="896112" y="2286000"/>
            <a:ext cx="502920" cy="786384"/>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3" name="Text 10"/>
          <p:cNvSpPr/>
          <p:nvPr/>
        </p:nvSpPr>
        <p:spPr>
          <a:xfrm>
            <a:off x="1463040" y="2340864"/>
            <a:ext cx="2560320" cy="347472"/>
          </a:xfrm>
          <a:prstGeom prst="rect">
            <a:avLst/>
          </a:prstGeom>
          <a:noFill/>
          <a:ln/>
        </p:spPr>
        <p:txBody>
          <a:bodyPr wrap="square"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Internship Certificate</a:t>
            </a:r>
            <a:endParaRPr lang="en-US" sz="1300" dirty="0"/>
          </a:p>
        </p:txBody>
      </p:sp>
      <p:sp>
        <p:nvSpPr>
          <p:cNvPr id="14" name="Text 11"/>
          <p:cNvSpPr/>
          <p:nvPr/>
        </p:nvSpPr>
        <p:spPr>
          <a:xfrm>
            <a:off x="4160520" y="2359152"/>
            <a:ext cx="4480560" cy="640080"/>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Real-world project with an actual partner organisation. Proves applied AI skill — not just classroom knowledge.</a:t>
            </a:r>
            <a:endParaRPr lang="en-US" sz="1100" dirty="0"/>
          </a:p>
        </p:txBody>
      </p:sp>
      <p:sp>
        <p:nvSpPr>
          <p:cNvPr id="15" name="Shape 12"/>
          <p:cNvSpPr/>
          <p:nvPr/>
        </p:nvSpPr>
        <p:spPr>
          <a:xfrm>
            <a:off x="320040" y="3145536"/>
            <a:ext cx="8503920" cy="786384"/>
          </a:xfrm>
          <a:prstGeom prst="roundRect">
            <a:avLst>
              <a:gd name="adj" fmla="val 9302"/>
            </a:avLst>
          </a:prstGeom>
          <a:solidFill>
            <a:srgbClr val="5C3D00">
              <a:alpha val="20000"/>
            </a:srgbClr>
          </a:solidFill>
          <a:ln w="12700">
            <a:solidFill>
              <a:srgbClr val="F5B642">
                <a:alpha val="40000"/>
              </a:srgbClr>
            </a:solidFill>
            <a:prstDash val="solid"/>
          </a:ln>
          <a:effectLst>
            <a:outerShdw sx="100000" sy="100000" kx="0" ky="0" algn="bl" rotWithShape="0" blurRad="63500" dist="25400" dir="2700000">
              <a:srgbClr val="000000">
                <a:alpha val="20000"/>
              </a:srgbClr>
            </a:outerShdw>
          </a:effectLst>
        </p:spPr>
      </p:sp>
      <p:sp>
        <p:nvSpPr>
          <p:cNvPr id="16" name="Text 13"/>
          <p:cNvSpPr/>
          <p:nvPr/>
        </p:nvSpPr>
        <p:spPr>
          <a:xfrm>
            <a:off x="457200" y="3145536"/>
            <a:ext cx="411480" cy="786384"/>
          </a:xfrm>
          <a:prstGeom prst="rect">
            <a:avLst/>
          </a:prstGeom>
          <a:noFill/>
          <a:ln/>
        </p:spPr>
        <p:txBody>
          <a:bodyPr wrap="square" rtlCol="0" anchor="ctr"/>
          <a:lstStyle/>
          <a:p>
            <a:pPr algn="ctr" indent="0" marL="0">
              <a:buNone/>
            </a:pPr>
            <a:r>
              <a:rPr lang="en-US" sz="1100" b="1" dirty="0">
                <a:solidFill>
                  <a:srgbClr val="F5B642"/>
                </a:solidFill>
                <a:latin typeface="Calibri" pitchFamily="34" charset="0"/>
                <a:ea typeface="Calibri" pitchFamily="34" charset="-122"/>
                <a:cs typeface="Calibri" pitchFamily="34" charset="-120"/>
              </a:rPr>
              <a:t>03</a:t>
            </a:r>
            <a:endParaRPr lang="en-US" sz="1100" dirty="0"/>
          </a:p>
        </p:txBody>
      </p:sp>
      <p:sp>
        <p:nvSpPr>
          <p:cNvPr id="17" name="Text 14"/>
          <p:cNvSpPr/>
          <p:nvPr/>
        </p:nvSpPr>
        <p:spPr>
          <a:xfrm>
            <a:off x="896112" y="3145536"/>
            <a:ext cx="502920" cy="786384"/>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8" name="Text 15"/>
          <p:cNvSpPr/>
          <p:nvPr/>
        </p:nvSpPr>
        <p:spPr>
          <a:xfrm>
            <a:off x="1463040" y="3200400"/>
            <a:ext cx="2560320" cy="347472"/>
          </a:xfrm>
          <a:prstGeom prst="rect">
            <a:avLst/>
          </a:prstGeom>
          <a:noFill/>
          <a:ln/>
        </p:spPr>
        <p:txBody>
          <a:bodyPr wrap="square"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Outstanding Performance Award</a:t>
            </a:r>
            <a:endParaRPr lang="en-US" sz="1300" dirty="0"/>
          </a:p>
        </p:txBody>
      </p:sp>
      <p:sp>
        <p:nvSpPr>
          <p:cNvPr id="19" name="Text 16"/>
          <p:cNvSpPr/>
          <p:nvPr/>
        </p:nvSpPr>
        <p:spPr>
          <a:xfrm>
            <a:off x="4160520" y="3218688"/>
            <a:ext cx="4480560" cy="640080"/>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Issued to top 10% only. Rare. A signal to any college or employer that this person doesn't just learn — they excel.</a:t>
            </a:r>
            <a:endParaRPr lang="en-US" sz="1100" dirty="0"/>
          </a:p>
        </p:txBody>
      </p:sp>
      <p:sp>
        <p:nvSpPr>
          <p:cNvPr id="20" name="Shape 17"/>
          <p:cNvSpPr/>
          <p:nvPr/>
        </p:nvSpPr>
        <p:spPr>
          <a:xfrm>
            <a:off x="320040" y="4005072"/>
            <a:ext cx="8503920" cy="786384"/>
          </a:xfrm>
          <a:prstGeom prst="roundRect">
            <a:avLst>
              <a:gd name="adj" fmla="val 9302"/>
            </a:avLst>
          </a:prstGeom>
          <a:solidFill>
            <a:srgbClr val="3A0A12">
              <a:alpha val="20000"/>
            </a:srgbClr>
          </a:solidFill>
          <a:ln w="12700">
            <a:solidFill>
              <a:srgbClr val="FF3B5C">
                <a:alpha val="40000"/>
              </a:srgbClr>
            </a:solidFill>
            <a:prstDash val="solid"/>
          </a:ln>
          <a:effectLst>
            <a:outerShdw sx="100000" sy="100000" kx="0" ky="0" algn="bl" rotWithShape="0" blurRad="63500" dist="25400" dir="2700000">
              <a:srgbClr val="000000">
                <a:alpha val="20000"/>
              </a:srgbClr>
            </a:outerShdw>
          </a:effectLst>
        </p:spPr>
      </p:sp>
      <p:sp>
        <p:nvSpPr>
          <p:cNvPr id="21" name="Text 18"/>
          <p:cNvSpPr/>
          <p:nvPr/>
        </p:nvSpPr>
        <p:spPr>
          <a:xfrm>
            <a:off x="457200" y="4005072"/>
            <a:ext cx="411480" cy="786384"/>
          </a:xfrm>
          <a:prstGeom prst="rect">
            <a:avLst/>
          </a:prstGeom>
          <a:noFill/>
          <a:ln/>
        </p:spPr>
        <p:txBody>
          <a:bodyPr wrap="square" rtlCol="0" anchor="ctr"/>
          <a:lstStyle/>
          <a:p>
            <a:pPr algn="ctr" indent="0" marL="0">
              <a:buNone/>
            </a:pPr>
            <a:r>
              <a:rPr lang="en-US" sz="1100" b="1" dirty="0">
                <a:solidFill>
                  <a:srgbClr val="FF3B5C"/>
                </a:solidFill>
                <a:latin typeface="Calibri" pitchFamily="34" charset="0"/>
                <a:ea typeface="Calibri" pitchFamily="34" charset="-122"/>
                <a:cs typeface="Calibri" pitchFamily="34" charset="-120"/>
              </a:rPr>
              <a:t>04</a:t>
            </a:r>
            <a:endParaRPr lang="en-US" sz="1100" dirty="0"/>
          </a:p>
        </p:txBody>
      </p:sp>
      <p:sp>
        <p:nvSpPr>
          <p:cNvPr id="22" name="Text 19"/>
          <p:cNvSpPr/>
          <p:nvPr/>
        </p:nvSpPr>
        <p:spPr>
          <a:xfrm>
            <a:off x="896112" y="4005072"/>
            <a:ext cx="502920" cy="786384"/>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3" name="Text 20"/>
          <p:cNvSpPr/>
          <p:nvPr/>
        </p:nvSpPr>
        <p:spPr>
          <a:xfrm>
            <a:off x="1463040" y="4059936"/>
            <a:ext cx="2560320" cy="347472"/>
          </a:xfrm>
          <a:prstGeom prst="rect">
            <a:avLst/>
          </a:prstGeom>
          <a:noFill/>
          <a:ln/>
        </p:spPr>
        <p:txBody>
          <a:bodyPr wrap="square"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Letter of Recommendation</a:t>
            </a:r>
            <a:endParaRPr lang="en-US" sz="1300" dirty="0"/>
          </a:p>
        </p:txBody>
      </p:sp>
      <p:sp>
        <p:nvSpPr>
          <p:cNvPr id="24" name="Text 21"/>
          <p:cNvSpPr/>
          <p:nvPr/>
        </p:nvSpPr>
        <p:spPr>
          <a:xfrm>
            <a:off x="4160520" y="4078224"/>
            <a:ext cx="4480560" cy="640080"/>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Personalised from UpMentor leadership. Mentions the student's specific project, AI skills, and thinking. Admission officers notice.</a:t>
            </a:r>
            <a:endParaRPr lang="en-US" sz="1100" dirty="0"/>
          </a:p>
        </p:txBody>
      </p:sp>
      <p:sp>
        <p:nvSpPr>
          <p:cNvPr id="25" name="Text 22"/>
          <p:cNvSpPr/>
          <p:nvPr/>
        </p:nvSpPr>
        <p:spPr>
          <a:xfrm>
            <a:off x="457200" y="4828032"/>
            <a:ext cx="8229600" cy="228600"/>
          </a:xfrm>
          <a:prstGeom prst="rect">
            <a:avLst/>
          </a:prstGeom>
          <a:noFill/>
          <a:ln/>
        </p:spPr>
        <p:txBody>
          <a:bodyPr wrap="square" rtlCol="0" anchor="ctr"/>
          <a:lstStyle/>
          <a:p>
            <a:pPr algn="ctr" indent="0" marL="0">
              <a:buNone/>
            </a:pPr>
            <a:r>
              <a:rPr lang="en-US" sz="1100" i="1" dirty="0">
                <a:solidFill>
                  <a:srgbClr val="7A9ACC"/>
                </a:solidFill>
                <a:latin typeface="Calibri" pitchFamily="34" charset="0"/>
                <a:ea typeface="Calibri" pitchFamily="34" charset="-122"/>
                <a:cs typeface="Calibri" pitchFamily="34" charset="-120"/>
              </a:rPr>
              <a:t>No other school program in Odisha offers all four credentials from one structured program.</a:t>
            </a:r>
            <a:endParaRPr lang="en-US" sz="1100" dirty="0"/>
          </a:p>
        </p:txBody>
      </p:sp>
      <p:sp>
        <p:nvSpPr>
          <p:cNvPr id="26" name="Text 23"/>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400" b="1" dirty="0">
                <a:solidFill>
                  <a:srgbClr val="EEF4FF"/>
                </a:solidFill>
                <a:latin typeface="Calibri" pitchFamily="34" charset="0"/>
                <a:ea typeface="Calibri" pitchFamily="34" charset="-122"/>
                <a:cs typeface="Calibri" pitchFamily="34" charset="-120"/>
              </a:rPr>
              <a:t>What your school gets.</a:t>
            </a:r>
            <a:endParaRPr lang="en-US" sz="2400" dirty="0"/>
          </a:p>
        </p:txBody>
      </p:sp>
      <p:sp>
        <p:nvSpPr>
          <p:cNvPr id="4" name="Shape 1"/>
          <p:cNvSpPr/>
          <p:nvPr/>
        </p:nvSpPr>
        <p:spPr>
          <a:xfrm>
            <a:off x="320040" y="1115568"/>
            <a:ext cx="4206240" cy="1207008"/>
          </a:xfrm>
          <a:prstGeom prst="roundRect">
            <a:avLst>
              <a:gd name="adj" fmla="val 6061"/>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5" name="Text 2"/>
          <p:cNvSpPr/>
          <p:nvPr/>
        </p:nvSpPr>
        <p:spPr>
          <a:xfrm>
            <a:off x="502920" y="1280160"/>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3"/>
          <p:cNvSpPr/>
          <p:nvPr/>
        </p:nvSpPr>
        <p:spPr>
          <a:xfrm>
            <a:off x="502920" y="1828800"/>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AI-Enabled School Badge</a:t>
            </a:r>
            <a:endParaRPr lang="en-US" sz="1300" dirty="0"/>
          </a:p>
        </p:txBody>
      </p:sp>
      <p:sp>
        <p:nvSpPr>
          <p:cNvPr id="7" name="Text 4"/>
          <p:cNvSpPr/>
          <p:nvPr/>
        </p:nvSpPr>
        <p:spPr>
          <a:xfrm>
            <a:off x="502920" y="2139696"/>
            <a:ext cx="3840480" cy="18288"/>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Official UpMentor partner status with branding, banners, and digital assets. Parents see it. It generates word-of-mouth.</a:t>
            </a:r>
            <a:endParaRPr lang="en-US" sz="1100" dirty="0"/>
          </a:p>
        </p:txBody>
      </p:sp>
      <p:sp>
        <p:nvSpPr>
          <p:cNvPr id="8" name="Shape 5"/>
          <p:cNvSpPr/>
          <p:nvPr/>
        </p:nvSpPr>
        <p:spPr>
          <a:xfrm>
            <a:off x="4754880" y="1115568"/>
            <a:ext cx="4206240" cy="1207008"/>
          </a:xfrm>
          <a:prstGeom prst="roundRect">
            <a:avLst>
              <a:gd name="adj" fmla="val 6061"/>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9" name="Text 6"/>
          <p:cNvSpPr/>
          <p:nvPr/>
        </p:nvSpPr>
        <p:spPr>
          <a:xfrm>
            <a:off x="4937760" y="1280160"/>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7"/>
          <p:cNvSpPr/>
          <p:nvPr/>
        </p:nvSpPr>
        <p:spPr>
          <a:xfrm>
            <a:off x="4937760" y="1828800"/>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Teacher AI Training</a:t>
            </a:r>
            <a:endParaRPr lang="en-US" sz="1300" dirty="0"/>
          </a:p>
        </p:txBody>
      </p:sp>
      <p:sp>
        <p:nvSpPr>
          <p:cNvPr id="11" name="Text 8"/>
          <p:cNvSpPr/>
          <p:nvPr/>
        </p:nvSpPr>
        <p:spPr>
          <a:xfrm>
            <a:off x="4937760" y="2139696"/>
            <a:ext cx="3840480" cy="18288"/>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Every faculty member trained. They become AI-literate educators — 2 years ahead of teachers in non-partner schools.</a:t>
            </a:r>
            <a:endParaRPr lang="en-US" sz="1100" dirty="0"/>
          </a:p>
        </p:txBody>
      </p:sp>
      <p:sp>
        <p:nvSpPr>
          <p:cNvPr id="12" name="Shape 9"/>
          <p:cNvSpPr/>
          <p:nvPr/>
        </p:nvSpPr>
        <p:spPr>
          <a:xfrm>
            <a:off x="320040" y="1115568"/>
            <a:ext cx="4206240" cy="1207008"/>
          </a:xfrm>
          <a:prstGeom prst="roundRect">
            <a:avLst>
              <a:gd name="adj" fmla="val 6061"/>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3" name="Text 10"/>
          <p:cNvSpPr/>
          <p:nvPr/>
        </p:nvSpPr>
        <p:spPr>
          <a:xfrm>
            <a:off x="502920" y="1280160"/>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1"/>
          <p:cNvSpPr/>
          <p:nvPr/>
        </p:nvSpPr>
        <p:spPr>
          <a:xfrm>
            <a:off x="502920" y="1828800"/>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Cohort Outcomes Report</a:t>
            </a:r>
            <a:endParaRPr lang="en-US" sz="1300" dirty="0"/>
          </a:p>
        </p:txBody>
      </p:sp>
      <p:sp>
        <p:nvSpPr>
          <p:cNvPr id="15" name="Text 12"/>
          <p:cNvSpPr/>
          <p:nvPr/>
        </p:nvSpPr>
        <p:spPr>
          <a:xfrm>
            <a:off x="502920" y="2139696"/>
            <a:ext cx="3840480" cy="18288"/>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After each program, you receive a full data report: completion rates, scores, placements, employer feedback. Hard proof of outcomes.</a:t>
            </a:r>
            <a:endParaRPr lang="en-US" sz="1100" dirty="0"/>
          </a:p>
        </p:txBody>
      </p:sp>
      <p:sp>
        <p:nvSpPr>
          <p:cNvPr id="16" name="Shape 13"/>
          <p:cNvSpPr/>
          <p:nvPr/>
        </p:nvSpPr>
        <p:spPr>
          <a:xfrm>
            <a:off x="4754880" y="2414016"/>
            <a:ext cx="4206240" cy="1207008"/>
          </a:xfrm>
          <a:prstGeom prst="roundRect">
            <a:avLst>
              <a:gd name="adj" fmla="val 6061"/>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17" name="Text 14"/>
          <p:cNvSpPr/>
          <p:nvPr/>
        </p:nvSpPr>
        <p:spPr>
          <a:xfrm>
            <a:off x="4937760" y="2578608"/>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8" name="Text 15"/>
          <p:cNvSpPr/>
          <p:nvPr/>
        </p:nvSpPr>
        <p:spPr>
          <a:xfrm>
            <a:off x="4937760" y="3127248"/>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Exclusive Territory Rights</a:t>
            </a:r>
            <a:endParaRPr lang="en-US" sz="1300" dirty="0"/>
          </a:p>
        </p:txBody>
      </p:sp>
      <p:sp>
        <p:nvSpPr>
          <p:cNvPr id="19" name="Text 16"/>
          <p:cNvSpPr/>
          <p:nvPr/>
        </p:nvSpPr>
        <p:spPr>
          <a:xfrm>
            <a:off x="4937760" y="3438144"/>
            <a:ext cx="3840480" cy="18288"/>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We partner with one school per locality. Your competitor school cannot access this program in your area. Ever.</a:t>
            </a:r>
            <a:endParaRPr lang="en-US" sz="1100" dirty="0"/>
          </a:p>
        </p:txBody>
      </p:sp>
      <p:sp>
        <p:nvSpPr>
          <p:cNvPr id="20" name="Shape 17"/>
          <p:cNvSpPr/>
          <p:nvPr/>
        </p:nvSpPr>
        <p:spPr>
          <a:xfrm>
            <a:off x="320040" y="2414016"/>
            <a:ext cx="4206240" cy="1207008"/>
          </a:xfrm>
          <a:prstGeom prst="roundRect">
            <a:avLst>
              <a:gd name="adj" fmla="val 6061"/>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21" name="Text 18"/>
          <p:cNvSpPr/>
          <p:nvPr/>
        </p:nvSpPr>
        <p:spPr>
          <a:xfrm>
            <a:off x="502920" y="2578608"/>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2" name="Text 19"/>
          <p:cNvSpPr/>
          <p:nvPr/>
        </p:nvSpPr>
        <p:spPr>
          <a:xfrm>
            <a:off x="502920" y="3127248"/>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Annual AI Competition</a:t>
            </a:r>
            <a:endParaRPr lang="en-US" sz="1300" dirty="0"/>
          </a:p>
        </p:txBody>
      </p:sp>
      <p:sp>
        <p:nvSpPr>
          <p:cNvPr id="23" name="Text 20"/>
          <p:cNvSpPr/>
          <p:nvPr/>
        </p:nvSpPr>
        <p:spPr>
          <a:xfrm>
            <a:off x="502920" y="3438144"/>
            <a:ext cx="3840480" cy="18288"/>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School-hosted AI showcase. Students present projects. Community pride. Local press. Your school on the map.</a:t>
            </a:r>
            <a:endParaRPr lang="en-US" sz="1100" dirty="0"/>
          </a:p>
        </p:txBody>
      </p:sp>
      <p:sp>
        <p:nvSpPr>
          <p:cNvPr id="24" name="Shape 21"/>
          <p:cNvSpPr/>
          <p:nvPr/>
        </p:nvSpPr>
        <p:spPr>
          <a:xfrm>
            <a:off x="4754880" y="2414016"/>
            <a:ext cx="4206240" cy="1207008"/>
          </a:xfrm>
          <a:prstGeom prst="roundRect">
            <a:avLst>
              <a:gd name="adj" fmla="val 6061"/>
            </a:avLst>
          </a:prstGeom>
          <a:solidFill>
            <a:srgbClr val="0E1C38"/>
          </a:solidFill>
          <a:ln w="12700">
            <a:solidFill>
              <a:srgbClr val="1A2D52"/>
            </a:solidFill>
            <a:prstDash val="solid"/>
          </a:ln>
          <a:effectLst>
            <a:outerShdw sx="100000" sy="100000" kx="0" ky="0" algn="bl" rotWithShape="0" blurRad="76200" dist="25400" dir="2700000">
              <a:srgbClr val="000000">
                <a:alpha val="20000"/>
              </a:srgbClr>
            </a:outerShdw>
          </a:effectLst>
        </p:spPr>
      </p:sp>
      <p:sp>
        <p:nvSpPr>
          <p:cNvPr id="25" name="Text 22"/>
          <p:cNvSpPr/>
          <p:nvPr/>
        </p:nvSpPr>
        <p:spPr>
          <a:xfrm>
            <a:off x="4937760" y="2578608"/>
            <a:ext cx="54864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6" name="Text 23"/>
          <p:cNvSpPr/>
          <p:nvPr/>
        </p:nvSpPr>
        <p:spPr>
          <a:xfrm>
            <a:off x="4937760" y="3127248"/>
            <a:ext cx="3840480" cy="347472"/>
          </a:xfrm>
          <a:prstGeom prst="rect">
            <a:avLst/>
          </a:prstGeom>
          <a:noFill/>
          <a:ln/>
        </p:spPr>
        <p:txBody>
          <a:bodyPr wrap="square" lIns="0" tIns="0" rIns="0" bIns="0" rtlCol="0" anchor="ctr"/>
          <a:lstStyle/>
          <a:p>
            <a:pPr indent="0" marL="0">
              <a:buNone/>
            </a:pPr>
            <a:r>
              <a:rPr lang="en-US" sz="1300" b="1" dirty="0">
                <a:solidFill>
                  <a:srgbClr val="EEF4FF"/>
                </a:solidFill>
                <a:latin typeface="Calibri" pitchFamily="34" charset="0"/>
                <a:ea typeface="Calibri" pitchFamily="34" charset="-122"/>
                <a:cs typeface="Calibri" pitchFamily="34" charset="-120"/>
              </a:rPr>
              <a:t>Zero Infrastructure Cost</a:t>
            </a:r>
            <a:endParaRPr lang="en-US" sz="1300" dirty="0"/>
          </a:p>
        </p:txBody>
      </p:sp>
      <p:sp>
        <p:nvSpPr>
          <p:cNvPr id="27" name="Text 24"/>
          <p:cNvSpPr/>
          <p:nvPr/>
        </p:nvSpPr>
        <p:spPr>
          <a:xfrm>
            <a:off x="4937760" y="3438144"/>
            <a:ext cx="3840480" cy="18288"/>
          </a:xfrm>
          <a:prstGeom prst="rect">
            <a:avLst/>
          </a:prstGeom>
          <a:noFill/>
          <a:ln/>
        </p:spPr>
        <p:txBody>
          <a:bodyPr wrap="square" lIns="0" tIns="0" rIns="0" bIns="0" rtlCol="0" anchor="ctr"/>
          <a:lstStyle/>
          <a:p>
            <a:pPr indent="0" marL="0">
              <a:lnSpc>
                <a:spcPct val="125000"/>
              </a:lnSpc>
              <a:buNone/>
            </a:pPr>
            <a:r>
              <a:rPr lang="en-US" sz="1100" dirty="0">
                <a:solidFill>
                  <a:srgbClr val="7A9ACC"/>
                </a:solidFill>
                <a:latin typeface="Calibri" pitchFamily="34" charset="0"/>
                <a:ea typeface="Calibri" pitchFamily="34" charset="-122"/>
                <a:cs typeface="Calibri" pitchFamily="34" charset="-120"/>
              </a:rPr>
              <a:t>No new classrooms, no new technology, no new hires. We bring trainers, curriculum, and materials to you.</a:t>
            </a:r>
            <a:endParaRPr lang="en-US" sz="1100" dirty="0"/>
          </a:p>
        </p:txBody>
      </p:sp>
      <p:sp>
        <p:nvSpPr>
          <p:cNvPr id="28" name="Text 25"/>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200" b="1" dirty="0">
                <a:solidFill>
                  <a:srgbClr val="EEF4FF"/>
                </a:solidFill>
                <a:latin typeface="Calibri" pitchFamily="34" charset="0"/>
                <a:ea typeface="Calibri" pitchFamily="34" charset="-122"/>
                <a:cs typeface="Calibri" pitchFamily="34" charset="-120"/>
              </a:rPr>
              <a:t>What a session actually looks like.</a:t>
            </a:r>
            <a:endParaRPr lang="en-US" sz="2200" dirty="0"/>
          </a:p>
        </p:txBody>
      </p:sp>
      <p:sp>
        <p:nvSpPr>
          <p:cNvPr id="4" name="Text 1"/>
          <p:cNvSpPr/>
          <p:nvPr/>
        </p:nvSpPr>
        <p:spPr>
          <a:xfrm>
            <a:off x="457200" y="987552"/>
            <a:ext cx="8229600" cy="320040"/>
          </a:xfrm>
          <a:prstGeom prst="rect">
            <a:avLst/>
          </a:prstGeom>
          <a:noFill/>
          <a:ln/>
        </p:spPr>
        <p:txBody>
          <a:bodyPr wrap="square" rtlCol="0" anchor="ctr"/>
          <a:lstStyle/>
          <a:p>
            <a:pPr indent="0" marL="0">
              <a:buNone/>
            </a:pPr>
            <a:r>
              <a:rPr lang="en-US" sz="1300" i="1" dirty="0">
                <a:solidFill>
                  <a:srgbClr val="00C4F0"/>
                </a:solidFill>
                <a:latin typeface="Calibri" pitchFamily="34" charset="0"/>
                <a:ea typeface="Calibri" pitchFamily="34" charset="-122"/>
                <a:cs typeface="Calibri" pitchFamily="34" charset="-120"/>
              </a:rPr>
              <a:t>Sample: Session 6 — Prompt Engineering for Your Subjects</a:t>
            </a:r>
            <a:endParaRPr lang="en-US" sz="1300" dirty="0"/>
          </a:p>
        </p:txBody>
      </p:sp>
      <p:sp>
        <p:nvSpPr>
          <p:cNvPr id="5" name="Shape 2"/>
          <p:cNvSpPr/>
          <p:nvPr/>
        </p:nvSpPr>
        <p:spPr>
          <a:xfrm>
            <a:off x="320040" y="1417320"/>
            <a:ext cx="8503920" cy="530352"/>
          </a:xfrm>
          <a:prstGeom prst="roundRect">
            <a:avLst>
              <a:gd name="adj" fmla="val 10345"/>
            </a:avLst>
          </a:prstGeom>
          <a:solidFill>
            <a:srgbClr val="0A1E3A"/>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6" name="Text 3"/>
          <p:cNvSpPr/>
          <p:nvPr/>
        </p:nvSpPr>
        <p:spPr>
          <a:xfrm>
            <a:off x="457200" y="1417320"/>
            <a:ext cx="640080" cy="530352"/>
          </a:xfrm>
          <a:prstGeom prst="rect">
            <a:avLst/>
          </a:prstGeom>
          <a:noFill/>
          <a:ln/>
        </p:spPr>
        <p:txBody>
          <a:bodyPr wrap="square" rtlCol="0" anchor="ctr"/>
          <a:lstStyle/>
          <a:p>
            <a:pPr algn="ctr" indent="0" marL="0">
              <a:buNone/>
            </a:pPr>
            <a:r>
              <a:rPr lang="en-US" sz="1100" b="1" dirty="0">
                <a:solidFill>
                  <a:srgbClr val="00C4F0"/>
                </a:solidFill>
                <a:latin typeface="Calibri" pitchFamily="34" charset="0"/>
                <a:ea typeface="Calibri" pitchFamily="34" charset="-122"/>
                <a:cs typeface="Calibri" pitchFamily="34" charset="-120"/>
              </a:rPr>
              <a:t>0:00</a:t>
            </a:r>
            <a:endParaRPr lang="en-US" sz="1100" dirty="0"/>
          </a:p>
        </p:txBody>
      </p:sp>
      <p:sp>
        <p:nvSpPr>
          <p:cNvPr id="7" name="Shape 4"/>
          <p:cNvSpPr/>
          <p:nvPr/>
        </p:nvSpPr>
        <p:spPr>
          <a:xfrm>
            <a:off x="1115568" y="1508760"/>
            <a:ext cx="0" cy="347472"/>
          </a:xfrm>
          <a:prstGeom prst="line">
            <a:avLst/>
          </a:prstGeom>
          <a:noFill/>
          <a:ln w="12700">
            <a:solidFill>
              <a:srgbClr val="1A2D52"/>
            </a:solidFill>
            <a:prstDash val="solid"/>
          </a:ln>
        </p:spPr>
      </p:sp>
      <p:sp>
        <p:nvSpPr>
          <p:cNvPr id="8" name="Text 5"/>
          <p:cNvSpPr/>
          <p:nvPr/>
        </p:nvSpPr>
        <p:spPr>
          <a:xfrm>
            <a:off x="1234440" y="1417320"/>
            <a:ext cx="1097280" cy="530352"/>
          </a:xfrm>
          <a:prstGeom prst="rect">
            <a:avLst/>
          </a:prstGeom>
          <a:noFill/>
          <a:ln/>
        </p:spPr>
        <p:txBody>
          <a:bodyPr wrap="square" rtlCol="0" anchor="ctr"/>
          <a:lstStyle/>
          <a:p>
            <a:pPr indent="0" marL="0">
              <a:buNone/>
            </a:pPr>
            <a:r>
              <a:rPr lang="en-US" sz="1200" b="1" dirty="0">
                <a:solidFill>
                  <a:srgbClr val="EEF4FF"/>
                </a:solidFill>
                <a:latin typeface="Calibri" pitchFamily="34" charset="0"/>
                <a:ea typeface="Calibri" pitchFamily="34" charset="-122"/>
                <a:cs typeface="Calibri" pitchFamily="34" charset="-120"/>
              </a:rPr>
              <a:t>Hook</a:t>
            </a:r>
            <a:endParaRPr lang="en-US" sz="1200" dirty="0"/>
          </a:p>
        </p:txBody>
      </p:sp>
      <p:sp>
        <p:nvSpPr>
          <p:cNvPr id="9" name="Text 6"/>
          <p:cNvSpPr/>
          <p:nvPr/>
        </p:nvSpPr>
        <p:spPr>
          <a:xfrm>
            <a:off x="2423160" y="1417320"/>
            <a:ext cx="6217920" cy="530352"/>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Trainer asks: 'Who here has copied an AI answer they didn't understand?' Hands go up. Discussion begins.</a:t>
            </a:r>
            <a:endParaRPr lang="en-US" sz="1100" dirty="0"/>
          </a:p>
        </p:txBody>
      </p:sp>
      <p:sp>
        <p:nvSpPr>
          <p:cNvPr id="10" name="Shape 7"/>
          <p:cNvSpPr/>
          <p:nvPr/>
        </p:nvSpPr>
        <p:spPr>
          <a:xfrm>
            <a:off x="320040" y="2011680"/>
            <a:ext cx="8503920" cy="530352"/>
          </a:xfrm>
          <a:prstGeom prst="roundRect">
            <a:avLst>
              <a:gd name="adj" fmla="val 10345"/>
            </a:avLst>
          </a:prstGeom>
          <a:solidFill>
            <a:srgbClr val="0A1E3A"/>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11" name="Text 8"/>
          <p:cNvSpPr/>
          <p:nvPr/>
        </p:nvSpPr>
        <p:spPr>
          <a:xfrm>
            <a:off x="457200" y="2011680"/>
            <a:ext cx="640080" cy="530352"/>
          </a:xfrm>
          <a:prstGeom prst="rect">
            <a:avLst/>
          </a:prstGeom>
          <a:noFill/>
          <a:ln/>
        </p:spPr>
        <p:txBody>
          <a:bodyPr wrap="square" rtlCol="0" anchor="ctr"/>
          <a:lstStyle/>
          <a:p>
            <a:pPr algn="ctr" indent="0" marL="0">
              <a:buNone/>
            </a:pPr>
            <a:r>
              <a:rPr lang="en-US" sz="1100" b="1" dirty="0">
                <a:solidFill>
                  <a:srgbClr val="00C4F0"/>
                </a:solidFill>
                <a:latin typeface="Calibri" pitchFamily="34" charset="0"/>
                <a:ea typeface="Calibri" pitchFamily="34" charset="-122"/>
                <a:cs typeface="Calibri" pitchFamily="34" charset="-120"/>
              </a:rPr>
              <a:t>0:08</a:t>
            </a:r>
            <a:endParaRPr lang="en-US" sz="1100" dirty="0"/>
          </a:p>
        </p:txBody>
      </p:sp>
      <p:sp>
        <p:nvSpPr>
          <p:cNvPr id="12" name="Shape 9"/>
          <p:cNvSpPr/>
          <p:nvPr/>
        </p:nvSpPr>
        <p:spPr>
          <a:xfrm>
            <a:off x="1115568" y="2103120"/>
            <a:ext cx="0" cy="347472"/>
          </a:xfrm>
          <a:prstGeom prst="line">
            <a:avLst/>
          </a:prstGeom>
          <a:noFill/>
          <a:ln w="12700">
            <a:solidFill>
              <a:srgbClr val="1A2D52"/>
            </a:solidFill>
            <a:prstDash val="solid"/>
          </a:ln>
        </p:spPr>
      </p:sp>
      <p:sp>
        <p:nvSpPr>
          <p:cNvPr id="13" name="Text 10"/>
          <p:cNvSpPr/>
          <p:nvPr/>
        </p:nvSpPr>
        <p:spPr>
          <a:xfrm>
            <a:off x="1234440" y="2011680"/>
            <a:ext cx="1097280" cy="530352"/>
          </a:xfrm>
          <a:prstGeom prst="rect">
            <a:avLst/>
          </a:prstGeom>
          <a:noFill/>
          <a:ln/>
        </p:spPr>
        <p:txBody>
          <a:bodyPr wrap="square" rtlCol="0" anchor="ctr"/>
          <a:lstStyle/>
          <a:p>
            <a:pPr indent="0" marL="0">
              <a:buNone/>
            </a:pPr>
            <a:r>
              <a:rPr lang="en-US" sz="1200" b="1" dirty="0">
                <a:solidFill>
                  <a:srgbClr val="EEF4FF"/>
                </a:solidFill>
                <a:latin typeface="Calibri" pitchFamily="34" charset="0"/>
                <a:ea typeface="Calibri" pitchFamily="34" charset="-122"/>
                <a:cs typeface="Calibri" pitchFamily="34" charset="-120"/>
              </a:rPr>
              <a:t>Concept</a:t>
            </a:r>
            <a:endParaRPr lang="en-US" sz="1200" dirty="0"/>
          </a:p>
        </p:txBody>
      </p:sp>
      <p:sp>
        <p:nvSpPr>
          <p:cNvPr id="14" name="Text 11"/>
          <p:cNvSpPr/>
          <p:nvPr/>
        </p:nvSpPr>
        <p:spPr>
          <a:xfrm>
            <a:off x="2423160" y="2011680"/>
            <a:ext cx="6217920" cy="530352"/>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What prompt engineering actually is. Why vague questions get vague answers. The 3-part prompt structure.</a:t>
            </a:r>
            <a:endParaRPr lang="en-US" sz="1100" dirty="0"/>
          </a:p>
        </p:txBody>
      </p:sp>
      <p:sp>
        <p:nvSpPr>
          <p:cNvPr id="15" name="Shape 12"/>
          <p:cNvSpPr/>
          <p:nvPr/>
        </p:nvSpPr>
        <p:spPr>
          <a:xfrm>
            <a:off x="320040" y="2606040"/>
            <a:ext cx="8503920" cy="530352"/>
          </a:xfrm>
          <a:prstGeom prst="roundRect">
            <a:avLst>
              <a:gd name="adj" fmla="val 10345"/>
            </a:avLst>
          </a:prstGeom>
          <a:solidFill>
            <a:srgbClr val="0A1E3A"/>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16" name="Text 13"/>
          <p:cNvSpPr/>
          <p:nvPr/>
        </p:nvSpPr>
        <p:spPr>
          <a:xfrm>
            <a:off x="457200" y="2606040"/>
            <a:ext cx="640080" cy="530352"/>
          </a:xfrm>
          <a:prstGeom prst="rect">
            <a:avLst/>
          </a:prstGeom>
          <a:noFill/>
          <a:ln/>
        </p:spPr>
        <p:txBody>
          <a:bodyPr wrap="square" rtlCol="0" anchor="ctr"/>
          <a:lstStyle/>
          <a:p>
            <a:pPr algn="ctr" indent="0" marL="0">
              <a:buNone/>
            </a:pPr>
            <a:r>
              <a:rPr lang="en-US" sz="1100" b="1" dirty="0">
                <a:solidFill>
                  <a:srgbClr val="00C4F0"/>
                </a:solidFill>
                <a:latin typeface="Calibri" pitchFamily="34" charset="0"/>
                <a:ea typeface="Calibri" pitchFamily="34" charset="-122"/>
                <a:cs typeface="Calibri" pitchFamily="34" charset="-120"/>
              </a:rPr>
              <a:t>0:18</a:t>
            </a:r>
            <a:endParaRPr lang="en-US" sz="1100" dirty="0"/>
          </a:p>
        </p:txBody>
      </p:sp>
      <p:sp>
        <p:nvSpPr>
          <p:cNvPr id="17" name="Shape 14"/>
          <p:cNvSpPr/>
          <p:nvPr/>
        </p:nvSpPr>
        <p:spPr>
          <a:xfrm>
            <a:off x="1115568" y="2697480"/>
            <a:ext cx="0" cy="347472"/>
          </a:xfrm>
          <a:prstGeom prst="line">
            <a:avLst/>
          </a:prstGeom>
          <a:noFill/>
          <a:ln w="12700">
            <a:solidFill>
              <a:srgbClr val="1A2D52"/>
            </a:solidFill>
            <a:prstDash val="solid"/>
          </a:ln>
        </p:spPr>
      </p:sp>
      <p:sp>
        <p:nvSpPr>
          <p:cNvPr id="18" name="Text 15"/>
          <p:cNvSpPr/>
          <p:nvPr/>
        </p:nvSpPr>
        <p:spPr>
          <a:xfrm>
            <a:off x="1234440" y="2606040"/>
            <a:ext cx="1097280" cy="530352"/>
          </a:xfrm>
          <a:prstGeom prst="rect">
            <a:avLst/>
          </a:prstGeom>
          <a:noFill/>
          <a:ln/>
        </p:spPr>
        <p:txBody>
          <a:bodyPr wrap="square" rtlCol="0" anchor="ctr"/>
          <a:lstStyle/>
          <a:p>
            <a:pPr indent="0" marL="0">
              <a:buNone/>
            </a:pPr>
            <a:r>
              <a:rPr lang="en-US" sz="1200" b="1" dirty="0">
                <a:solidFill>
                  <a:srgbClr val="EEF4FF"/>
                </a:solidFill>
                <a:latin typeface="Calibri" pitchFamily="34" charset="0"/>
                <a:ea typeface="Calibri" pitchFamily="34" charset="-122"/>
                <a:cs typeface="Calibri" pitchFamily="34" charset="-120"/>
              </a:rPr>
              <a:t>Live Demo</a:t>
            </a:r>
            <a:endParaRPr lang="en-US" sz="1200" dirty="0"/>
          </a:p>
        </p:txBody>
      </p:sp>
      <p:sp>
        <p:nvSpPr>
          <p:cNvPr id="19" name="Text 16"/>
          <p:cNvSpPr/>
          <p:nvPr/>
        </p:nvSpPr>
        <p:spPr>
          <a:xfrm>
            <a:off x="2423160" y="2606040"/>
            <a:ext cx="6217920" cy="530352"/>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Trainer shows bad prompt vs good prompt on ChatGPT — live, on screen, for their actual subject.</a:t>
            </a:r>
            <a:endParaRPr lang="en-US" sz="1100" dirty="0"/>
          </a:p>
        </p:txBody>
      </p:sp>
      <p:sp>
        <p:nvSpPr>
          <p:cNvPr id="20" name="Shape 17"/>
          <p:cNvSpPr/>
          <p:nvPr/>
        </p:nvSpPr>
        <p:spPr>
          <a:xfrm>
            <a:off x="320040" y="3200400"/>
            <a:ext cx="8503920" cy="530352"/>
          </a:xfrm>
          <a:prstGeom prst="roundRect">
            <a:avLst>
              <a:gd name="adj" fmla="val 10345"/>
            </a:avLst>
          </a:prstGeom>
          <a:solidFill>
            <a:srgbClr val="0A1E3A"/>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21" name="Text 18"/>
          <p:cNvSpPr/>
          <p:nvPr/>
        </p:nvSpPr>
        <p:spPr>
          <a:xfrm>
            <a:off x="457200" y="3200400"/>
            <a:ext cx="640080" cy="530352"/>
          </a:xfrm>
          <a:prstGeom prst="rect">
            <a:avLst/>
          </a:prstGeom>
          <a:noFill/>
          <a:ln/>
        </p:spPr>
        <p:txBody>
          <a:bodyPr wrap="square" rtlCol="0" anchor="ctr"/>
          <a:lstStyle/>
          <a:p>
            <a:pPr algn="ctr" indent="0" marL="0">
              <a:buNone/>
            </a:pPr>
            <a:r>
              <a:rPr lang="en-US" sz="1100" b="1" dirty="0">
                <a:solidFill>
                  <a:srgbClr val="00C4F0"/>
                </a:solidFill>
                <a:latin typeface="Calibri" pitchFamily="34" charset="0"/>
                <a:ea typeface="Calibri" pitchFamily="34" charset="-122"/>
                <a:cs typeface="Calibri" pitchFamily="34" charset="-120"/>
              </a:rPr>
              <a:t>0:25</a:t>
            </a:r>
            <a:endParaRPr lang="en-US" sz="1100" dirty="0"/>
          </a:p>
        </p:txBody>
      </p:sp>
      <p:sp>
        <p:nvSpPr>
          <p:cNvPr id="22" name="Shape 19"/>
          <p:cNvSpPr/>
          <p:nvPr/>
        </p:nvSpPr>
        <p:spPr>
          <a:xfrm>
            <a:off x="1115568" y="3291840"/>
            <a:ext cx="0" cy="347472"/>
          </a:xfrm>
          <a:prstGeom prst="line">
            <a:avLst/>
          </a:prstGeom>
          <a:noFill/>
          <a:ln w="12700">
            <a:solidFill>
              <a:srgbClr val="1A2D52"/>
            </a:solidFill>
            <a:prstDash val="solid"/>
          </a:ln>
        </p:spPr>
      </p:sp>
      <p:sp>
        <p:nvSpPr>
          <p:cNvPr id="23" name="Text 20"/>
          <p:cNvSpPr/>
          <p:nvPr/>
        </p:nvSpPr>
        <p:spPr>
          <a:xfrm>
            <a:off x="1234440" y="3200400"/>
            <a:ext cx="1097280" cy="530352"/>
          </a:xfrm>
          <a:prstGeom prst="rect">
            <a:avLst/>
          </a:prstGeom>
          <a:noFill/>
          <a:ln/>
        </p:spPr>
        <p:txBody>
          <a:bodyPr wrap="square" rtlCol="0" anchor="ctr"/>
          <a:lstStyle/>
          <a:p>
            <a:pPr indent="0" marL="0">
              <a:buNone/>
            </a:pPr>
            <a:r>
              <a:rPr lang="en-US" sz="1200" b="1" dirty="0">
                <a:solidFill>
                  <a:srgbClr val="EEF4FF"/>
                </a:solidFill>
                <a:latin typeface="Calibri" pitchFamily="34" charset="0"/>
                <a:ea typeface="Calibri" pitchFamily="34" charset="-122"/>
                <a:cs typeface="Calibri" pitchFamily="34" charset="-120"/>
              </a:rPr>
              <a:t>Practice</a:t>
            </a:r>
            <a:endParaRPr lang="en-US" sz="1200" dirty="0"/>
          </a:p>
        </p:txBody>
      </p:sp>
      <p:sp>
        <p:nvSpPr>
          <p:cNvPr id="24" name="Text 21"/>
          <p:cNvSpPr/>
          <p:nvPr/>
        </p:nvSpPr>
        <p:spPr>
          <a:xfrm>
            <a:off x="2423160" y="3200400"/>
            <a:ext cx="6217920" cy="530352"/>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Students write their own prompts for a real upcoming assignment. Trainer circulates and gives feedback.</a:t>
            </a:r>
            <a:endParaRPr lang="en-US" sz="1100" dirty="0"/>
          </a:p>
        </p:txBody>
      </p:sp>
      <p:sp>
        <p:nvSpPr>
          <p:cNvPr id="25" name="Shape 22"/>
          <p:cNvSpPr/>
          <p:nvPr/>
        </p:nvSpPr>
        <p:spPr>
          <a:xfrm>
            <a:off x="320040" y="3794760"/>
            <a:ext cx="8503920" cy="530352"/>
          </a:xfrm>
          <a:prstGeom prst="roundRect">
            <a:avLst>
              <a:gd name="adj" fmla="val 10345"/>
            </a:avLst>
          </a:prstGeom>
          <a:solidFill>
            <a:srgbClr val="0A1E3A"/>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26" name="Text 23"/>
          <p:cNvSpPr/>
          <p:nvPr/>
        </p:nvSpPr>
        <p:spPr>
          <a:xfrm>
            <a:off x="457200" y="3794760"/>
            <a:ext cx="640080" cy="530352"/>
          </a:xfrm>
          <a:prstGeom prst="rect">
            <a:avLst/>
          </a:prstGeom>
          <a:noFill/>
          <a:ln/>
        </p:spPr>
        <p:txBody>
          <a:bodyPr wrap="square" rtlCol="0" anchor="ctr"/>
          <a:lstStyle/>
          <a:p>
            <a:pPr algn="ctr" indent="0" marL="0">
              <a:buNone/>
            </a:pPr>
            <a:r>
              <a:rPr lang="en-US" sz="1100" b="1" dirty="0">
                <a:solidFill>
                  <a:srgbClr val="00C4F0"/>
                </a:solidFill>
                <a:latin typeface="Calibri" pitchFamily="34" charset="0"/>
                <a:ea typeface="Calibri" pitchFamily="34" charset="-122"/>
                <a:cs typeface="Calibri" pitchFamily="34" charset="-120"/>
              </a:rPr>
              <a:t>0:40</a:t>
            </a:r>
            <a:endParaRPr lang="en-US" sz="1100" dirty="0"/>
          </a:p>
        </p:txBody>
      </p:sp>
      <p:sp>
        <p:nvSpPr>
          <p:cNvPr id="27" name="Shape 24"/>
          <p:cNvSpPr/>
          <p:nvPr/>
        </p:nvSpPr>
        <p:spPr>
          <a:xfrm>
            <a:off x="1115568" y="3886200"/>
            <a:ext cx="0" cy="347472"/>
          </a:xfrm>
          <a:prstGeom prst="line">
            <a:avLst/>
          </a:prstGeom>
          <a:noFill/>
          <a:ln w="12700">
            <a:solidFill>
              <a:srgbClr val="1A2D52"/>
            </a:solidFill>
            <a:prstDash val="solid"/>
          </a:ln>
        </p:spPr>
      </p:sp>
      <p:sp>
        <p:nvSpPr>
          <p:cNvPr id="28" name="Text 25"/>
          <p:cNvSpPr/>
          <p:nvPr/>
        </p:nvSpPr>
        <p:spPr>
          <a:xfrm>
            <a:off x="1234440" y="3794760"/>
            <a:ext cx="1097280" cy="530352"/>
          </a:xfrm>
          <a:prstGeom prst="rect">
            <a:avLst/>
          </a:prstGeom>
          <a:noFill/>
          <a:ln/>
        </p:spPr>
        <p:txBody>
          <a:bodyPr wrap="square" rtlCol="0" anchor="ctr"/>
          <a:lstStyle/>
          <a:p>
            <a:pPr indent="0" marL="0">
              <a:buNone/>
            </a:pPr>
            <a:r>
              <a:rPr lang="en-US" sz="1200" b="1" dirty="0">
                <a:solidFill>
                  <a:srgbClr val="EEF4FF"/>
                </a:solidFill>
                <a:latin typeface="Calibri" pitchFamily="34" charset="0"/>
                <a:ea typeface="Calibri" pitchFamily="34" charset="-122"/>
                <a:cs typeface="Calibri" pitchFamily="34" charset="-120"/>
              </a:rPr>
              <a:t>Challenge</a:t>
            </a:r>
            <a:endParaRPr lang="en-US" sz="1200" dirty="0"/>
          </a:p>
        </p:txBody>
      </p:sp>
      <p:sp>
        <p:nvSpPr>
          <p:cNvPr id="29" name="Text 26"/>
          <p:cNvSpPr/>
          <p:nvPr/>
        </p:nvSpPr>
        <p:spPr>
          <a:xfrm>
            <a:off x="2423160" y="3794760"/>
            <a:ext cx="6217920" cy="530352"/>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Best prompt competition. Class votes. Top 3 prompts screen-shared and discussed.</a:t>
            </a:r>
            <a:endParaRPr lang="en-US" sz="1100" dirty="0"/>
          </a:p>
        </p:txBody>
      </p:sp>
      <p:sp>
        <p:nvSpPr>
          <p:cNvPr id="30" name="Shape 27"/>
          <p:cNvSpPr/>
          <p:nvPr/>
        </p:nvSpPr>
        <p:spPr>
          <a:xfrm>
            <a:off x="320040" y="4389120"/>
            <a:ext cx="8503920" cy="530352"/>
          </a:xfrm>
          <a:prstGeom prst="roundRect">
            <a:avLst>
              <a:gd name="adj" fmla="val 10345"/>
            </a:avLst>
          </a:prstGeom>
          <a:solidFill>
            <a:srgbClr val="0A1E3A"/>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31" name="Text 28"/>
          <p:cNvSpPr/>
          <p:nvPr/>
        </p:nvSpPr>
        <p:spPr>
          <a:xfrm>
            <a:off x="457200" y="4389120"/>
            <a:ext cx="640080" cy="530352"/>
          </a:xfrm>
          <a:prstGeom prst="rect">
            <a:avLst/>
          </a:prstGeom>
          <a:noFill/>
          <a:ln/>
        </p:spPr>
        <p:txBody>
          <a:bodyPr wrap="square" rtlCol="0" anchor="ctr"/>
          <a:lstStyle/>
          <a:p>
            <a:pPr algn="ctr" indent="0" marL="0">
              <a:buNone/>
            </a:pPr>
            <a:r>
              <a:rPr lang="en-US" sz="1100" b="1" dirty="0">
                <a:solidFill>
                  <a:srgbClr val="00C4F0"/>
                </a:solidFill>
                <a:latin typeface="Calibri" pitchFamily="34" charset="0"/>
                <a:ea typeface="Calibri" pitchFamily="34" charset="-122"/>
                <a:cs typeface="Calibri" pitchFamily="34" charset="-120"/>
              </a:rPr>
              <a:t>0:50</a:t>
            </a:r>
            <a:endParaRPr lang="en-US" sz="1100" dirty="0"/>
          </a:p>
        </p:txBody>
      </p:sp>
      <p:sp>
        <p:nvSpPr>
          <p:cNvPr id="32" name="Shape 29"/>
          <p:cNvSpPr/>
          <p:nvPr/>
        </p:nvSpPr>
        <p:spPr>
          <a:xfrm>
            <a:off x="1115568" y="4480560"/>
            <a:ext cx="0" cy="347472"/>
          </a:xfrm>
          <a:prstGeom prst="line">
            <a:avLst/>
          </a:prstGeom>
          <a:noFill/>
          <a:ln w="12700">
            <a:solidFill>
              <a:srgbClr val="1A2D52"/>
            </a:solidFill>
            <a:prstDash val="solid"/>
          </a:ln>
        </p:spPr>
      </p:sp>
      <p:sp>
        <p:nvSpPr>
          <p:cNvPr id="33" name="Text 30"/>
          <p:cNvSpPr/>
          <p:nvPr/>
        </p:nvSpPr>
        <p:spPr>
          <a:xfrm>
            <a:off x="1234440" y="4389120"/>
            <a:ext cx="1097280" cy="530352"/>
          </a:xfrm>
          <a:prstGeom prst="rect">
            <a:avLst/>
          </a:prstGeom>
          <a:noFill/>
          <a:ln/>
        </p:spPr>
        <p:txBody>
          <a:bodyPr wrap="square" rtlCol="0" anchor="ctr"/>
          <a:lstStyle/>
          <a:p>
            <a:pPr indent="0" marL="0">
              <a:buNone/>
            </a:pPr>
            <a:r>
              <a:rPr lang="en-US" sz="1200" b="1" dirty="0">
                <a:solidFill>
                  <a:srgbClr val="EEF4FF"/>
                </a:solidFill>
                <a:latin typeface="Calibri" pitchFamily="34" charset="0"/>
                <a:ea typeface="Calibri" pitchFamily="34" charset="-122"/>
                <a:cs typeface="Calibri" pitchFamily="34" charset="-120"/>
              </a:rPr>
              <a:t>Debrief</a:t>
            </a:r>
            <a:endParaRPr lang="en-US" sz="1200" dirty="0"/>
          </a:p>
        </p:txBody>
      </p:sp>
      <p:sp>
        <p:nvSpPr>
          <p:cNvPr id="34" name="Text 31"/>
          <p:cNvSpPr/>
          <p:nvPr/>
        </p:nvSpPr>
        <p:spPr>
          <a:xfrm>
            <a:off x="2423160" y="4389120"/>
            <a:ext cx="6217920" cy="530352"/>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Students document their best prompt in their AI Portfolio. Homework: use it this week.</a:t>
            </a:r>
            <a:endParaRPr lang="en-US" sz="1100" dirty="0"/>
          </a:p>
        </p:txBody>
      </p:sp>
      <p:sp>
        <p:nvSpPr>
          <p:cNvPr id="35" name="Text 32"/>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400" b="1" dirty="0">
                <a:solidFill>
                  <a:srgbClr val="EEF4FF"/>
                </a:solidFill>
                <a:latin typeface="Calibri" pitchFamily="34" charset="0"/>
                <a:ea typeface="Calibri" pitchFamily="34" charset="-122"/>
                <a:cs typeface="Calibri" pitchFamily="34" charset="-120"/>
              </a:rPr>
              <a:t>How the partnership works.</a:t>
            </a:r>
            <a:endParaRPr lang="en-US" sz="2400" dirty="0"/>
          </a:p>
        </p:txBody>
      </p:sp>
      <p:sp>
        <p:nvSpPr>
          <p:cNvPr id="4" name="Shape 1"/>
          <p:cNvSpPr/>
          <p:nvPr/>
        </p:nvSpPr>
        <p:spPr>
          <a:xfrm>
            <a:off x="320040" y="1115568"/>
            <a:ext cx="2743200" cy="3657600"/>
          </a:xfrm>
          <a:prstGeom prst="roundRect">
            <a:avLst>
              <a:gd name="adj" fmla="val 3333"/>
            </a:avLst>
          </a:prstGeom>
          <a:solidFill>
            <a:srgbClr val="0E1C38"/>
          </a:solidFill>
          <a:ln w="12700">
            <a:solidFill>
              <a:srgbClr val="7A9ACC"/>
            </a:solidFill>
            <a:prstDash val="solid"/>
          </a:ln>
          <a:effectLst>
            <a:outerShdw sx="100000" sy="100000" kx="0" ky="0" algn="bl" rotWithShape="0" blurRad="127000" dist="38100" dir="2700000">
              <a:srgbClr val="000000">
                <a:alpha val="20000"/>
              </a:srgbClr>
            </a:outerShdw>
          </a:effectLst>
        </p:spPr>
      </p:sp>
      <p:sp>
        <p:nvSpPr>
          <p:cNvPr id="5" name="Text 2"/>
          <p:cNvSpPr/>
          <p:nvPr/>
        </p:nvSpPr>
        <p:spPr>
          <a:xfrm>
            <a:off x="320040" y="1207008"/>
            <a:ext cx="2743200" cy="256032"/>
          </a:xfrm>
          <a:prstGeom prst="rect">
            <a:avLst/>
          </a:prstGeom>
          <a:noFill/>
          <a:ln/>
        </p:spPr>
        <p:txBody>
          <a:bodyPr wrap="square" rtlCol="0" anchor="ctr"/>
          <a:lstStyle/>
          <a:p>
            <a:pPr algn="ctr" indent="0" marL="0">
              <a:buNone/>
            </a:pPr>
            <a:r>
              <a:rPr lang="en-US" sz="900" b="1" spc="300" kern="0" dirty="0">
                <a:solidFill>
                  <a:srgbClr val="7A9ACC"/>
                </a:solidFill>
                <a:latin typeface="Calibri" pitchFamily="34" charset="0"/>
                <a:ea typeface="Calibri" pitchFamily="34" charset="-122"/>
                <a:cs typeface="Calibri" pitchFamily="34" charset="-120"/>
              </a:rPr>
              <a:t>TIER 1</a:t>
            </a:r>
            <a:endParaRPr lang="en-US" sz="900" dirty="0"/>
          </a:p>
        </p:txBody>
      </p:sp>
      <p:sp>
        <p:nvSpPr>
          <p:cNvPr id="6" name="Text 3"/>
          <p:cNvSpPr/>
          <p:nvPr/>
        </p:nvSpPr>
        <p:spPr>
          <a:xfrm>
            <a:off x="320040" y="1463040"/>
            <a:ext cx="2743200" cy="457200"/>
          </a:xfrm>
          <a:prstGeom prst="rect">
            <a:avLst/>
          </a:prstGeom>
          <a:noFill/>
          <a:ln/>
        </p:spPr>
        <p:txBody>
          <a:bodyPr wrap="square" rtlCol="0" anchor="ctr"/>
          <a:lstStyle/>
          <a:p>
            <a:pPr algn="ctr" indent="0" marL="0">
              <a:buNone/>
            </a:pPr>
            <a:r>
              <a:rPr lang="en-US" sz="2000" b="1" dirty="0">
                <a:solidFill>
                  <a:srgbClr val="EEF4FF"/>
                </a:solidFill>
                <a:latin typeface="Calibri" pitchFamily="34" charset="0"/>
                <a:ea typeface="Calibri" pitchFamily="34" charset="-122"/>
                <a:cs typeface="Calibri" pitchFamily="34" charset="-120"/>
              </a:rPr>
              <a:t>Free Seminar</a:t>
            </a:r>
            <a:endParaRPr lang="en-US" sz="2000" dirty="0"/>
          </a:p>
        </p:txBody>
      </p:sp>
      <p:sp>
        <p:nvSpPr>
          <p:cNvPr id="7" name="Shape 4"/>
          <p:cNvSpPr/>
          <p:nvPr/>
        </p:nvSpPr>
        <p:spPr>
          <a:xfrm>
            <a:off x="868680" y="1938528"/>
            <a:ext cx="1645920" cy="329184"/>
          </a:xfrm>
          <a:prstGeom prst="roundRect">
            <a:avLst>
              <a:gd name="adj" fmla="val 50000"/>
            </a:avLst>
          </a:prstGeom>
          <a:solidFill>
            <a:srgbClr val="7A9ACC">
              <a:alpha val="25000"/>
            </a:srgbClr>
          </a:solidFill>
          <a:ln w="12700">
            <a:solidFill>
              <a:srgbClr val="7A9ACC"/>
            </a:solidFill>
            <a:prstDash val="solid"/>
          </a:ln>
        </p:spPr>
      </p:sp>
      <p:sp>
        <p:nvSpPr>
          <p:cNvPr id="8" name="Text 5"/>
          <p:cNvSpPr/>
          <p:nvPr/>
        </p:nvSpPr>
        <p:spPr>
          <a:xfrm>
            <a:off x="868680" y="1938528"/>
            <a:ext cx="1645920" cy="329184"/>
          </a:xfrm>
          <a:prstGeom prst="rect">
            <a:avLst/>
          </a:prstGeom>
          <a:noFill/>
          <a:ln/>
        </p:spPr>
        <p:txBody>
          <a:bodyPr wrap="square" rtlCol="0" anchor="ctr"/>
          <a:lstStyle/>
          <a:p>
            <a:pPr algn="ctr" indent="0" marL="0">
              <a:buNone/>
            </a:pPr>
            <a:r>
              <a:rPr lang="en-US" sz="1100" b="1" dirty="0">
                <a:solidFill>
                  <a:srgbClr val="7A9ACC"/>
                </a:solidFill>
                <a:latin typeface="Calibri" pitchFamily="34" charset="0"/>
                <a:ea typeface="Calibri" pitchFamily="34" charset="-122"/>
                <a:cs typeface="Calibri" pitchFamily="34" charset="-120"/>
              </a:rPr>
              <a:t>TODAY</a:t>
            </a:r>
            <a:endParaRPr lang="en-US" sz="1100" dirty="0"/>
          </a:p>
        </p:txBody>
      </p:sp>
      <p:sp>
        <p:nvSpPr>
          <p:cNvPr id="9" name="Text 6"/>
          <p:cNvSpPr/>
          <p:nvPr/>
        </p:nvSpPr>
        <p:spPr>
          <a:xfrm>
            <a:off x="411480" y="2395728"/>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60-minute session for students + staff</a:t>
            </a:r>
            <a:endParaRPr lang="en-US" sz="1100" dirty="0"/>
          </a:p>
        </p:txBody>
      </p:sp>
      <p:sp>
        <p:nvSpPr>
          <p:cNvPr id="10" name="Text 7"/>
          <p:cNvSpPr/>
          <p:nvPr/>
        </p:nvSpPr>
        <p:spPr>
          <a:xfrm>
            <a:off x="411480" y="2871216"/>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Zero cost, zero commitment</a:t>
            </a:r>
            <a:endParaRPr lang="en-US" sz="1100" dirty="0"/>
          </a:p>
        </p:txBody>
      </p:sp>
      <p:sp>
        <p:nvSpPr>
          <p:cNvPr id="11" name="Text 8"/>
          <p:cNvSpPr/>
          <p:nvPr/>
        </p:nvSpPr>
        <p:spPr>
          <a:xfrm>
            <a:off x="411480" y="3346704"/>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See the program before you decide</a:t>
            </a:r>
            <a:endParaRPr lang="en-US" sz="1100" dirty="0"/>
          </a:p>
        </p:txBody>
      </p:sp>
      <p:sp>
        <p:nvSpPr>
          <p:cNvPr id="12" name="Shape 9"/>
          <p:cNvSpPr/>
          <p:nvPr/>
        </p:nvSpPr>
        <p:spPr>
          <a:xfrm>
            <a:off x="3200400" y="1115568"/>
            <a:ext cx="2743200" cy="3657600"/>
          </a:xfrm>
          <a:prstGeom prst="roundRect">
            <a:avLst>
              <a:gd name="adj" fmla="val 3333"/>
            </a:avLst>
          </a:prstGeom>
          <a:solidFill>
            <a:srgbClr val="061828"/>
          </a:solidFill>
          <a:ln w="12700">
            <a:solidFill>
              <a:srgbClr val="00C4F0"/>
            </a:solidFill>
            <a:prstDash val="solid"/>
          </a:ln>
          <a:effectLst>
            <a:outerShdw sx="100000" sy="100000" kx="0" ky="0" algn="bl" rotWithShape="0" blurRad="127000" dist="38100" dir="2700000">
              <a:srgbClr val="000000">
                <a:alpha val="20000"/>
              </a:srgbClr>
            </a:outerShdw>
          </a:effectLst>
        </p:spPr>
      </p:sp>
      <p:sp>
        <p:nvSpPr>
          <p:cNvPr id="13" name="Text 10"/>
          <p:cNvSpPr/>
          <p:nvPr/>
        </p:nvSpPr>
        <p:spPr>
          <a:xfrm>
            <a:off x="3200400" y="1207008"/>
            <a:ext cx="2743200" cy="256032"/>
          </a:xfrm>
          <a:prstGeom prst="rect">
            <a:avLst/>
          </a:prstGeom>
          <a:noFill/>
          <a:ln/>
        </p:spPr>
        <p:txBody>
          <a:bodyPr wrap="square" rtlCol="0" anchor="ctr"/>
          <a:lstStyle/>
          <a:p>
            <a:pPr algn="ctr" indent="0" marL="0">
              <a:buNone/>
            </a:pPr>
            <a:r>
              <a:rPr lang="en-US" sz="900" b="1" spc="300" kern="0" dirty="0">
                <a:solidFill>
                  <a:srgbClr val="00C4F0"/>
                </a:solidFill>
                <a:latin typeface="Calibri" pitchFamily="34" charset="0"/>
                <a:ea typeface="Calibri" pitchFamily="34" charset="-122"/>
                <a:cs typeface="Calibri" pitchFamily="34" charset="-120"/>
              </a:rPr>
              <a:t>TIER 2</a:t>
            </a:r>
            <a:endParaRPr lang="en-US" sz="900" dirty="0"/>
          </a:p>
        </p:txBody>
      </p:sp>
      <p:sp>
        <p:nvSpPr>
          <p:cNvPr id="14" name="Text 11"/>
          <p:cNvSpPr/>
          <p:nvPr/>
        </p:nvSpPr>
        <p:spPr>
          <a:xfrm>
            <a:off x="3200400" y="1463040"/>
            <a:ext cx="2743200" cy="457200"/>
          </a:xfrm>
          <a:prstGeom prst="rect">
            <a:avLst/>
          </a:prstGeom>
          <a:noFill/>
          <a:ln/>
        </p:spPr>
        <p:txBody>
          <a:bodyPr wrap="square" rtlCol="0" anchor="ctr"/>
          <a:lstStyle/>
          <a:p>
            <a:pPr algn="ctr" indent="0" marL="0">
              <a:buNone/>
            </a:pPr>
            <a:r>
              <a:rPr lang="en-US" sz="2000" b="1" dirty="0">
                <a:solidFill>
                  <a:srgbClr val="EEF4FF"/>
                </a:solidFill>
                <a:latin typeface="Calibri" pitchFamily="34" charset="0"/>
                <a:ea typeface="Calibri" pitchFamily="34" charset="-122"/>
                <a:cs typeface="Calibri" pitchFamily="34" charset="-120"/>
              </a:rPr>
              <a:t>School Program</a:t>
            </a:r>
            <a:endParaRPr lang="en-US" sz="2000" dirty="0"/>
          </a:p>
        </p:txBody>
      </p:sp>
      <p:sp>
        <p:nvSpPr>
          <p:cNvPr id="15" name="Shape 12"/>
          <p:cNvSpPr/>
          <p:nvPr/>
        </p:nvSpPr>
        <p:spPr>
          <a:xfrm>
            <a:off x="3749040" y="1938528"/>
            <a:ext cx="1645920" cy="329184"/>
          </a:xfrm>
          <a:prstGeom prst="roundRect">
            <a:avLst>
              <a:gd name="adj" fmla="val 50000"/>
            </a:avLst>
          </a:prstGeom>
          <a:solidFill>
            <a:srgbClr val="00C4F0"/>
          </a:solidFill>
          <a:ln w="12700">
            <a:solidFill>
              <a:srgbClr val="00C4F0"/>
            </a:solidFill>
            <a:prstDash val="solid"/>
          </a:ln>
        </p:spPr>
      </p:sp>
      <p:sp>
        <p:nvSpPr>
          <p:cNvPr id="16" name="Text 13"/>
          <p:cNvSpPr/>
          <p:nvPr/>
        </p:nvSpPr>
        <p:spPr>
          <a:xfrm>
            <a:off x="3749040" y="1938528"/>
            <a:ext cx="1645920" cy="329184"/>
          </a:xfrm>
          <a:prstGeom prst="rect">
            <a:avLst/>
          </a:prstGeom>
          <a:noFill/>
          <a:ln/>
        </p:spPr>
        <p:txBody>
          <a:bodyPr wrap="square" rtlCol="0" anchor="ctr"/>
          <a:lstStyle/>
          <a:p>
            <a:pPr algn="ctr" indent="0" marL="0">
              <a:buNone/>
            </a:pPr>
            <a:r>
              <a:rPr lang="en-US" sz="1100" b="1" dirty="0">
                <a:solidFill>
                  <a:srgbClr val="060C18"/>
                </a:solidFill>
                <a:latin typeface="Calibri" pitchFamily="34" charset="0"/>
                <a:ea typeface="Calibri" pitchFamily="34" charset="-122"/>
                <a:cs typeface="Calibri" pitchFamily="34" charset="-120"/>
              </a:rPr>
              <a:t>Paid</a:t>
            </a:r>
            <a:endParaRPr lang="en-US" sz="1100" dirty="0"/>
          </a:p>
        </p:txBody>
      </p:sp>
      <p:sp>
        <p:nvSpPr>
          <p:cNvPr id="17" name="Text 14"/>
          <p:cNvSpPr/>
          <p:nvPr/>
        </p:nvSpPr>
        <p:spPr>
          <a:xfrm>
            <a:off x="3291840" y="2395728"/>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8-week AILA curriculum delivered</a:t>
            </a:r>
            <a:endParaRPr lang="en-US" sz="1100" dirty="0"/>
          </a:p>
        </p:txBody>
      </p:sp>
      <p:sp>
        <p:nvSpPr>
          <p:cNvPr id="18" name="Text 15"/>
          <p:cNvSpPr/>
          <p:nvPr/>
        </p:nvSpPr>
        <p:spPr>
          <a:xfrm>
            <a:off x="3291840" y="2871216"/>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Teacher training included</a:t>
            </a:r>
            <a:endParaRPr lang="en-US" sz="1100" dirty="0"/>
          </a:p>
        </p:txBody>
      </p:sp>
      <p:sp>
        <p:nvSpPr>
          <p:cNvPr id="19" name="Text 16"/>
          <p:cNvSpPr/>
          <p:nvPr/>
        </p:nvSpPr>
        <p:spPr>
          <a:xfrm>
            <a:off x="3291840" y="3346704"/>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All 4 credentials issued to students</a:t>
            </a:r>
            <a:endParaRPr lang="en-US" sz="1100" dirty="0"/>
          </a:p>
        </p:txBody>
      </p:sp>
      <p:sp>
        <p:nvSpPr>
          <p:cNvPr id="20" name="Shape 17"/>
          <p:cNvSpPr/>
          <p:nvPr/>
        </p:nvSpPr>
        <p:spPr>
          <a:xfrm>
            <a:off x="6080760" y="1115568"/>
            <a:ext cx="2743200" cy="3657600"/>
          </a:xfrm>
          <a:prstGeom prst="roundRect">
            <a:avLst>
              <a:gd name="adj" fmla="val 3333"/>
            </a:avLst>
          </a:prstGeom>
          <a:solidFill>
            <a:srgbClr val="061A08"/>
          </a:solidFill>
          <a:ln w="25400">
            <a:solidFill>
              <a:srgbClr val="6AFB5A"/>
            </a:solidFill>
            <a:prstDash val="solid"/>
          </a:ln>
          <a:effectLst>
            <a:outerShdw sx="100000" sy="100000" kx="0" ky="0" algn="bl" rotWithShape="0" blurRad="127000" dist="38100" dir="2700000">
              <a:srgbClr val="000000">
                <a:alpha val="40000"/>
              </a:srgbClr>
            </a:outerShdw>
          </a:effectLst>
        </p:spPr>
      </p:sp>
      <p:sp>
        <p:nvSpPr>
          <p:cNvPr id="21" name="Text 18"/>
          <p:cNvSpPr/>
          <p:nvPr/>
        </p:nvSpPr>
        <p:spPr>
          <a:xfrm>
            <a:off x="6080760" y="1207008"/>
            <a:ext cx="2743200" cy="256032"/>
          </a:xfrm>
          <a:prstGeom prst="rect">
            <a:avLst/>
          </a:prstGeom>
          <a:noFill/>
          <a:ln/>
        </p:spPr>
        <p:txBody>
          <a:bodyPr wrap="square" rtlCol="0" anchor="ctr"/>
          <a:lstStyle/>
          <a:p>
            <a:pPr algn="ctr" indent="0" marL="0">
              <a:buNone/>
            </a:pPr>
            <a:r>
              <a:rPr lang="en-US" sz="900" b="1" spc="300" kern="0" dirty="0">
                <a:solidFill>
                  <a:srgbClr val="6AFB5A"/>
                </a:solidFill>
                <a:latin typeface="Calibri" pitchFamily="34" charset="0"/>
                <a:ea typeface="Calibri" pitchFamily="34" charset="-122"/>
                <a:cs typeface="Calibri" pitchFamily="34" charset="-120"/>
              </a:rPr>
              <a:t>TIER 3</a:t>
            </a:r>
            <a:endParaRPr lang="en-US" sz="900" dirty="0"/>
          </a:p>
        </p:txBody>
      </p:sp>
      <p:sp>
        <p:nvSpPr>
          <p:cNvPr id="22" name="Text 19"/>
          <p:cNvSpPr/>
          <p:nvPr/>
        </p:nvSpPr>
        <p:spPr>
          <a:xfrm>
            <a:off x="6080760" y="1463040"/>
            <a:ext cx="2743200" cy="457200"/>
          </a:xfrm>
          <a:prstGeom prst="rect">
            <a:avLst/>
          </a:prstGeom>
          <a:noFill/>
          <a:ln/>
        </p:spPr>
        <p:txBody>
          <a:bodyPr wrap="square" rtlCol="0" anchor="ctr"/>
          <a:lstStyle/>
          <a:p>
            <a:pPr algn="ctr" indent="0" marL="0">
              <a:buNone/>
            </a:pPr>
            <a:r>
              <a:rPr lang="en-US" sz="2000" b="1" dirty="0">
                <a:solidFill>
                  <a:srgbClr val="EEF4FF"/>
                </a:solidFill>
                <a:latin typeface="Calibri" pitchFamily="34" charset="0"/>
                <a:ea typeface="Calibri" pitchFamily="34" charset="-122"/>
                <a:cs typeface="Calibri" pitchFamily="34" charset="-120"/>
              </a:rPr>
              <a:t>Full Partner</a:t>
            </a:r>
            <a:endParaRPr lang="en-US" sz="2000" dirty="0"/>
          </a:p>
        </p:txBody>
      </p:sp>
      <p:sp>
        <p:nvSpPr>
          <p:cNvPr id="23" name="Shape 20"/>
          <p:cNvSpPr/>
          <p:nvPr/>
        </p:nvSpPr>
        <p:spPr>
          <a:xfrm>
            <a:off x="6629400" y="1938528"/>
            <a:ext cx="1645920" cy="329184"/>
          </a:xfrm>
          <a:prstGeom prst="roundRect">
            <a:avLst>
              <a:gd name="adj" fmla="val 50000"/>
            </a:avLst>
          </a:prstGeom>
          <a:solidFill>
            <a:srgbClr val="6AFB5A"/>
          </a:solidFill>
          <a:ln w="12700">
            <a:solidFill>
              <a:srgbClr val="6AFB5A"/>
            </a:solidFill>
            <a:prstDash val="solid"/>
          </a:ln>
        </p:spPr>
      </p:sp>
      <p:sp>
        <p:nvSpPr>
          <p:cNvPr id="24" name="Text 21"/>
          <p:cNvSpPr/>
          <p:nvPr/>
        </p:nvSpPr>
        <p:spPr>
          <a:xfrm>
            <a:off x="6629400" y="1938528"/>
            <a:ext cx="1645920" cy="329184"/>
          </a:xfrm>
          <a:prstGeom prst="rect">
            <a:avLst/>
          </a:prstGeom>
          <a:noFill/>
          <a:ln/>
        </p:spPr>
        <p:txBody>
          <a:bodyPr wrap="square" rtlCol="0" anchor="ctr"/>
          <a:lstStyle/>
          <a:p>
            <a:pPr algn="ctr" indent="0" marL="0">
              <a:buNone/>
            </a:pPr>
            <a:r>
              <a:rPr lang="en-US" sz="1100" b="1" dirty="0">
                <a:solidFill>
                  <a:srgbClr val="060C18"/>
                </a:solidFill>
                <a:latin typeface="Calibri" pitchFamily="34" charset="0"/>
                <a:ea typeface="Calibri" pitchFamily="34" charset="-122"/>
                <a:cs typeface="Calibri" pitchFamily="34" charset="-120"/>
              </a:rPr>
              <a:t>Annual</a:t>
            </a:r>
            <a:endParaRPr lang="en-US" sz="1100" dirty="0"/>
          </a:p>
        </p:txBody>
      </p:sp>
      <p:sp>
        <p:nvSpPr>
          <p:cNvPr id="25" name="Text 22"/>
          <p:cNvSpPr/>
          <p:nvPr/>
        </p:nvSpPr>
        <p:spPr>
          <a:xfrm>
            <a:off x="6172200" y="2395728"/>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Everything in Tier 2</a:t>
            </a:r>
            <a:endParaRPr lang="en-US" sz="1100" dirty="0"/>
          </a:p>
        </p:txBody>
      </p:sp>
      <p:sp>
        <p:nvSpPr>
          <p:cNvPr id="26" name="Text 23"/>
          <p:cNvSpPr/>
          <p:nvPr/>
        </p:nvSpPr>
        <p:spPr>
          <a:xfrm>
            <a:off x="6172200" y="2871216"/>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AI-Enabled School badge + branding</a:t>
            </a:r>
            <a:endParaRPr lang="en-US" sz="1100" dirty="0"/>
          </a:p>
        </p:txBody>
      </p:sp>
      <p:sp>
        <p:nvSpPr>
          <p:cNvPr id="27" name="Text 24"/>
          <p:cNvSpPr/>
          <p:nvPr/>
        </p:nvSpPr>
        <p:spPr>
          <a:xfrm>
            <a:off x="6172200" y="3346704"/>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Annual AI Competition hosted</a:t>
            </a:r>
            <a:endParaRPr lang="en-US" sz="1100" dirty="0"/>
          </a:p>
        </p:txBody>
      </p:sp>
      <p:sp>
        <p:nvSpPr>
          <p:cNvPr id="28" name="Text 25"/>
          <p:cNvSpPr/>
          <p:nvPr/>
        </p:nvSpPr>
        <p:spPr>
          <a:xfrm>
            <a:off x="6172200" y="3822192"/>
            <a:ext cx="2560320" cy="420624"/>
          </a:xfrm>
          <a:prstGeom prst="rect">
            <a:avLst/>
          </a:prstGeom>
          <a:noFill/>
          <a:ln/>
        </p:spPr>
        <p:txBody>
          <a:bodyPr wrap="square" rtlCol="0" anchor="ctr"/>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 Exclusive territory locked</a:t>
            </a:r>
            <a:endParaRPr lang="en-US" sz="1100" dirty="0"/>
          </a:p>
        </p:txBody>
      </p:sp>
      <p:sp>
        <p:nvSpPr>
          <p:cNvPr id="29" name="Text 26"/>
          <p:cNvSpPr/>
          <p:nvPr/>
        </p:nvSpPr>
        <p:spPr>
          <a:xfrm>
            <a:off x="457200" y="4846320"/>
            <a:ext cx="8229600" cy="228600"/>
          </a:xfrm>
          <a:prstGeom prst="rect">
            <a:avLst/>
          </a:prstGeom>
          <a:noFill/>
          <a:ln/>
        </p:spPr>
        <p:txBody>
          <a:bodyPr wrap="square" rtlCol="0" anchor="ctr"/>
          <a:lstStyle/>
          <a:p>
            <a:pPr algn="ctr" indent="0" marL="0">
              <a:buNone/>
            </a:pPr>
            <a:r>
              <a:rPr lang="en-US" sz="1100" i="1" dirty="0">
                <a:solidFill>
                  <a:srgbClr val="7A9ACC"/>
                </a:solidFill>
                <a:latin typeface="Calibri" pitchFamily="34" charset="0"/>
                <a:ea typeface="Calibri" pitchFamily="34" charset="-122"/>
                <a:cs typeface="Calibri" pitchFamily="34" charset="-120"/>
              </a:rPr>
              <a:t>We start with a free seminar. There is nothing to commit to today.</a:t>
            </a:r>
            <a:endParaRPr lang="en-US" sz="1100" dirty="0"/>
          </a:p>
        </p:txBody>
      </p:sp>
      <p:sp>
        <p:nvSpPr>
          <p:cNvPr id="30" name="Text 27"/>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400" b="1" dirty="0">
                <a:solidFill>
                  <a:srgbClr val="EEF4FF"/>
                </a:solidFill>
                <a:latin typeface="Calibri" pitchFamily="34" charset="0"/>
                <a:ea typeface="Calibri" pitchFamily="34" charset="-122"/>
                <a:cs typeface="Calibri" pitchFamily="34" charset="-120"/>
              </a:rPr>
              <a:t>Who we are.</a:t>
            </a:r>
            <a:endParaRPr lang="en-US" sz="2400" dirty="0"/>
          </a:p>
        </p:txBody>
      </p:sp>
      <p:sp>
        <p:nvSpPr>
          <p:cNvPr id="4" name="Shape 1"/>
          <p:cNvSpPr/>
          <p:nvPr/>
        </p:nvSpPr>
        <p:spPr>
          <a:xfrm>
            <a:off x="320040" y="1115568"/>
            <a:ext cx="4023360" cy="3657600"/>
          </a:xfrm>
          <a:prstGeom prst="roundRect">
            <a:avLst>
              <a:gd name="adj" fmla="val 2500"/>
            </a:avLst>
          </a:prstGeom>
          <a:solidFill>
            <a:srgbClr val="0E1C38"/>
          </a:solidFill>
          <a:ln w="12700">
            <a:solidFill>
              <a:srgbClr val="1A2D52"/>
            </a:solidFill>
            <a:prstDash val="solid"/>
          </a:ln>
          <a:effectLst>
            <a:outerShdw sx="100000" sy="100000" kx="0" ky="0" algn="bl" rotWithShape="0" blurRad="101600" dist="38100" dir="2700000">
              <a:srgbClr val="000000">
                <a:alpha val="25000"/>
              </a:srgbClr>
            </a:outerShdw>
          </a:effectLst>
        </p:spPr>
      </p:sp>
      <p:sp>
        <p:nvSpPr>
          <p:cNvPr id="5" name="Shape 2"/>
          <p:cNvSpPr/>
          <p:nvPr/>
        </p:nvSpPr>
        <p:spPr>
          <a:xfrm>
            <a:off x="1508760" y="1261872"/>
            <a:ext cx="1645920" cy="1645920"/>
          </a:xfrm>
          <a:prstGeom prst="ellipse">
            <a:avLst/>
          </a:prstGeom>
          <a:solidFill>
            <a:srgbClr val="1554F0"/>
          </a:solidFill>
          <a:ln w="25400">
            <a:solidFill>
              <a:srgbClr val="00C4F0"/>
            </a:solidFill>
            <a:prstDash val="solid"/>
          </a:ln>
        </p:spPr>
      </p:sp>
      <p:sp>
        <p:nvSpPr>
          <p:cNvPr id="6" name="Text 3"/>
          <p:cNvSpPr/>
          <p:nvPr/>
        </p:nvSpPr>
        <p:spPr>
          <a:xfrm>
            <a:off x="1508760" y="1261872"/>
            <a:ext cx="1645920" cy="1645920"/>
          </a:xfrm>
          <a:prstGeom prst="rect">
            <a:avLst/>
          </a:prstGeom>
          <a:noFill/>
          <a:ln/>
        </p:spPr>
        <p:txBody>
          <a:bodyPr wrap="square" rtlCol="0" anchor="ctr"/>
          <a:lstStyle/>
          <a:p>
            <a:pPr algn="ctr" indent="0" marL="0">
              <a:buNone/>
            </a:pPr>
            <a:r>
              <a:rPr lang="en-US" sz="4400" b="1" dirty="0">
                <a:solidFill>
                  <a:srgbClr val="EEF4FF"/>
                </a:solidFill>
                <a:latin typeface="Calibri" pitchFamily="34" charset="0"/>
                <a:ea typeface="Calibri" pitchFamily="34" charset="-122"/>
                <a:cs typeface="Calibri" pitchFamily="34" charset="-120"/>
              </a:rPr>
              <a:t>N</a:t>
            </a:r>
            <a:endParaRPr lang="en-US" sz="4400" dirty="0"/>
          </a:p>
        </p:txBody>
      </p:sp>
      <p:sp>
        <p:nvSpPr>
          <p:cNvPr id="7" name="Text 4"/>
          <p:cNvSpPr/>
          <p:nvPr/>
        </p:nvSpPr>
        <p:spPr>
          <a:xfrm>
            <a:off x="411480" y="3035808"/>
            <a:ext cx="3840480" cy="384048"/>
          </a:xfrm>
          <a:prstGeom prst="rect">
            <a:avLst/>
          </a:prstGeom>
          <a:noFill/>
          <a:ln/>
        </p:spPr>
        <p:txBody>
          <a:bodyPr wrap="square" rtlCol="0" anchor="ctr"/>
          <a:lstStyle/>
          <a:p>
            <a:pPr algn="ctr" indent="0" marL="0">
              <a:buNone/>
            </a:pPr>
            <a:r>
              <a:rPr lang="en-US" sz="1600" b="1" dirty="0">
                <a:solidFill>
                  <a:srgbClr val="EEF4FF"/>
                </a:solidFill>
                <a:latin typeface="Calibri" pitchFamily="34" charset="0"/>
                <a:ea typeface="Calibri" pitchFamily="34" charset="-122"/>
                <a:cs typeface="Calibri" pitchFamily="34" charset="-120"/>
              </a:rPr>
              <a:t>Nimai Charan Sahani</a:t>
            </a:r>
            <a:endParaRPr lang="en-US" sz="1600" dirty="0"/>
          </a:p>
        </p:txBody>
      </p:sp>
      <p:sp>
        <p:nvSpPr>
          <p:cNvPr id="8" name="Text 5"/>
          <p:cNvSpPr/>
          <p:nvPr/>
        </p:nvSpPr>
        <p:spPr>
          <a:xfrm>
            <a:off x="411480" y="3401568"/>
            <a:ext cx="3840480" cy="256032"/>
          </a:xfrm>
          <a:prstGeom prst="rect">
            <a:avLst/>
          </a:prstGeom>
          <a:noFill/>
          <a:ln/>
        </p:spPr>
        <p:txBody>
          <a:bodyPr wrap="square" rtlCol="0" anchor="ctr"/>
          <a:lstStyle/>
          <a:p>
            <a:pPr algn="ctr" indent="0" marL="0">
              <a:buNone/>
            </a:pPr>
            <a:r>
              <a:rPr lang="en-US" sz="1100" dirty="0">
                <a:solidFill>
                  <a:srgbClr val="00C4F0"/>
                </a:solidFill>
                <a:latin typeface="Calibri" pitchFamily="34" charset="0"/>
                <a:ea typeface="Calibri" pitchFamily="34" charset="-122"/>
                <a:cs typeface="Calibri" pitchFamily="34" charset="-120"/>
              </a:rPr>
              <a:t>Co-Founder · Product</a:t>
            </a:r>
            <a:endParaRPr lang="en-US" sz="1100" dirty="0"/>
          </a:p>
        </p:txBody>
      </p:sp>
      <p:sp>
        <p:nvSpPr>
          <p:cNvPr id="9" name="Text 6"/>
          <p:cNvSpPr/>
          <p:nvPr/>
        </p:nvSpPr>
        <p:spPr>
          <a:xfrm>
            <a:off x="457200" y="3730752"/>
            <a:ext cx="3749040" cy="822960"/>
          </a:xfrm>
          <a:prstGeom prst="rect">
            <a:avLst/>
          </a:prstGeom>
          <a:noFill/>
          <a:ln/>
        </p:spPr>
        <p:txBody>
          <a:bodyPr wrap="square" rtlCol="0" anchor="ctr"/>
          <a:lstStyle/>
          <a:p>
            <a:pPr algn="ctr" indent="0" marL="0">
              <a:lnSpc>
                <a:spcPct val="130000"/>
              </a:lnSpc>
              <a:buNone/>
            </a:pPr>
            <a:r>
              <a:rPr lang="en-US" sz="1100" dirty="0">
                <a:solidFill>
                  <a:srgbClr val="7A9ACC"/>
                </a:solidFill>
                <a:latin typeface="Calibri" pitchFamily="34" charset="0"/>
                <a:ea typeface="Calibri" pitchFamily="34" charset="-122"/>
                <a:cs typeface="Calibri" pitchFamily="34" charset="-120"/>
              </a:rPr>
              <a:t>Owns the AILA System™ curriculum, trainer guide, assessments, and credential architecture. Final authority on what gets taught and how.</a:t>
            </a:r>
            <a:endParaRPr lang="en-US" sz="1100" dirty="0"/>
          </a:p>
        </p:txBody>
      </p:sp>
      <p:sp>
        <p:nvSpPr>
          <p:cNvPr id="10" name="Shape 7"/>
          <p:cNvSpPr/>
          <p:nvPr/>
        </p:nvSpPr>
        <p:spPr>
          <a:xfrm>
            <a:off x="4800600" y="1115568"/>
            <a:ext cx="4023360" cy="3657600"/>
          </a:xfrm>
          <a:prstGeom prst="roundRect">
            <a:avLst>
              <a:gd name="adj" fmla="val 2500"/>
            </a:avLst>
          </a:prstGeom>
          <a:solidFill>
            <a:srgbClr val="0E1C38"/>
          </a:solidFill>
          <a:ln w="12700">
            <a:solidFill>
              <a:srgbClr val="1A2D52"/>
            </a:solidFill>
            <a:prstDash val="solid"/>
          </a:ln>
          <a:effectLst>
            <a:outerShdw sx="100000" sy="100000" kx="0" ky="0" algn="bl" rotWithShape="0" blurRad="101600" dist="38100" dir="2700000">
              <a:srgbClr val="000000">
                <a:alpha val="25000"/>
              </a:srgbClr>
            </a:outerShdw>
          </a:effectLst>
        </p:spPr>
      </p:sp>
      <p:sp>
        <p:nvSpPr>
          <p:cNvPr id="11" name="Shape 8"/>
          <p:cNvSpPr/>
          <p:nvPr/>
        </p:nvSpPr>
        <p:spPr>
          <a:xfrm>
            <a:off x="5989320" y="1261872"/>
            <a:ext cx="1645920" cy="1645920"/>
          </a:xfrm>
          <a:prstGeom prst="ellipse">
            <a:avLst/>
          </a:prstGeom>
          <a:solidFill>
            <a:srgbClr val="0A3A1A"/>
          </a:solidFill>
          <a:ln w="25400">
            <a:solidFill>
              <a:srgbClr val="6AFB5A"/>
            </a:solidFill>
            <a:prstDash val="solid"/>
          </a:ln>
        </p:spPr>
      </p:sp>
      <p:sp>
        <p:nvSpPr>
          <p:cNvPr id="12" name="Text 9"/>
          <p:cNvSpPr/>
          <p:nvPr/>
        </p:nvSpPr>
        <p:spPr>
          <a:xfrm>
            <a:off x="5989320" y="1261872"/>
            <a:ext cx="1645920" cy="1645920"/>
          </a:xfrm>
          <a:prstGeom prst="rect">
            <a:avLst/>
          </a:prstGeom>
          <a:noFill/>
          <a:ln/>
        </p:spPr>
        <p:txBody>
          <a:bodyPr wrap="square" rtlCol="0" anchor="ctr"/>
          <a:lstStyle/>
          <a:p>
            <a:pPr algn="ctr" indent="0" marL="0">
              <a:buNone/>
            </a:pPr>
            <a:r>
              <a:rPr lang="en-US" sz="4400" b="1" dirty="0">
                <a:solidFill>
                  <a:srgbClr val="6AFB5A"/>
                </a:solidFill>
                <a:latin typeface="Calibri" pitchFamily="34" charset="0"/>
                <a:ea typeface="Calibri" pitchFamily="34" charset="-122"/>
                <a:cs typeface="Calibri" pitchFamily="34" charset="-120"/>
              </a:rPr>
              <a:t>S</a:t>
            </a:r>
            <a:endParaRPr lang="en-US" sz="4400" dirty="0"/>
          </a:p>
        </p:txBody>
      </p:sp>
      <p:sp>
        <p:nvSpPr>
          <p:cNvPr id="13" name="Text 10"/>
          <p:cNvSpPr/>
          <p:nvPr/>
        </p:nvSpPr>
        <p:spPr>
          <a:xfrm>
            <a:off x="4892040" y="3035808"/>
            <a:ext cx="3840480" cy="384048"/>
          </a:xfrm>
          <a:prstGeom prst="rect">
            <a:avLst/>
          </a:prstGeom>
          <a:noFill/>
          <a:ln/>
        </p:spPr>
        <p:txBody>
          <a:bodyPr wrap="square" rtlCol="0" anchor="ctr"/>
          <a:lstStyle/>
          <a:p>
            <a:pPr algn="ctr" indent="0" marL="0">
              <a:buNone/>
            </a:pPr>
            <a:r>
              <a:rPr lang="en-US" sz="1600" b="1" dirty="0">
                <a:solidFill>
                  <a:srgbClr val="EEF4FF"/>
                </a:solidFill>
                <a:latin typeface="Calibri" pitchFamily="34" charset="0"/>
                <a:ea typeface="Calibri" pitchFamily="34" charset="-122"/>
                <a:cs typeface="Calibri" pitchFamily="34" charset="-120"/>
              </a:rPr>
              <a:t>Soumya [Surname]</a:t>
            </a:r>
            <a:endParaRPr lang="en-US" sz="1600" dirty="0"/>
          </a:p>
        </p:txBody>
      </p:sp>
      <p:sp>
        <p:nvSpPr>
          <p:cNvPr id="14" name="Text 11"/>
          <p:cNvSpPr/>
          <p:nvPr/>
        </p:nvSpPr>
        <p:spPr>
          <a:xfrm>
            <a:off x="4892040" y="3401568"/>
            <a:ext cx="3840480" cy="256032"/>
          </a:xfrm>
          <a:prstGeom prst="rect">
            <a:avLst/>
          </a:prstGeom>
          <a:noFill/>
          <a:ln/>
        </p:spPr>
        <p:txBody>
          <a:bodyPr wrap="square" rtlCol="0" anchor="ctr"/>
          <a:lstStyle/>
          <a:p>
            <a:pPr algn="ctr" indent="0" marL="0">
              <a:buNone/>
            </a:pPr>
            <a:r>
              <a:rPr lang="en-US" sz="1100" dirty="0">
                <a:solidFill>
                  <a:srgbClr val="6AFB5A"/>
                </a:solidFill>
                <a:latin typeface="Calibri" pitchFamily="34" charset="0"/>
                <a:ea typeface="Calibri" pitchFamily="34" charset="-122"/>
                <a:cs typeface="Calibri" pitchFamily="34" charset="-120"/>
              </a:rPr>
              <a:t>Co-Founder · Business</a:t>
            </a:r>
            <a:endParaRPr lang="en-US" sz="1100" dirty="0"/>
          </a:p>
        </p:txBody>
      </p:sp>
      <p:sp>
        <p:nvSpPr>
          <p:cNvPr id="15" name="Text 12"/>
          <p:cNvSpPr/>
          <p:nvPr/>
        </p:nvSpPr>
        <p:spPr>
          <a:xfrm>
            <a:off x="4892040" y="3730752"/>
            <a:ext cx="3749040" cy="822960"/>
          </a:xfrm>
          <a:prstGeom prst="rect">
            <a:avLst/>
          </a:prstGeom>
          <a:noFill/>
          <a:ln/>
        </p:spPr>
        <p:txBody>
          <a:bodyPr wrap="square" rtlCol="0" anchor="ctr"/>
          <a:lstStyle/>
          <a:p>
            <a:pPr algn="ctr" indent="0" marL="0">
              <a:lnSpc>
                <a:spcPct val="130000"/>
              </a:lnSpc>
              <a:buNone/>
            </a:pPr>
            <a:r>
              <a:rPr lang="en-US" sz="1100" dirty="0">
                <a:solidFill>
                  <a:srgbClr val="7A9ACC"/>
                </a:solidFill>
                <a:latin typeface="Calibri" pitchFamily="34" charset="0"/>
                <a:ea typeface="Calibri" pitchFamily="34" charset="-122"/>
                <a:cs typeface="Calibri" pitchFamily="34" charset="-120"/>
              </a:rPr>
              <a:t>Owns school partnerships, employer MoUs, legal structure, finances, and brand. Final authority on partnerships and growth.</a:t>
            </a:r>
            <a:endParaRPr lang="en-US" sz="1100" dirty="0"/>
          </a:p>
        </p:txBody>
      </p:sp>
      <p:sp>
        <p:nvSpPr>
          <p:cNvPr id="16" name="Text 13"/>
          <p:cNvSpPr/>
          <p:nvPr/>
        </p:nvSpPr>
        <p:spPr>
          <a:xfrm>
            <a:off x="457200" y="4846320"/>
            <a:ext cx="8229600" cy="228600"/>
          </a:xfrm>
          <a:prstGeom prst="rect">
            <a:avLst/>
          </a:prstGeom>
          <a:noFill/>
          <a:ln/>
        </p:spPr>
        <p:txBody>
          <a:bodyPr wrap="square" rtlCol="0" anchor="ctr"/>
          <a:lstStyle/>
          <a:p>
            <a:pPr algn="ctr" indent="0" marL="0">
              <a:buNone/>
            </a:pPr>
            <a:r>
              <a:rPr lang="en-US" sz="1000" dirty="0">
                <a:solidFill>
                  <a:srgbClr val="3A5070"/>
                </a:solidFill>
                <a:latin typeface="Calibri" pitchFamily="34" charset="0"/>
                <a:ea typeface="Calibri" pitchFamily="34" charset="-122"/>
                <a:cs typeface="Calibri" pitchFamily="34" charset="-120"/>
              </a:rPr>
              <a:t>UpMentor Edutech Private Limited · Incorporated May 2025 · Bhubaneswar, Odisha</a:t>
            </a:r>
            <a:endParaRPr lang="en-US" sz="1000" dirty="0"/>
          </a:p>
        </p:txBody>
      </p:sp>
      <p:sp>
        <p:nvSpPr>
          <p:cNvPr id="17" name="Text 14"/>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C1E"/>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640080"/>
            <a:ext cx="8229600" cy="411480"/>
          </a:xfrm>
          <a:prstGeom prst="rect">
            <a:avLst/>
          </a:prstGeom>
          <a:noFill/>
          <a:ln/>
        </p:spPr>
        <p:txBody>
          <a:bodyPr wrap="square" rtlCol="0" anchor="ctr"/>
          <a:lstStyle/>
          <a:p>
            <a:pPr algn="ctr" indent="0" marL="0">
              <a:buNone/>
            </a:pPr>
            <a:r>
              <a:rPr lang="en-US" sz="2000" b="1" dirty="0">
                <a:solidFill>
                  <a:srgbClr val="EEF4FF"/>
                </a:solidFill>
                <a:latin typeface="Calibri" pitchFamily="34" charset="0"/>
                <a:ea typeface="Calibri" pitchFamily="34" charset="-122"/>
                <a:cs typeface="Calibri" pitchFamily="34" charset="-120"/>
              </a:rPr>
              <a:t>Let me show you something live.</a:t>
            </a:r>
            <a:endParaRPr lang="en-US" sz="2000" dirty="0"/>
          </a:p>
        </p:txBody>
      </p:sp>
      <p:sp>
        <p:nvSpPr>
          <p:cNvPr id="4" name="Shape 1"/>
          <p:cNvSpPr/>
          <p:nvPr/>
        </p:nvSpPr>
        <p:spPr>
          <a:xfrm>
            <a:off x="457200" y="1143000"/>
            <a:ext cx="8229600" cy="2926080"/>
          </a:xfrm>
          <a:prstGeom prst="roundRect">
            <a:avLst>
              <a:gd name="adj" fmla="val 3750"/>
            </a:avLst>
          </a:prstGeom>
          <a:solidFill>
            <a:srgbClr val="0E1C38"/>
          </a:solidFill>
          <a:ln w="12700">
            <a:solidFill>
              <a:srgbClr val="00C4F0"/>
            </a:solidFill>
            <a:prstDash val="solid"/>
          </a:ln>
          <a:effectLst>
            <a:outerShdw sx="100000" sy="100000" kx="0" ky="0" algn="bl" rotWithShape="0" blurRad="152400" dist="50800" dir="2700000">
              <a:srgbClr val="000000">
                <a:alpha val="40000"/>
              </a:srgbClr>
            </a:outerShdw>
          </a:effectLst>
        </p:spPr>
      </p:sp>
      <p:sp>
        <p:nvSpPr>
          <p:cNvPr id="5" name="Text 2"/>
          <p:cNvSpPr/>
          <p:nvPr/>
        </p:nvSpPr>
        <p:spPr>
          <a:xfrm>
            <a:off x="640080" y="1298448"/>
            <a:ext cx="7863840" cy="347472"/>
          </a:xfrm>
          <a:prstGeom prst="rect">
            <a:avLst/>
          </a:prstGeom>
          <a:noFill/>
          <a:ln/>
        </p:spPr>
        <p:txBody>
          <a:bodyPr wrap="square" rtlCol="0" anchor="ctr"/>
          <a:lstStyle/>
          <a:p>
            <a:pPr indent="0" marL="0">
              <a:buNone/>
            </a:pPr>
            <a:r>
              <a:rPr lang="en-US" sz="1300" b="1" spc="200" kern="0" dirty="0">
                <a:solidFill>
                  <a:srgbClr val="00C4F0"/>
                </a:solidFill>
                <a:latin typeface="Calibri" pitchFamily="34" charset="0"/>
                <a:ea typeface="Calibri" pitchFamily="34" charset="-122"/>
                <a:cs typeface="Calibri" pitchFamily="34" charset="-120"/>
              </a:rPr>
              <a:t>LIVE ACTIVITY — 3 minutes</a:t>
            </a:r>
            <a:endParaRPr lang="en-US" sz="1300" dirty="0"/>
          </a:p>
        </p:txBody>
      </p:sp>
      <p:sp>
        <p:nvSpPr>
          <p:cNvPr id="6" name="Text 3"/>
          <p:cNvSpPr/>
          <p:nvPr/>
        </p:nvSpPr>
        <p:spPr>
          <a:xfrm>
            <a:off x="640080" y="1719072"/>
            <a:ext cx="7863840" cy="2103120"/>
          </a:xfrm>
          <a:prstGeom prst="rect">
            <a:avLst/>
          </a:prstGeom>
          <a:noFill/>
          <a:ln/>
        </p:spPr>
        <p:txBody>
          <a:bodyPr wrap="square" rtlCol="0" anchor="ctr"/>
          <a:lstStyle/>
          <a:p>
            <a:pPr indent="0" marL="0">
              <a:lnSpc>
                <a:spcPct val="135000"/>
              </a:lnSpc>
              <a:buNone/>
            </a:pPr>
            <a:r>
              <a:rPr lang="en-US" sz="1200" b="1" dirty="0">
                <a:solidFill>
                  <a:srgbClr val="EEF4FF"/>
                </a:solidFill>
                <a:latin typeface="Calibri" pitchFamily="34" charset="0"/>
                <a:ea typeface="Calibri" pitchFamily="34" charset="-122"/>
                <a:cs typeface="Calibri" pitchFamily="34" charset="-120"/>
              </a:rPr>
              <a:t>Step 1: </a:t>
            </a:r>
            <a:pPr indent="0" marL="0">
              <a:lnSpc>
                <a:spcPct val="135000"/>
              </a:lnSpc>
              <a:buNone/>
            </a:pPr>
            <a:r>
              <a:rPr lang="en-US" sz="1200" dirty="0">
                <a:solidFill>
                  <a:srgbClr val="7A9ACC"/>
                </a:solidFill>
                <a:latin typeface="Calibri" pitchFamily="34" charset="0"/>
                <a:ea typeface="Calibri" pitchFamily="34" charset="-122"/>
                <a:cs typeface="Calibri" pitchFamily="34" charset="-120"/>
              </a:rPr>
              <a:t>Open ChatGPT on any phone or laptop in the room.
</a:t>
            </a:r>
            <a:pPr indent="0" marL="0">
              <a:lnSpc>
                <a:spcPct val="135000"/>
              </a:lnSpc>
              <a:buNone/>
            </a:pPr>
            <a:r>
              <a:rPr lang="en-US" sz="1200" b="1" dirty="0">
                <a:solidFill>
                  <a:srgbClr val="FF3B5C"/>
                </a:solidFill>
                <a:latin typeface="Calibri" pitchFamily="34" charset="0"/>
                <a:ea typeface="Calibri" pitchFamily="34" charset="-122"/>
                <a:cs typeface="Calibri" pitchFamily="34" charset="-120"/>
              </a:rPr>
              <a:t>Step 2 (BAD prompt): </a:t>
            </a:r>
            <a:pPr indent="0" marL="0">
              <a:lnSpc>
                <a:spcPct val="135000"/>
              </a:lnSpc>
              <a:buNone/>
            </a:pPr>
            <a:r>
              <a:rPr lang="en-US" sz="1200" dirty="0">
                <a:solidFill>
                  <a:srgbClr val="7A9ACC"/>
                </a:solidFill>
                <a:latin typeface="Calibri" pitchFamily="34" charset="0"/>
                <a:ea typeface="Calibri" pitchFamily="34" charset="-122"/>
                <a:cs typeface="Calibri" pitchFamily="34" charset="-120"/>
              </a:rPr>
              <a:t>Type: 'Explain photosynthesis'
</a:t>
            </a:r>
            <a:pPr indent="0" marL="0">
              <a:lnSpc>
                <a:spcPct val="135000"/>
              </a:lnSpc>
              <a:buNone/>
            </a:pPr>
            <a:r>
              <a:rPr lang="en-US" sz="1200" b="1" dirty="0">
                <a:solidFill>
                  <a:srgbClr val="6AFB5A"/>
                </a:solidFill>
                <a:latin typeface="Calibri" pitchFamily="34" charset="0"/>
                <a:ea typeface="Calibri" pitchFamily="34" charset="-122"/>
                <a:cs typeface="Calibri" pitchFamily="34" charset="-120"/>
              </a:rPr>
              <a:t>Step 3 (GOOD prompt): </a:t>
            </a:r>
            <a:pPr indent="0" marL="0">
              <a:lnSpc>
                <a:spcPct val="135000"/>
              </a:lnSpc>
              <a:buNone/>
            </a:pPr>
            <a:r>
              <a:rPr lang="en-US" sz="1200" dirty="0">
                <a:solidFill>
                  <a:srgbClr val="7A9ACC"/>
                </a:solidFill>
                <a:latin typeface="Calibri" pitchFamily="34" charset="0"/>
                <a:ea typeface="Calibri" pitchFamily="34" charset="-122"/>
                <a:cs typeface="Calibri" pitchFamily="34" charset="-120"/>
              </a:rPr>
              <a:t>Type: 'Explain photosynthesis to a Class 10 student who already understands diffusion but gets confused by the light-dependent reaction. Use an analogy involving a factory.'
</a:t>
            </a:r>
            <a:pPr indent="0" marL="0">
              <a:lnSpc>
                <a:spcPct val="135000"/>
              </a:lnSpc>
              <a:buNone/>
            </a:pPr>
            <a:r>
              <a:rPr lang="en-US" sz="1200" b="1" dirty="0">
                <a:solidFill>
                  <a:srgbClr val="EEF4FF"/>
                </a:solidFill>
                <a:latin typeface="Calibri" pitchFamily="34" charset="0"/>
                <a:ea typeface="Calibri" pitchFamily="34" charset="-122"/>
                <a:cs typeface="Calibri" pitchFamily="34" charset="-120"/>
              </a:rPr>
              <a:t>Step 4: </a:t>
            </a:r>
            <a:pPr indent="0" marL="0">
              <a:lnSpc>
                <a:spcPct val="135000"/>
              </a:lnSpc>
              <a:buNone/>
            </a:pPr>
            <a:r>
              <a:rPr lang="en-US" sz="1200" dirty="0">
                <a:solidFill>
                  <a:srgbClr val="7A9ACC"/>
                </a:solidFill>
                <a:latin typeface="Calibri" pitchFamily="34" charset="0"/>
                <a:ea typeface="Calibri" pitchFamily="34" charset="-122"/>
                <a:cs typeface="Calibri" pitchFamily="34" charset="-120"/>
              </a:rPr>
              <a:t>Compare the two responses. Which one would you actually use for studying?</a:t>
            </a:r>
            <a:endParaRPr lang="en-US" sz="1200" dirty="0"/>
          </a:p>
        </p:txBody>
      </p:sp>
      <p:sp>
        <p:nvSpPr>
          <p:cNvPr id="7" name="Text 4"/>
          <p:cNvSpPr/>
          <p:nvPr/>
        </p:nvSpPr>
        <p:spPr>
          <a:xfrm>
            <a:off x="457200" y="4187952"/>
            <a:ext cx="8229600" cy="320040"/>
          </a:xfrm>
          <a:prstGeom prst="rect">
            <a:avLst/>
          </a:prstGeom>
          <a:noFill/>
          <a:ln/>
        </p:spPr>
        <p:txBody>
          <a:bodyPr wrap="square" rtlCol="0" anchor="ctr"/>
          <a:lstStyle/>
          <a:p>
            <a:pPr algn="ctr" indent="0" marL="0">
              <a:buNone/>
            </a:pPr>
            <a:r>
              <a:rPr lang="en-US" sz="1300" b="1" dirty="0">
                <a:solidFill>
                  <a:srgbClr val="EEF4FF"/>
                </a:solidFill>
                <a:latin typeface="Calibri" pitchFamily="34" charset="0"/>
                <a:ea typeface="Calibri" pitchFamily="34" charset="-122"/>
                <a:cs typeface="Calibri" pitchFamily="34" charset="-120"/>
              </a:rPr>
              <a:t>This is 3 minutes of what students experience across 24 sessions.</a:t>
            </a:r>
            <a:endParaRPr lang="en-US" sz="1300" dirty="0"/>
          </a:p>
        </p:txBody>
      </p:sp>
      <p:sp>
        <p:nvSpPr>
          <p:cNvPr id="8" name="Text 5"/>
          <p:cNvSpPr/>
          <p:nvPr/>
        </p:nvSpPr>
        <p:spPr>
          <a:xfrm>
            <a:off x="457200" y="4526280"/>
            <a:ext cx="8229600" cy="274320"/>
          </a:xfrm>
          <a:prstGeom prst="rect">
            <a:avLst/>
          </a:prstGeom>
          <a:noFill/>
          <a:ln/>
        </p:spPr>
        <p:txBody>
          <a:bodyPr wrap="square" rtlCol="0" anchor="ctr"/>
          <a:lstStyle/>
          <a:p>
            <a:pPr algn="ctr" indent="0" marL="0">
              <a:buNone/>
            </a:pPr>
            <a:r>
              <a:rPr lang="en-US" sz="1300" i="1" dirty="0">
                <a:solidFill>
                  <a:srgbClr val="00C4F0"/>
                </a:solidFill>
                <a:latin typeface="Calibri" pitchFamily="34" charset="0"/>
                <a:ea typeface="Calibri" pitchFamily="34" charset="-122"/>
                <a:cs typeface="Calibri" pitchFamily="34" charset="-120"/>
              </a:rPr>
              <a:t>After 8 weeks, they don't just know this. They do it automatically.</a:t>
            </a:r>
            <a:endParaRPr lang="en-US" sz="1300" dirty="0"/>
          </a:p>
        </p:txBody>
      </p:sp>
      <p:sp>
        <p:nvSpPr>
          <p:cNvPr id="9" name="Text 6"/>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310"/>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94360"/>
            <a:ext cx="8229600" cy="411480"/>
          </a:xfrm>
          <a:prstGeom prst="rect">
            <a:avLst/>
          </a:prstGeom>
          <a:noFill/>
          <a:ln/>
        </p:spPr>
        <p:txBody>
          <a:bodyPr wrap="square" rtlCol="0" anchor="ctr"/>
          <a:lstStyle/>
          <a:p>
            <a:pPr algn="ctr" indent="0" marL="0">
              <a:buNone/>
            </a:pPr>
            <a:r>
              <a:rPr lang="en-US" sz="1800" i="1" dirty="0">
                <a:solidFill>
                  <a:srgbClr val="7A9ACC"/>
                </a:solidFill>
                <a:latin typeface="Calibri" pitchFamily="34" charset="0"/>
                <a:ea typeface="Calibri" pitchFamily="34" charset="-122"/>
                <a:cs typeface="Calibri" pitchFamily="34" charset="-120"/>
              </a:rPr>
              <a:t>A message for every student in this room.</a:t>
            </a:r>
            <a:endParaRPr lang="en-US" sz="1800" dirty="0"/>
          </a:p>
        </p:txBody>
      </p:sp>
      <p:sp>
        <p:nvSpPr>
          <p:cNvPr id="4" name="Text 1"/>
          <p:cNvSpPr/>
          <p:nvPr/>
        </p:nvSpPr>
        <p:spPr>
          <a:xfrm>
            <a:off x="457200" y="1078992"/>
            <a:ext cx="8229600" cy="2011680"/>
          </a:xfrm>
          <a:prstGeom prst="rect">
            <a:avLst/>
          </a:prstGeom>
          <a:noFill/>
          <a:ln/>
        </p:spPr>
        <p:txBody>
          <a:bodyPr wrap="square" rtlCol="0" anchor="ctr"/>
          <a:lstStyle/>
          <a:p>
            <a:pPr algn="ctr" indent="0" marL="0">
              <a:lnSpc>
                <a:spcPct val="110000"/>
              </a:lnSpc>
              <a:buNone/>
            </a:pPr>
            <a:r>
              <a:rPr lang="en-US" sz="3600" b="1" dirty="0">
                <a:solidFill>
                  <a:srgbClr val="EEF4FF"/>
                </a:solidFill>
                <a:latin typeface="Calibri" pitchFamily="34" charset="0"/>
                <a:ea typeface="Calibri" pitchFamily="34" charset="-122"/>
                <a:cs typeface="Calibri" pitchFamily="34" charset="-120"/>
              </a:rPr>
              <a:t>Your batch will graduate</a:t>
            </a:r>
            <a:endParaRPr lang="en-US" sz="3600" dirty="0"/>
          </a:p>
          <a:p>
            <a:pPr algn="ctr" indent="0" marL="0">
              <a:lnSpc>
                <a:spcPct val="110000"/>
              </a:lnSpc>
              <a:buNone/>
            </a:pPr>
            <a:r>
              <a:rPr lang="en-US" sz="3600" b="1" dirty="0">
                <a:solidFill>
                  <a:srgbClr val="EEF4FF"/>
                </a:solidFill>
                <a:latin typeface="Calibri" pitchFamily="34" charset="0"/>
                <a:ea typeface="Calibri" pitchFamily="34" charset="-122"/>
                <a:cs typeface="Calibri" pitchFamily="34" charset="-120"/>
              </a:rPr>
              <a:t>into the most</a:t>
            </a:r>
            <a:endParaRPr lang="en-US" sz="3600" dirty="0"/>
          </a:p>
          <a:p>
            <a:pPr algn="ctr" indent="0" marL="0">
              <a:lnSpc>
                <a:spcPct val="110000"/>
              </a:lnSpc>
              <a:buNone/>
            </a:pPr>
            <a:r>
              <a:rPr lang="en-US" sz="3600" b="1" dirty="0">
                <a:solidFill>
                  <a:srgbClr val="EEF4FF"/>
                </a:solidFill>
                <a:latin typeface="Calibri" pitchFamily="34" charset="0"/>
                <a:ea typeface="Calibri" pitchFamily="34" charset="-122"/>
                <a:cs typeface="Calibri" pitchFamily="34" charset="-120"/>
              </a:rPr>
              <a:t>competitive job market</a:t>
            </a:r>
            <a:endParaRPr lang="en-US" sz="3600" dirty="0"/>
          </a:p>
          <a:p>
            <a:pPr algn="ctr" indent="0" marL="0">
              <a:lnSpc>
                <a:spcPct val="110000"/>
              </a:lnSpc>
              <a:buNone/>
            </a:pPr>
            <a:r>
              <a:rPr lang="en-US" sz="3600" b="1" dirty="0">
                <a:solidFill>
                  <a:srgbClr val="EEF4FF"/>
                </a:solidFill>
                <a:latin typeface="Calibri" pitchFamily="34" charset="0"/>
                <a:ea typeface="Calibri" pitchFamily="34" charset="-122"/>
                <a:cs typeface="Calibri" pitchFamily="34" charset="-120"/>
              </a:rPr>
              <a:t>in history.</a:t>
            </a:r>
            <a:endParaRPr lang="en-US" sz="3600" dirty="0"/>
          </a:p>
        </p:txBody>
      </p:sp>
      <p:sp>
        <p:nvSpPr>
          <p:cNvPr id="5" name="Text 2"/>
          <p:cNvSpPr/>
          <p:nvPr/>
        </p:nvSpPr>
        <p:spPr>
          <a:xfrm>
            <a:off x="731520" y="3200400"/>
            <a:ext cx="7680960" cy="822960"/>
          </a:xfrm>
          <a:prstGeom prst="rect">
            <a:avLst/>
          </a:prstGeom>
          <a:noFill/>
          <a:ln/>
        </p:spPr>
        <p:txBody>
          <a:bodyPr wrap="square" rtlCol="0" anchor="ctr"/>
          <a:lstStyle/>
          <a:p>
            <a:pPr algn="ctr" indent="0" marL="0">
              <a:lnSpc>
                <a:spcPct val="150000"/>
              </a:lnSpc>
              <a:buNone/>
            </a:pPr>
            <a:r>
              <a:rPr lang="en-US" sz="1500" dirty="0">
                <a:solidFill>
                  <a:srgbClr val="7A9ACC"/>
                </a:solidFill>
                <a:latin typeface="Calibri" pitchFamily="34" charset="0"/>
                <a:ea typeface="Calibri" pitchFamily="34" charset="-122"/>
                <a:cs typeface="Calibri" pitchFamily="34" charset="-120"/>
              </a:rPr>
              <a:t>The students who master AI now will define the pace for everyone else.</a:t>
            </a:r>
            <a:endParaRPr lang="en-US" sz="1500" dirty="0"/>
          </a:p>
          <a:p>
            <a:pPr algn="ctr" indent="0" marL="0">
              <a:lnSpc>
                <a:spcPct val="150000"/>
              </a:lnSpc>
              <a:buNone/>
            </a:pPr>
            <a:r>
              <a:rPr lang="en-US" sz="1500" dirty="0">
                <a:solidFill>
                  <a:srgbClr val="7A9ACC"/>
                </a:solidFill>
                <a:latin typeface="Calibri" pitchFamily="34" charset="0"/>
                <a:ea typeface="Calibri" pitchFamily="34" charset="-122"/>
                <a:cs typeface="Calibri" pitchFamily="34" charset="-120"/>
              </a:rPr>
              <a:t>The ones who wait will spend their careers catching up.</a:t>
            </a:r>
            <a:endParaRPr lang="en-US" sz="1500" dirty="0"/>
          </a:p>
        </p:txBody>
      </p:sp>
      <p:sp>
        <p:nvSpPr>
          <p:cNvPr id="6" name="Shape 3"/>
          <p:cNvSpPr/>
          <p:nvPr/>
        </p:nvSpPr>
        <p:spPr>
          <a:xfrm>
            <a:off x="1371600" y="4114800"/>
            <a:ext cx="6400800" cy="749808"/>
          </a:xfrm>
          <a:prstGeom prst="roundRect">
            <a:avLst>
              <a:gd name="adj" fmla="val 14634"/>
            </a:avLst>
          </a:prstGeom>
          <a:solidFill>
            <a:srgbClr val="1554F0"/>
          </a:solidFill>
          <a:ln w="12700">
            <a:solidFill>
              <a:srgbClr val="1554F0"/>
            </a:solidFill>
            <a:prstDash val="solid"/>
          </a:ln>
          <a:effectLst>
            <a:outerShdw sx="100000" sy="100000" kx="0" ky="0" algn="bl" rotWithShape="0" blurRad="177800" dist="50800" dir="2700000">
              <a:srgbClr val="000000">
                <a:alpha val="50000"/>
              </a:srgbClr>
            </a:outerShdw>
          </a:effectLst>
        </p:spPr>
      </p:sp>
      <p:sp>
        <p:nvSpPr>
          <p:cNvPr id="7" name="Text 4"/>
          <p:cNvSpPr/>
          <p:nvPr/>
        </p:nvSpPr>
        <p:spPr>
          <a:xfrm>
            <a:off x="1371600" y="4114800"/>
            <a:ext cx="6400800" cy="749808"/>
          </a:xfrm>
          <a:prstGeom prst="rect">
            <a:avLst/>
          </a:prstGeom>
          <a:noFill/>
          <a:ln/>
        </p:spPr>
        <p:txBody>
          <a:bodyPr wrap="square" rtlCol="0" anchor="ctr"/>
          <a:lstStyle/>
          <a:p>
            <a:pPr algn="ctr" indent="0" marL="0">
              <a:lnSpc>
                <a:spcPct val="120000"/>
              </a:lnSpc>
              <a:buNone/>
            </a:pPr>
            <a:r>
              <a:rPr lang="en-US" sz="1600" b="1" dirty="0">
                <a:solidFill>
                  <a:srgbClr val="EEF4FF"/>
                </a:solidFill>
                <a:latin typeface="Calibri" pitchFamily="34" charset="0"/>
                <a:ea typeface="Calibri" pitchFamily="34" charset="-122"/>
                <a:cs typeface="Calibri" pitchFamily="34" charset="-120"/>
              </a:rPr>
              <a:t>The window to be first is open right now.</a:t>
            </a:r>
            <a:endParaRPr lang="en-US" sz="1600" dirty="0"/>
          </a:p>
          <a:p>
            <a:pPr algn="ctr" indent="0" marL="0">
              <a:lnSpc>
                <a:spcPct val="120000"/>
              </a:lnSpc>
              <a:buNone/>
            </a:pPr>
            <a:r>
              <a:rPr lang="en-US" sz="1600" b="1" dirty="0">
                <a:solidFill>
                  <a:srgbClr val="EEF4FF"/>
                </a:solidFill>
                <a:latin typeface="Calibri" pitchFamily="34" charset="0"/>
                <a:ea typeface="Calibri" pitchFamily="34" charset="-122"/>
                <a:cs typeface="Calibri" pitchFamily="34" charset="-120"/>
              </a:rPr>
              <a:t>It won't stay open.</a:t>
            </a:r>
            <a:endParaRPr lang="en-US" sz="1600" dirty="0"/>
          </a:p>
        </p:txBody>
      </p:sp>
      <p:sp>
        <p:nvSpPr>
          <p:cNvPr id="8" name="Text 5"/>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200" b="1" dirty="0">
                <a:solidFill>
                  <a:srgbClr val="EEF4FF"/>
                </a:solidFill>
                <a:latin typeface="Calibri" pitchFamily="34" charset="0"/>
                <a:ea typeface="Calibri" pitchFamily="34" charset="-122"/>
                <a:cs typeface="Calibri" pitchFamily="34" charset="-120"/>
              </a:rPr>
              <a:t>Questions we always get asked.</a:t>
            </a:r>
            <a:endParaRPr lang="en-US" sz="2200" dirty="0"/>
          </a:p>
        </p:txBody>
      </p:sp>
      <p:sp>
        <p:nvSpPr>
          <p:cNvPr id="4" name="Shape 1"/>
          <p:cNvSpPr/>
          <p:nvPr/>
        </p:nvSpPr>
        <p:spPr>
          <a:xfrm>
            <a:off x="320040" y="1078992"/>
            <a:ext cx="8503920" cy="859536"/>
          </a:xfrm>
          <a:prstGeom prst="roundRect">
            <a:avLst>
              <a:gd name="adj" fmla="val 8511"/>
            </a:avLst>
          </a:prstGeom>
          <a:solidFill>
            <a:srgbClr val="0E1C38"/>
          </a:solidFill>
          <a:ln w="12700">
            <a:solidFill>
              <a:srgbClr val="1A2D52"/>
            </a:solidFill>
            <a:prstDash val="solid"/>
          </a:ln>
          <a:effectLst>
            <a:outerShdw sx="100000" sy="100000" kx="0" ky="0" algn="bl" rotWithShape="0" blurRad="50800" dist="25400" dir="2700000">
              <a:srgbClr val="000000">
                <a:alpha val="15000"/>
              </a:srgbClr>
            </a:outerShdw>
          </a:effectLst>
        </p:spPr>
      </p:sp>
      <p:sp>
        <p:nvSpPr>
          <p:cNvPr id="5" name="Text 2"/>
          <p:cNvSpPr/>
          <p:nvPr/>
        </p:nvSpPr>
        <p:spPr>
          <a:xfrm>
            <a:off x="457200" y="1115568"/>
            <a:ext cx="8229600" cy="292608"/>
          </a:xfrm>
          <a:prstGeom prst="rect">
            <a:avLst/>
          </a:prstGeom>
          <a:noFill/>
          <a:ln/>
        </p:spPr>
        <p:txBody>
          <a:bodyPr wrap="square" rtlCol="0" anchor="ctr"/>
          <a:lstStyle/>
          <a:p>
            <a:pPr indent="0" marL="0">
              <a:buNone/>
            </a:pPr>
            <a:r>
              <a:rPr lang="en-US" sz="1200" b="1" dirty="0">
                <a:solidFill>
                  <a:srgbClr val="00C4F0"/>
                </a:solidFill>
                <a:latin typeface="Calibri" pitchFamily="34" charset="0"/>
                <a:ea typeface="Calibri" pitchFamily="34" charset="-122"/>
                <a:cs typeface="Calibri" pitchFamily="34" charset="-120"/>
              </a:rPr>
              <a:t>Q: Is this just teaching students to use ChatGPT?</a:t>
            </a:r>
            <a:endParaRPr lang="en-US" sz="1200" dirty="0"/>
          </a:p>
        </p:txBody>
      </p:sp>
      <p:sp>
        <p:nvSpPr>
          <p:cNvPr id="6" name="Text 3"/>
          <p:cNvSpPr/>
          <p:nvPr/>
        </p:nvSpPr>
        <p:spPr>
          <a:xfrm>
            <a:off x="457200" y="1371600"/>
            <a:ext cx="8229600" cy="512064"/>
          </a:xfrm>
          <a:prstGeom prst="rect">
            <a:avLst/>
          </a:prstGeom>
          <a:noFill/>
          <a:ln/>
        </p:spPr>
        <p:txBody>
          <a:bodyPr wrap="square" rtlCol="0" anchor="t"/>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A: No. ChatGPT is a tool we use in one module. AILA teaches AI literacy — critical thinking, ethics, workflow design, and subject integration. Students who complete this can evaluate, adapt, and use any AI tool that exists — including tools that don't exist yet.</a:t>
            </a:r>
            <a:endParaRPr lang="en-US" sz="1100" dirty="0"/>
          </a:p>
        </p:txBody>
      </p:sp>
      <p:sp>
        <p:nvSpPr>
          <p:cNvPr id="7" name="Shape 4"/>
          <p:cNvSpPr/>
          <p:nvPr/>
        </p:nvSpPr>
        <p:spPr>
          <a:xfrm>
            <a:off x="320040" y="2011680"/>
            <a:ext cx="8503920" cy="859536"/>
          </a:xfrm>
          <a:prstGeom prst="roundRect">
            <a:avLst>
              <a:gd name="adj" fmla="val 8511"/>
            </a:avLst>
          </a:prstGeom>
          <a:solidFill>
            <a:srgbClr val="0E1C38"/>
          </a:solidFill>
          <a:ln w="12700">
            <a:solidFill>
              <a:srgbClr val="1A2D52"/>
            </a:solidFill>
            <a:prstDash val="solid"/>
          </a:ln>
          <a:effectLst>
            <a:outerShdw sx="100000" sy="100000" kx="0" ky="0" algn="bl" rotWithShape="0" blurRad="50800" dist="25400" dir="2700000">
              <a:srgbClr val="000000">
                <a:alpha val="15000"/>
              </a:srgbClr>
            </a:outerShdw>
          </a:effectLst>
        </p:spPr>
      </p:sp>
      <p:sp>
        <p:nvSpPr>
          <p:cNvPr id="8" name="Text 5"/>
          <p:cNvSpPr/>
          <p:nvPr/>
        </p:nvSpPr>
        <p:spPr>
          <a:xfrm>
            <a:off x="457200" y="2048256"/>
            <a:ext cx="8229600" cy="292608"/>
          </a:xfrm>
          <a:prstGeom prst="rect">
            <a:avLst/>
          </a:prstGeom>
          <a:noFill/>
          <a:ln/>
        </p:spPr>
        <p:txBody>
          <a:bodyPr wrap="square" rtlCol="0" anchor="ctr"/>
          <a:lstStyle/>
          <a:p>
            <a:pPr indent="0" marL="0">
              <a:buNone/>
            </a:pPr>
            <a:r>
              <a:rPr lang="en-US" sz="1200" b="1" dirty="0">
                <a:solidFill>
                  <a:srgbClr val="00C4F0"/>
                </a:solidFill>
                <a:latin typeface="Calibri" pitchFamily="34" charset="0"/>
                <a:ea typeface="Calibri" pitchFamily="34" charset="-122"/>
                <a:cs typeface="Calibri" pitchFamily="34" charset="-120"/>
              </a:rPr>
              <a:t>Q: What about academic integrity — won't this encourage cheating?</a:t>
            </a:r>
            <a:endParaRPr lang="en-US" sz="1200" dirty="0"/>
          </a:p>
        </p:txBody>
      </p:sp>
      <p:sp>
        <p:nvSpPr>
          <p:cNvPr id="9" name="Text 6"/>
          <p:cNvSpPr/>
          <p:nvPr/>
        </p:nvSpPr>
        <p:spPr>
          <a:xfrm>
            <a:off x="457200" y="2304288"/>
            <a:ext cx="8229600" cy="512064"/>
          </a:xfrm>
          <a:prstGeom prst="rect">
            <a:avLst/>
          </a:prstGeom>
          <a:noFill/>
          <a:ln/>
        </p:spPr>
        <p:txBody>
          <a:bodyPr wrap="square" rtlCol="0" anchor="t"/>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A: The opposite. Module 5 covers AI ethics and plagiarism in depth. Students who understand how AI works are far better at using it honestly — and at spotting when others don't. Structured education reduces misuse, it doesn't enable it.</a:t>
            </a:r>
            <a:endParaRPr lang="en-US" sz="1100" dirty="0"/>
          </a:p>
        </p:txBody>
      </p:sp>
      <p:sp>
        <p:nvSpPr>
          <p:cNvPr id="10" name="Shape 7"/>
          <p:cNvSpPr/>
          <p:nvPr/>
        </p:nvSpPr>
        <p:spPr>
          <a:xfrm>
            <a:off x="320040" y="2944368"/>
            <a:ext cx="8503920" cy="859536"/>
          </a:xfrm>
          <a:prstGeom prst="roundRect">
            <a:avLst>
              <a:gd name="adj" fmla="val 8511"/>
            </a:avLst>
          </a:prstGeom>
          <a:solidFill>
            <a:srgbClr val="0E1C38"/>
          </a:solidFill>
          <a:ln w="12700">
            <a:solidFill>
              <a:srgbClr val="1A2D52"/>
            </a:solidFill>
            <a:prstDash val="solid"/>
          </a:ln>
          <a:effectLst>
            <a:outerShdw sx="100000" sy="100000" kx="0" ky="0" algn="bl" rotWithShape="0" blurRad="50800" dist="25400" dir="2700000">
              <a:srgbClr val="000000">
                <a:alpha val="15000"/>
              </a:srgbClr>
            </a:outerShdw>
          </a:effectLst>
        </p:spPr>
      </p:sp>
      <p:sp>
        <p:nvSpPr>
          <p:cNvPr id="11" name="Text 8"/>
          <p:cNvSpPr/>
          <p:nvPr/>
        </p:nvSpPr>
        <p:spPr>
          <a:xfrm>
            <a:off x="457200" y="2980944"/>
            <a:ext cx="8229600" cy="292608"/>
          </a:xfrm>
          <a:prstGeom prst="rect">
            <a:avLst/>
          </a:prstGeom>
          <a:noFill/>
          <a:ln/>
        </p:spPr>
        <p:txBody>
          <a:bodyPr wrap="square" rtlCol="0" anchor="ctr"/>
          <a:lstStyle/>
          <a:p>
            <a:pPr indent="0" marL="0">
              <a:buNone/>
            </a:pPr>
            <a:r>
              <a:rPr lang="en-US" sz="1200" b="1" dirty="0">
                <a:solidFill>
                  <a:srgbClr val="00C4F0"/>
                </a:solidFill>
                <a:latin typeface="Calibri" pitchFamily="34" charset="0"/>
                <a:ea typeface="Calibri" pitchFamily="34" charset="-122"/>
                <a:cs typeface="Calibri" pitchFamily="34" charset="-120"/>
              </a:rPr>
              <a:t>Q: Our timetable is already full. How does this fit?</a:t>
            </a:r>
            <a:endParaRPr lang="en-US" sz="1200" dirty="0"/>
          </a:p>
        </p:txBody>
      </p:sp>
      <p:sp>
        <p:nvSpPr>
          <p:cNvPr id="12" name="Text 9"/>
          <p:cNvSpPr/>
          <p:nvPr/>
        </p:nvSpPr>
        <p:spPr>
          <a:xfrm>
            <a:off x="457200" y="3236976"/>
            <a:ext cx="8229600" cy="512064"/>
          </a:xfrm>
          <a:prstGeom prst="rect">
            <a:avLst/>
          </a:prstGeom>
          <a:noFill/>
          <a:ln/>
        </p:spPr>
        <p:txBody>
          <a:bodyPr wrap="square" rtlCol="0" anchor="t"/>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A: We design around your existing schedule. Sessions can run during activity periods, free periods, or after school. We've operated in schedules that initially seemed impossible. The curriculum is flexible by design.</a:t>
            </a:r>
            <a:endParaRPr lang="en-US" sz="1100" dirty="0"/>
          </a:p>
        </p:txBody>
      </p:sp>
      <p:sp>
        <p:nvSpPr>
          <p:cNvPr id="13" name="Shape 10"/>
          <p:cNvSpPr/>
          <p:nvPr/>
        </p:nvSpPr>
        <p:spPr>
          <a:xfrm>
            <a:off x="320040" y="3877056"/>
            <a:ext cx="8503920" cy="859536"/>
          </a:xfrm>
          <a:prstGeom prst="roundRect">
            <a:avLst>
              <a:gd name="adj" fmla="val 8511"/>
            </a:avLst>
          </a:prstGeom>
          <a:solidFill>
            <a:srgbClr val="0E1C38"/>
          </a:solidFill>
          <a:ln w="12700">
            <a:solidFill>
              <a:srgbClr val="1A2D52"/>
            </a:solidFill>
            <a:prstDash val="solid"/>
          </a:ln>
          <a:effectLst>
            <a:outerShdw sx="100000" sy="100000" kx="0" ky="0" algn="bl" rotWithShape="0" blurRad="50800" dist="25400" dir="2700000">
              <a:srgbClr val="000000">
                <a:alpha val="15000"/>
              </a:srgbClr>
            </a:outerShdw>
          </a:effectLst>
        </p:spPr>
      </p:sp>
      <p:sp>
        <p:nvSpPr>
          <p:cNvPr id="14" name="Text 11"/>
          <p:cNvSpPr/>
          <p:nvPr/>
        </p:nvSpPr>
        <p:spPr>
          <a:xfrm>
            <a:off x="457200" y="3913632"/>
            <a:ext cx="8229600" cy="292608"/>
          </a:xfrm>
          <a:prstGeom prst="rect">
            <a:avLst/>
          </a:prstGeom>
          <a:noFill/>
          <a:ln/>
        </p:spPr>
        <p:txBody>
          <a:bodyPr wrap="square" rtlCol="0" anchor="ctr"/>
          <a:lstStyle/>
          <a:p>
            <a:pPr indent="0" marL="0">
              <a:buNone/>
            </a:pPr>
            <a:r>
              <a:rPr lang="en-US" sz="1200" b="1" dirty="0">
                <a:solidFill>
                  <a:srgbClr val="00C4F0"/>
                </a:solidFill>
                <a:latin typeface="Calibri" pitchFamily="34" charset="0"/>
                <a:ea typeface="Calibri" pitchFamily="34" charset="-122"/>
                <a:cs typeface="Calibri" pitchFamily="34" charset="-120"/>
              </a:rPr>
              <a:t>Q: What if the AI tools keep changing?</a:t>
            </a:r>
            <a:endParaRPr lang="en-US" sz="1200" dirty="0"/>
          </a:p>
        </p:txBody>
      </p:sp>
      <p:sp>
        <p:nvSpPr>
          <p:cNvPr id="15" name="Text 12"/>
          <p:cNvSpPr/>
          <p:nvPr/>
        </p:nvSpPr>
        <p:spPr>
          <a:xfrm>
            <a:off x="457200" y="4169664"/>
            <a:ext cx="8229600" cy="512064"/>
          </a:xfrm>
          <a:prstGeom prst="rect">
            <a:avLst/>
          </a:prstGeom>
          <a:noFill/>
          <a:ln/>
        </p:spPr>
        <p:txBody>
          <a:bodyPr wrap="square" rtlCol="0" anchor="t"/>
          <a:lstStyle/>
          <a:p>
            <a:pPr indent="0" marL="0">
              <a:lnSpc>
                <a:spcPct val="120000"/>
              </a:lnSpc>
              <a:buNone/>
            </a:pPr>
            <a:r>
              <a:rPr lang="en-US" sz="1100" dirty="0">
                <a:solidFill>
                  <a:srgbClr val="7A9ACC"/>
                </a:solidFill>
                <a:latin typeface="Calibri" pitchFamily="34" charset="0"/>
                <a:ea typeface="Calibri" pitchFamily="34" charset="-122"/>
                <a:cs typeface="Calibri" pitchFamily="34" charset="-120"/>
              </a:rPr>
              <a:t>A: They will. That's exactly why our program teaches principles, not specific tools. Prompt engineering logic works with any AI. Critical evaluation works with any AI. Students leave with transferable skills, not tool-specific knowledge.</a:t>
            </a:r>
            <a:endParaRPr lang="en-US" sz="1100" dirty="0"/>
          </a:p>
        </p:txBody>
      </p:sp>
      <p:sp>
        <p:nvSpPr>
          <p:cNvPr id="16" name="Text 13"/>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0C18"/>
        </a:solidFill>
      </p:bgPr>
    </p:bg>
    <p:spTree>
      <p:nvGrpSpPr>
        <p:cNvPr id="1" name=""/>
        <p:cNvGrpSpPr/>
        <p:nvPr/>
      </p:nvGrpSpPr>
      <p:grpSpPr>
        <a:xfrm>
          <a:off x="0" y="0"/>
          <a:ext cx="0" cy="0"/>
          <a:chOff x="0" y="0"/>
          <a:chExt cx="0" cy="0"/>
        </a:xfrm>
      </p:grpSpPr>
      <p:pic>
        <p:nvPicPr>
          <p:cNvPr id="2" name="Image 0" descr="UpMentor">    </p:cNvPr>
          <p:cNvPicPr>
            <a:picLocks noChangeAspect="1"/>
          </p:cNvPicPr>
          <p:nvPr/>
        </p:nvPicPr>
        <p:blipFill>
          <a:blip r:embed="rId1"/>
          <a:stretch>
            <a:fillRect/>
          </a:stretch>
        </p:blipFill>
        <p:spPr>
          <a:xfrm>
            <a:off x="320040" y="164592"/>
            <a:ext cx="1075334" cy="384048"/>
          </a:xfrm>
          <a:prstGeom prst="rect">
            <a:avLst/>
          </a:prstGeom>
        </p:spPr>
      </p:pic>
      <p:sp>
        <p:nvSpPr>
          <p:cNvPr id="3" name="Text 0"/>
          <p:cNvSpPr/>
          <p:nvPr/>
        </p:nvSpPr>
        <p:spPr>
          <a:xfrm>
            <a:off x="457200" y="566928"/>
            <a:ext cx="8229600" cy="457200"/>
          </a:xfrm>
          <a:prstGeom prst="rect">
            <a:avLst/>
          </a:prstGeom>
          <a:noFill/>
          <a:ln/>
        </p:spPr>
        <p:txBody>
          <a:bodyPr wrap="square" rtlCol="0" anchor="ctr"/>
          <a:lstStyle/>
          <a:p>
            <a:pPr indent="0" marL="0">
              <a:buNone/>
            </a:pPr>
            <a:r>
              <a:rPr lang="en-US" sz="2400" b="1" dirty="0">
                <a:solidFill>
                  <a:srgbClr val="EEF4FF"/>
                </a:solidFill>
                <a:latin typeface="Calibri" pitchFamily="34" charset="0"/>
                <a:ea typeface="Calibri" pitchFamily="34" charset="-122"/>
                <a:cs typeface="Calibri" pitchFamily="34" charset="-120"/>
              </a:rPr>
              <a:t>What happens next.</a:t>
            </a:r>
            <a:endParaRPr lang="en-US" sz="2400" dirty="0"/>
          </a:p>
        </p:txBody>
      </p:sp>
      <p:sp>
        <p:nvSpPr>
          <p:cNvPr id="4" name="Shape 1"/>
          <p:cNvSpPr/>
          <p:nvPr/>
        </p:nvSpPr>
        <p:spPr>
          <a:xfrm>
            <a:off x="320040" y="1170432"/>
            <a:ext cx="749808" cy="749808"/>
          </a:xfrm>
          <a:prstGeom prst="ellipse">
            <a:avLst/>
          </a:prstGeom>
          <a:solidFill>
            <a:srgbClr val="00C4F0">
              <a:alpha val="20000"/>
            </a:srgbClr>
          </a:solidFill>
          <a:ln w="12700">
            <a:solidFill>
              <a:srgbClr val="00C4F0"/>
            </a:solidFill>
            <a:prstDash val="solid"/>
          </a:ln>
        </p:spPr>
      </p:sp>
      <p:sp>
        <p:nvSpPr>
          <p:cNvPr id="5" name="Text 2"/>
          <p:cNvSpPr/>
          <p:nvPr/>
        </p:nvSpPr>
        <p:spPr>
          <a:xfrm>
            <a:off x="320040" y="1170432"/>
            <a:ext cx="749808" cy="749808"/>
          </a:xfrm>
          <a:prstGeom prst="rect">
            <a:avLst/>
          </a:prstGeom>
          <a:noFill/>
          <a:ln/>
        </p:spPr>
        <p:txBody>
          <a:bodyPr wrap="square" rtlCol="0" anchor="ctr"/>
          <a:lstStyle/>
          <a:p>
            <a:pPr algn="ctr" indent="0" marL="0">
              <a:buNone/>
            </a:pPr>
            <a:r>
              <a:rPr lang="en-US" sz="2000" b="1" dirty="0">
                <a:solidFill>
                  <a:srgbClr val="00C4F0"/>
                </a:solidFill>
                <a:latin typeface="Calibri" pitchFamily="34" charset="0"/>
                <a:ea typeface="Calibri" pitchFamily="34" charset="-122"/>
                <a:cs typeface="Calibri" pitchFamily="34" charset="-120"/>
              </a:rPr>
              <a:t>1</a:t>
            </a:r>
            <a:endParaRPr lang="en-US" sz="2000" dirty="0"/>
          </a:p>
        </p:txBody>
      </p:sp>
      <p:sp>
        <p:nvSpPr>
          <p:cNvPr id="6" name="Shape 3"/>
          <p:cNvSpPr/>
          <p:nvPr/>
        </p:nvSpPr>
        <p:spPr>
          <a:xfrm>
            <a:off x="694944" y="1920240"/>
            <a:ext cx="0" cy="182880"/>
          </a:xfrm>
          <a:prstGeom prst="line">
            <a:avLst/>
          </a:prstGeom>
          <a:noFill/>
          <a:ln w="12700">
            <a:solidFill>
              <a:srgbClr val="1A2D52"/>
            </a:solidFill>
            <a:prstDash val="solid"/>
          </a:ln>
        </p:spPr>
      </p:sp>
      <p:sp>
        <p:nvSpPr>
          <p:cNvPr id="7" name="Text 4"/>
          <p:cNvSpPr/>
          <p:nvPr/>
        </p:nvSpPr>
        <p:spPr>
          <a:xfrm>
            <a:off x="1188720" y="1170432"/>
            <a:ext cx="1828800" cy="347472"/>
          </a:xfrm>
          <a:prstGeom prst="rect">
            <a:avLst/>
          </a:prstGeom>
          <a:noFill/>
          <a:ln/>
        </p:spPr>
        <p:txBody>
          <a:bodyPr wrap="square" rtlCol="0" anchor="ctr"/>
          <a:lstStyle/>
          <a:p>
            <a:pPr indent="0" marL="0">
              <a:buNone/>
            </a:pPr>
            <a:r>
              <a:rPr lang="en-US" sz="1100" b="1" spc="100" kern="0" dirty="0">
                <a:solidFill>
                  <a:srgbClr val="00C4F0"/>
                </a:solidFill>
                <a:latin typeface="Calibri" pitchFamily="34" charset="0"/>
                <a:ea typeface="Calibri" pitchFamily="34" charset="-122"/>
                <a:cs typeface="Calibri" pitchFamily="34" charset="-120"/>
              </a:rPr>
              <a:t>TODAY</a:t>
            </a:r>
            <a:endParaRPr lang="en-US" sz="1100" dirty="0"/>
          </a:p>
        </p:txBody>
      </p:sp>
      <p:sp>
        <p:nvSpPr>
          <p:cNvPr id="8" name="Text 5"/>
          <p:cNvSpPr/>
          <p:nvPr/>
        </p:nvSpPr>
        <p:spPr>
          <a:xfrm>
            <a:off x="1188720" y="1481328"/>
            <a:ext cx="7498080" cy="420624"/>
          </a:xfrm>
          <a:prstGeom prst="rect">
            <a:avLst/>
          </a:prstGeom>
          <a:noFill/>
          <a:ln/>
        </p:spPr>
        <p:txBody>
          <a:bodyPr wrap="square" rtlCol="0" anchor="t"/>
          <a:lstStyle/>
          <a:p>
            <a:pPr indent="0" marL="0">
              <a:lnSpc>
                <a:spcPct val="120000"/>
              </a:lnSpc>
              <a:buNone/>
            </a:pPr>
            <a:r>
              <a:rPr lang="en-US" sz="1200" dirty="0">
                <a:solidFill>
                  <a:srgbClr val="7A9ACC"/>
                </a:solidFill>
                <a:latin typeface="Calibri" pitchFamily="34" charset="0"/>
                <a:ea typeface="Calibri" pitchFamily="34" charset="-122"/>
                <a:cs typeface="Calibri" pitchFamily="34" charset="-120"/>
              </a:rPr>
              <a:t>You fill in the interest form (2 minutes). No commitment — just your name, school, and contact.</a:t>
            </a:r>
            <a:endParaRPr lang="en-US" sz="1200" dirty="0"/>
          </a:p>
        </p:txBody>
      </p:sp>
      <p:sp>
        <p:nvSpPr>
          <p:cNvPr id="9" name="Shape 6"/>
          <p:cNvSpPr/>
          <p:nvPr/>
        </p:nvSpPr>
        <p:spPr>
          <a:xfrm>
            <a:off x="320040" y="2103120"/>
            <a:ext cx="749808" cy="749808"/>
          </a:xfrm>
          <a:prstGeom prst="ellipse">
            <a:avLst/>
          </a:prstGeom>
          <a:solidFill>
            <a:srgbClr val="6AFB5A">
              <a:alpha val="20000"/>
            </a:srgbClr>
          </a:solidFill>
          <a:ln w="12700">
            <a:solidFill>
              <a:srgbClr val="6AFB5A"/>
            </a:solidFill>
            <a:prstDash val="solid"/>
          </a:ln>
        </p:spPr>
      </p:sp>
      <p:sp>
        <p:nvSpPr>
          <p:cNvPr id="10" name="Text 7"/>
          <p:cNvSpPr/>
          <p:nvPr/>
        </p:nvSpPr>
        <p:spPr>
          <a:xfrm>
            <a:off x="320040" y="2103120"/>
            <a:ext cx="749808" cy="749808"/>
          </a:xfrm>
          <a:prstGeom prst="rect">
            <a:avLst/>
          </a:prstGeom>
          <a:noFill/>
          <a:ln/>
        </p:spPr>
        <p:txBody>
          <a:bodyPr wrap="square" rtlCol="0" anchor="ctr"/>
          <a:lstStyle/>
          <a:p>
            <a:pPr algn="ctr" indent="0" marL="0">
              <a:buNone/>
            </a:pPr>
            <a:r>
              <a:rPr lang="en-US" sz="2000" b="1" dirty="0">
                <a:solidFill>
                  <a:srgbClr val="6AFB5A"/>
                </a:solidFill>
                <a:latin typeface="Calibri" pitchFamily="34" charset="0"/>
                <a:ea typeface="Calibri" pitchFamily="34" charset="-122"/>
                <a:cs typeface="Calibri" pitchFamily="34" charset="-120"/>
              </a:rPr>
              <a:t>2</a:t>
            </a:r>
            <a:endParaRPr lang="en-US" sz="2000" dirty="0"/>
          </a:p>
        </p:txBody>
      </p:sp>
      <p:sp>
        <p:nvSpPr>
          <p:cNvPr id="11" name="Shape 8"/>
          <p:cNvSpPr/>
          <p:nvPr/>
        </p:nvSpPr>
        <p:spPr>
          <a:xfrm>
            <a:off x="694944" y="2852928"/>
            <a:ext cx="0" cy="182880"/>
          </a:xfrm>
          <a:prstGeom prst="line">
            <a:avLst/>
          </a:prstGeom>
          <a:noFill/>
          <a:ln w="12700">
            <a:solidFill>
              <a:srgbClr val="1A2D52"/>
            </a:solidFill>
            <a:prstDash val="solid"/>
          </a:ln>
        </p:spPr>
      </p:sp>
      <p:sp>
        <p:nvSpPr>
          <p:cNvPr id="12" name="Text 9"/>
          <p:cNvSpPr/>
          <p:nvPr/>
        </p:nvSpPr>
        <p:spPr>
          <a:xfrm>
            <a:off x="1188720" y="2103120"/>
            <a:ext cx="1828800" cy="347472"/>
          </a:xfrm>
          <a:prstGeom prst="rect">
            <a:avLst/>
          </a:prstGeom>
          <a:noFill/>
          <a:ln/>
        </p:spPr>
        <p:txBody>
          <a:bodyPr wrap="square" rtlCol="0" anchor="ctr"/>
          <a:lstStyle/>
          <a:p>
            <a:pPr indent="0" marL="0">
              <a:buNone/>
            </a:pPr>
            <a:r>
              <a:rPr lang="en-US" sz="1100" b="1" spc="100" kern="0" dirty="0">
                <a:solidFill>
                  <a:srgbClr val="6AFB5A"/>
                </a:solidFill>
                <a:latin typeface="Calibri" pitchFamily="34" charset="0"/>
                <a:ea typeface="Calibri" pitchFamily="34" charset="-122"/>
                <a:cs typeface="Calibri" pitchFamily="34" charset="-120"/>
              </a:rPr>
              <a:t>WITHIN 48 HRS</a:t>
            </a:r>
            <a:endParaRPr lang="en-US" sz="1100" dirty="0"/>
          </a:p>
        </p:txBody>
      </p:sp>
      <p:sp>
        <p:nvSpPr>
          <p:cNvPr id="13" name="Text 10"/>
          <p:cNvSpPr/>
          <p:nvPr/>
        </p:nvSpPr>
        <p:spPr>
          <a:xfrm>
            <a:off x="1188720" y="2414016"/>
            <a:ext cx="7498080" cy="420624"/>
          </a:xfrm>
          <a:prstGeom prst="rect">
            <a:avLst/>
          </a:prstGeom>
          <a:noFill/>
          <a:ln/>
        </p:spPr>
        <p:txBody>
          <a:bodyPr wrap="square" rtlCol="0" anchor="t"/>
          <a:lstStyle/>
          <a:p>
            <a:pPr indent="0" marL="0">
              <a:lnSpc>
                <a:spcPct val="120000"/>
              </a:lnSpc>
              <a:buNone/>
            </a:pPr>
            <a:r>
              <a:rPr lang="en-US" sz="1200" dirty="0">
                <a:solidFill>
                  <a:srgbClr val="7A9ACC"/>
                </a:solidFill>
                <a:latin typeface="Calibri" pitchFamily="34" charset="0"/>
                <a:ea typeface="Calibri" pitchFamily="34" charset="-122"/>
                <a:cs typeface="Calibri" pitchFamily="34" charset="-120"/>
              </a:rPr>
              <a:t>Soumya calls you personally. Answers any remaining questions. Shares the full partnership proposal.</a:t>
            </a:r>
            <a:endParaRPr lang="en-US" sz="1200" dirty="0"/>
          </a:p>
        </p:txBody>
      </p:sp>
      <p:sp>
        <p:nvSpPr>
          <p:cNvPr id="14" name="Shape 11"/>
          <p:cNvSpPr/>
          <p:nvPr/>
        </p:nvSpPr>
        <p:spPr>
          <a:xfrm>
            <a:off x="320040" y="3035808"/>
            <a:ext cx="749808" cy="749808"/>
          </a:xfrm>
          <a:prstGeom prst="ellipse">
            <a:avLst/>
          </a:prstGeom>
          <a:solidFill>
            <a:srgbClr val="F5B642">
              <a:alpha val="20000"/>
            </a:srgbClr>
          </a:solidFill>
          <a:ln w="12700">
            <a:solidFill>
              <a:srgbClr val="F5B642"/>
            </a:solidFill>
            <a:prstDash val="solid"/>
          </a:ln>
        </p:spPr>
      </p:sp>
      <p:sp>
        <p:nvSpPr>
          <p:cNvPr id="15" name="Text 12"/>
          <p:cNvSpPr/>
          <p:nvPr/>
        </p:nvSpPr>
        <p:spPr>
          <a:xfrm>
            <a:off x="320040" y="3035808"/>
            <a:ext cx="749808" cy="749808"/>
          </a:xfrm>
          <a:prstGeom prst="rect">
            <a:avLst/>
          </a:prstGeom>
          <a:noFill/>
          <a:ln/>
        </p:spPr>
        <p:txBody>
          <a:bodyPr wrap="square" rtlCol="0" anchor="ctr"/>
          <a:lstStyle/>
          <a:p>
            <a:pPr algn="ctr" indent="0" marL="0">
              <a:buNone/>
            </a:pPr>
            <a:r>
              <a:rPr lang="en-US" sz="2000" b="1" dirty="0">
                <a:solidFill>
                  <a:srgbClr val="F5B642"/>
                </a:solidFill>
                <a:latin typeface="Calibri" pitchFamily="34" charset="0"/>
                <a:ea typeface="Calibri" pitchFamily="34" charset="-122"/>
                <a:cs typeface="Calibri" pitchFamily="34" charset="-120"/>
              </a:rPr>
              <a:t>3</a:t>
            </a:r>
            <a:endParaRPr lang="en-US" sz="2000" dirty="0"/>
          </a:p>
        </p:txBody>
      </p:sp>
      <p:sp>
        <p:nvSpPr>
          <p:cNvPr id="16" name="Shape 13"/>
          <p:cNvSpPr/>
          <p:nvPr/>
        </p:nvSpPr>
        <p:spPr>
          <a:xfrm>
            <a:off x="694944" y="3785616"/>
            <a:ext cx="0" cy="182880"/>
          </a:xfrm>
          <a:prstGeom prst="line">
            <a:avLst/>
          </a:prstGeom>
          <a:noFill/>
          <a:ln w="12700">
            <a:solidFill>
              <a:srgbClr val="1A2D52"/>
            </a:solidFill>
            <a:prstDash val="solid"/>
          </a:ln>
        </p:spPr>
      </p:sp>
      <p:sp>
        <p:nvSpPr>
          <p:cNvPr id="17" name="Text 14"/>
          <p:cNvSpPr/>
          <p:nvPr/>
        </p:nvSpPr>
        <p:spPr>
          <a:xfrm>
            <a:off x="1188720" y="3035808"/>
            <a:ext cx="1828800" cy="347472"/>
          </a:xfrm>
          <a:prstGeom prst="rect">
            <a:avLst/>
          </a:prstGeom>
          <a:noFill/>
          <a:ln/>
        </p:spPr>
        <p:txBody>
          <a:bodyPr wrap="square" rtlCol="0" anchor="ctr"/>
          <a:lstStyle/>
          <a:p>
            <a:pPr indent="0" marL="0">
              <a:buNone/>
            </a:pPr>
            <a:r>
              <a:rPr lang="en-US" sz="1100" b="1" spc="100" kern="0" dirty="0">
                <a:solidFill>
                  <a:srgbClr val="F5B642"/>
                </a:solidFill>
                <a:latin typeface="Calibri" pitchFamily="34" charset="0"/>
                <a:ea typeface="Calibri" pitchFamily="34" charset="-122"/>
                <a:cs typeface="Calibri" pitchFamily="34" charset="-120"/>
              </a:rPr>
              <a:t>THIS WEEK</a:t>
            </a:r>
            <a:endParaRPr lang="en-US" sz="1100" dirty="0"/>
          </a:p>
        </p:txBody>
      </p:sp>
      <p:sp>
        <p:nvSpPr>
          <p:cNvPr id="18" name="Text 15"/>
          <p:cNvSpPr/>
          <p:nvPr/>
        </p:nvSpPr>
        <p:spPr>
          <a:xfrm>
            <a:off x="1188720" y="3346704"/>
            <a:ext cx="7498080" cy="420624"/>
          </a:xfrm>
          <a:prstGeom prst="rect">
            <a:avLst/>
          </a:prstGeom>
          <a:noFill/>
          <a:ln/>
        </p:spPr>
        <p:txBody>
          <a:bodyPr wrap="square" rtlCol="0" anchor="t"/>
          <a:lstStyle/>
          <a:p>
            <a:pPr indent="0" marL="0">
              <a:lnSpc>
                <a:spcPct val="120000"/>
              </a:lnSpc>
              <a:buNone/>
            </a:pPr>
            <a:r>
              <a:rPr lang="en-US" sz="1200" dirty="0">
                <a:solidFill>
                  <a:srgbClr val="7A9ACC"/>
                </a:solidFill>
                <a:latin typeface="Calibri" pitchFamily="34" charset="0"/>
                <a:ea typeface="Calibri" pitchFamily="34" charset="-122"/>
                <a:cs typeface="Calibri" pitchFamily="34" charset="-120"/>
              </a:rPr>
              <a:t>If you're interested, we schedule a 30-minute meeting with the principal to walk through the agreement.</a:t>
            </a:r>
            <a:endParaRPr lang="en-US" sz="1200" dirty="0"/>
          </a:p>
        </p:txBody>
      </p:sp>
      <p:sp>
        <p:nvSpPr>
          <p:cNvPr id="19" name="Shape 16"/>
          <p:cNvSpPr/>
          <p:nvPr/>
        </p:nvSpPr>
        <p:spPr>
          <a:xfrm>
            <a:off x="320040" y="3968496"/>
            <a:ext cx="749808" cy="749808"/>
          </a:xfrm>
          <a:prstGeom prst="ellipse">
            <a:avLst/>
          </a:prstGeom>
          <a:solidFill>
            <a:srgbClr val="FF3B5C">
              <a:alpha val="20000"/>
            </a:srgbClr>
          </a:solidFill>
          <a:ln w="12700">
            <a:solidFill>
              <a:srgbClr val="FF3B5C"/>
            </a:solidFill>
            <a:prstDash val="solid"/>
          </a:ln>
        </p:spPr>
      </p:sp>
      <p:sp>
        <p:nvSpPr>
          <p:cNvPr id="20" name="Text 17"/>
          <p:cNvSpPr/>
          <p:nvPr/>
        </p:nvSpPr>
        <p:spPr>
          <a:xfrm>
            <a:off x="320040" y="3968496"/>
            <a:ext cx="749808" cy="749808"/>
          </a:xfrm>
          <a:prstGeom prst="rect">
            <a:avLst/>
          </a:prstGeom>
          <a:noFill/>
          <a:ln/>
        </p:spPr>
        <p:txBody>
          <a:bodyPr wrap="square" rtlCol="0" anchor="ctr"/>
          <a:lstStyle/>
          <a:p>
            <a:pPr algn="ctr" indent="0" marL="0">
              <a:buNone/>
            </a:pPr>
            <a:r>
              <a:rPr lang="en-US" sz="2000" b="1" dirty="0">
                <a:solidFill>
                  <a:srgbClr val="FF3B5C"/>
                </a:solidFill>
                <a:latin typeface="Calibri" pitchFamily="34" charset="0"/>
                <a:ea typeface="Calibri" pitchFamily="34" charset="-122"/>
                <a:cs typeface="Calibri" pitchFamily="34" charset="-120"/>
              </a:rPr>
              <a:t>4</a:t>
            </a:r>
            <a:endParaRPr lang="en-US" sz="2000" dirty="0"/>
          </a:p>
        </p:txBody>
      </p:sp>
      <p:sp>
        <p:nvSpPr>
          <p:cNvPr id="21" name="Text 18"/>
          <p:cNvSpPr/>
          <p:nvPr/>
        </p:nvSpPr>
        <p:spPr>
          <a:xfrm>
            <a:off x="1188720" y="3968496"/>
            <a:ext cx="1828800" cy="347472"/>
          </a:xfrm>
          <a:prstGeom prst="rect">
            <a:avLst/>
          </a:prstGeom>
          <a:noFill/>
          <a:ln/>
        </p:spPr>
        <p:txBody>
          <a:bodyPr wrap="square" rtlCol="0" anchor="ctr"/>
          <a:lstStyle/>
          <a:p>
            <a:pPr indent="0" marL="0">
              <a:buNone/>
            </a:pPr>
            <a:r>
              <a:rPr lang="en-US" sz="1100" b="1" spc="100" kern="0" dirty="0">
                <a:solidFill>
                  <a:srgbClr val="FF3B5C"/>
                </a:solidFill>
                <a:latin typeface="Calibri" pitchFamily="34" charset="0"/>
                <a:ea typeface="Calibri" pitchFamily="34" charset="-122"/>
                <a:cs typeface="Calibri" pitchFamily="34" charset="-120"/>
              </a:rPr>
              <a:t>JULY 2025</a:t>
            </a:r>
            <a:endParaRPr lang="en-US" sz="1100" dirty="0"/>
          </a:p>
        </p:txBody>
      </p:sp>
      <p:sp>
        <p:nvSpPr>
          <p:cNvPr id="22" name="Text 19"/>
          <p:cNvSpPr/>
          <p:nvPr/>
        </p:nvSpPr>
        <p:spPr>
          <a:xfrm>
            <a:off x="1188720" y="4279392"/>
            <a:ext cx="7498080" cy="420624"/>
          </a:xfrm>
          <a:prstGeom prst="rect">
            <a:avLst/>
          </a:prstGeom>
          <a:noFill/>
          <a:ln/>
        </p:spPr>
        <p:txBody>
          <a:bodyPr wrap="square" rtlCol="0" anchor="t"/>
          <a:lstStyle/>
          <a:p>
            <a:pPr indent="0" marL="0">
              <a:lnSpc>
                <a:spcPct val="120000"/>
              </a:lnSpc>
              <a:buNone/>
            </a:pPr>
            <a:r>
              <a:rPr lang="en-US" sz="1200" dirty="0">
                <a:solidFill>
                  <a:srgbClr val="7A9ACC"/>
                </a:solidFill>
                <a:latin typeface="Calibri" pitchFamily="34" charset="0"/>
                <a:ea typeface="Calibri" pitchFamily="34" charset="-122"/>
                <a:cs typeface="Calibri" pitchFamily="34" charset="-120"/>
              </a:rPr>
              <a:t>Cohort 1 begins. Your students are the first batch in Bhubaneswar to hold UpMentor credentials.</a:t>
            </a:r>
            <a:endParaRPr lang="en-US" sz="1200" dirty="0"/>
          </a:p>
        </p:txBody>
      </p:sp>
      <p:sp>
        <p:nvSpPr>
          <p:cNvPr id="23" name="Shape 20"/>
          <p:cNvSpPr/>
          <p:nvPr/>
        </p:nvSpPr>
        <p:spPr>
          <a:xfrm>
            <a:off x="320040" y="4645152"/>
            <a:ext cx="8503920" cy="384048"/>
          </a:xfrm>
          <a:prstGeom prst="roundRect">
            <a:avLst>
              <a:gd name="adj" fmla="val 19048"/>
            </a:avLst>
          </a:prstGeom>
          <a:solidFill>
            <a:srgbClr val="1554F0"/>
          </a:solidFill>
          <a:ln w="12700">
            <a:solidFill>
              <a:srgbClr val="1554F0"/>
            </a:solidFill>
            <a:prstDash val="solid"/>
          </a:ln>
          <a:effectLst>
            <a:outerShdw sx="100000" sy="100000" kx="0" ky="0" algn="bl" rotWithShape="0" blurRad="101600" dist="25400" dir="2700000">
              <a:srgbClr val="000000">
                <a:alpha val="35000"/>
              </a:srgbClr>
            </a:outerShdw>
          </a:effectLst>
        </p:spPr>
      </p:sp>
      <p:sp>
        <p:nvSpPr>
          <p:cNvPr id="24" name="Text 21"/>
          <p:cNvSpPr/>
          <p:nvPr/>
        </p:nvSpPr>
        <p:spPr>
          <a:xfrm>
            <a:off x="320040" y="4645152"/>
            <a:ext cx="8503920" cy="384048"/>
          </a:xfrm>
          <a:prstGeom prst="rect">
            <a:avLst/>
          </a:prstGeom>
          <a:noFill/>
          <a:ln/>
        </p:spPr>
        <p:txBody>
          <a:bodyPr wrap="square" rtlCol="0" anchor="ctr"/>
          <a:lstStyle/>
          <a:p>
            <a:pPr algn="ctr" indent="0" marL="0">
              <a:buNone/>
            </a:pPr>
            <a:r>
              <a:rPr lang="en-US" sz="1200" b="1" dirty="0">
                <a:solidFill>
                  <a:srgbClr val="EEF4FF"/>
                </a:solidFill>
                <a:latin typeface="Calibri" pitchFamily="34" charset="0"/>
                <a:ea typeface="Calibri" pitchFamily="34" charset="-122"/>
                <a:cs typeface="Calibri" pitchFamily="34" charset="-120"/>
              </a:rPr>
              <a:t>July 2025 cohort has limited spots. The exclusive territory goes to the first school that confirms.</a:t>
            </a:r>
            <a:endParaRPr lang="en-US" sz="1200" dirty="0"/>
          </a:p>
        </p:txBody>
      </p:sp>
      <p:sp>
        <p:nvSpPr>
          <p:cNvPr id="25" name="Text 22"/>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914400" y="-1371600"/>
            <a:ext cx="4572000" cy="4572000"/>
          </a:xfrm>
          <a:prstGeom prst="ellipse">
            <a:avLst/>
          </a:prstGeom>
          <a:solidFill>
            <a:srgbClr val="1554F0">
              <a:alpha val="12000"/>
            </a:srgbClr>
          </a:solidFill>
          <a:ln w="12700">
            <a:solidFill>
              <a:srgbClr val="1554F0">
                <a:alpha val="12000"/>
              </a:srgbClr>
            </a:solidFill>
            <a:prstDash val="solid"/>
          </a:ln>
        </p:spPr>
      </p:sp>
      <p:sp>
        <p:nvSpPr>
          <p:cNvPr id="3" name="Shape 1"/>
          <p:cNvSpPr/>
          <p:nvPr/>
        </p:nvSpPr>
        <p:spPr>
          <a:xfrm>
            <a:off x="5486400" y="2286000"/>
            <a:ext cx="3657600" cy="3657600"/>
          </a:xfrm>
          <a:prstGeom prst="ellipse">
            <a:avLst/>
          </a:prstGeom>
          <a:solidFill>
            <a:srgbClr val="00C4F0">
              <a:alpha val="10000"/>
            </a:srgbClr>
          </a:solidFill>
          <a:ln w="12700">
            <a:solidFill>
              <a:srgbClr val="00C4F0">
                <a:alpha val="10000"/>
              </a:srgbClr>
            </a:solidFill>
            <a:prstDash val="solid"/>
          </a:ln>
        </p:spPr>
      </p:sp>
      <p:pic>
        <p:nvPicPr>
          <p:cNvPr id="4" name="Image 0" descr="UpMentor">    </p:cNvPr>
          <p:cNvPicPr>
            <a:picLocks noChangeAspect="1"/>
          </p:cNvPicPr>
          <p:nvPr/>
        </p:nvPicPr>
        <p:blipFill>
          <a:blip r:embed="rId1"/>
          <a:stretch>
            <a:fillRect/>
          </a:stretch>
        </p:blipFill>
        <p:spPr>
          <a:xfrm>
            <a:off x="411480" y="256032"/>
            <a:ext cx="1280160" cy="457200"/>
          </a:xfrm>
          <a:prstGeom prst="rect">
            <a:avLst/>
          </a:prstGeom>
        </p:spPr>
      </p:pic>
      <p:sp>
        <p:nvSpPr>
          <p:cNvPr id="5" name="Text 2"/>
          <p:cNvSpPr/>
          <p:nvPr/>
        </p:nvSpPr>
        <p:spPr>
          <a:xfrm>
            <a:off x="411480" y="1005840"/>
            <a:ext cx="5486400" cy="1645920"/>
          </a:xfrm>
          <a:prstGeom prst="rect">
            <a:avLst/>
          </a:prstGeom>
          <a:noFill/>
          <a:ln/>
        </p:spPr>
        <p:txBody>
          <a:bodyPr wrap="square" rtlCol="0" anchor="ctr"/>
          <a:lstStyle/>
          <a:p>
            <a:pPr indent="0" marL="0">
              <a:lnSpc>
                <a:spcPct val="110000"/>
              </a:lnSpc>
              <a:buNone/>
            </a:pPr>
            <a:r>
              <a:rPr lang="en-US" sz="3800" b="1" dirty="0">
                <a:solidFill>
                  <a:srgbClr val="EEF4FF"/>
                </a:solidFill>
                <a:latin typeface="Calibri" pitchFamily="34" charset="0"/>
                <a:ea typeface="Calibri" pitchFamily="34" charset="-122"/>
                <a:cs typeface="Calibri" pitchFamily="34" charset="-120"/>
              </a:rPr>
              <a:t>Preparing minds</a:t>
            </a:r>
            <a:endParaRPr lang="en-US" sz="3800" dirty="0"/>
          </a:p>
          <a:p>
            <a:pPr indent="0" marL="0">
              <a:lnSpc>
                <a:spcPct val="110000"/>
              </a:lnSpc>
              <a:buNone/>
            </a:pPr>
            <a:r>
              <a:rPr lang="en-US" sz="3800" b="1" dirty="0">
                <a:solidFill>
                  <a:srgbClr val="EEF4FF"/>
                </a:solidFill>
                <a:latin typeface="Calibri" pitchFamily="34" charset="0"/>
                <a:ea typeface="Calibri" pitchFamily="34" charset="-122"/>
                <a:cs typeface="Calibri" pitchFamily="34" charset="-120"/>
              </a:rPr>
              <a:t>for the AI era.</a:t>
            </a:r>
            <a:endParaRPr lang="en-US" sz="3800" dirty="0"/>
          </a:p>
        </p:txBody>
      </p:sp>
      <p:sp>
        <p:nvSpPr>
          <p:cNvPr id="6" name="Text 3"/>
          <p:cNvSpPr/>
          <p:nvPr/>
        </p:nvSpPr>
        <p:spPr>
          <a:xfrm>
            <a:off x="411480" y="2697480"/>
            <a:ext cx="5486400" cy="457200"/>
          </a:xfrm>
          <a:prstGeom prst="rect">
            <a:avLst/>
          </a:prstGeom>
          <a:noFill/>
          <a:ln/>
        </p:spPr>
        <p:txBody>
          <a:bodyPr wrap="square" rtlCol="0" anchor="ctr"/>
          <a:lstStyle/>
          <a:p>
            <a:pPr indent="0" marL="0">
              <a:buNone/>
            </a:pPr>
            <a:r>
              <a:rPr lang="en-US" sz="1800" i="1" dirty="0">
                <a:solidFill>
                  <a:srgbClr val="00C4F0"/>
                </a:solidFill>
                <a:latin typeface="Calibri" pitchFamily="34" charset="0"/>
                <a:ea typeface="Calibri" pitchFamily="34" charset="-122"/>
                <a:cs typeface="Calibri" pitchFamily="34" charset="-120"/>
              </a:rPr>
              <a:t>Let's build this together.</a:t>
            </a:r>
            <a:endParaRPr lang="en-US" sz="1800" dirty="0"/>
          </a:p>
        </p:txBody>
      </p:sp>
      <p:sp>
        <p:nvSpPr>
          <p:cNvPr id="7" name="Shape 4"/>
          <p:cNvSpPr/>
          <p:nvPr/>
        </p:nvSpPr>
        <p:spPr>
          <a:xfrm>
            <a:off x="411480" y="3291840"/>
            <a:ext cx="5303520" cy="347472"/>
          </a:xfrm>
          <a:prstGeom prst="roundRect">
            <a:avLst>
              <a:gd name="adj" fmla="val 15789"/>
            </a:avLst>
          </a:prstGeom>
          <a:solidFill>
            <a:srgbClr val="0E1C38"/>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8" name="Text 5"/>
          <p:cNvSpPr/>
          <p:nvPr/>
        </p:nvSpPr>
        <p:spPr>
          <a:xfrm>
            <a:off x="548640" y="3291840"/>
            <a:ext cx="5029200" cy="347472"/>
          </a:xfrm>
          <a:prstGeom prst="rect">
            <a:avLst/>
          </a:prstGeom>
          <a:noFill/>
          <a:ln/>
        </p:spPr>
        <p:txBody>
          <a:bodyPr wrap="square" rtlCol="0" anchor="ctr"/>
          <a:lstStyle/>
          <a:p>
            <a:pPr indent="0" marL="0">
              <a:buNone/>
            </a:pPr>
            <a:r>
              <a:rPr lang="en-US" sz="1200" dirty="0">
                <a:solidFill>
                  <a:srgbClr val="7A9ACC"/>
                </a:solidFill>
                <a:latin typeface="Calibri" pitchFamily="34" charset="0"/>
                <a:ea typeface="Calibri" pitchFamily="34" charset="-122"/>
                <a:cs typeface="Calibri" pitchFamily="34" charset="-120"/>
              </a:rPr>
              <a:t>✉️  aventris.education@gmail.com</a:t>
            </a:r>
            <a:endParaRPr lang="en-US" sz="1200" dirty="0"/>
          </a:p>
        </p:txBody>
      </p:sp>
      <p:sp>
        <p:nvSpPr>
          <p:cNvPr id="9" name="Shape 6"/>
          <p:cNvSpPr/>
          <p:nvPr/>
        </p:nvSpPr>
        <p:spPr>
          <a:xfrm>
            <a:off x="411480" y="3712464"/>
            <a:ext cx="5303520" cy="347472"/>
          </a:xfrm>
          <a:prstGeom prst="roundRect">
            <a:avLst>
              <a:gd name="adj" fmla="val 15789"/>
            </a:avLst>
          </a:prstGeom>
          <a:solidFill>
            <a:srgbClr val="0E1C38"/>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10" name="Text 7"/>
          <p:cNvSpPr/>
          <p:nvPr/>
        </p:nvSpPr>
        <p:spPr>
          <a:xfrm>
            <a:off x="548640" y="3712464"/>
            <a:ext cx="5029200" cy="347472"/>
          </a:xfrm>
          <a:prstGeom prst="rect">
            <a:avLst/>
          </a:prstGeom>
          <a:noFill/>
          <a:ln/>
        </p:spPr>
        <p:txBody>
          <a:bodyPr wrap="square" rtlCol="0" anchor="ctr"/>
          <a:lstStyle/>
          <a:p>
            <a:pPr indent="0" marL="0">
              <a:buNone/>
            </a:pPr>
            <a:r>
              <a:rPr lang="en-US" sz="1200" dirty="0">
                <a:solidFill>
                  <a:srgbClr val="7A9ACC"/>
                </a:solidFill>
                <a:latin typeface="Calibri" pitchFamily="34" charset="0"/>
                <a:ea typeface="Calibri" pitchFamily="34" charset="-122"/>
                <a:cs typeface="Calibri" pitchFamily="34" charset="-120"/>
              </a:rPr>
              <a:t>📞  +91 82601 56717  /  +91 84800 46645</a:t>
            </a:r>
            <a:endParaRPr lang="en-US" sz="1200" dirty="0"/>
          </a:p>
        </p:txBody>
      </p:sp>
      <p:sp>
        <p:nvSpPr>
          <p:cNvPr id="11" name="Shape 8"/>
          <p:cNvSpPr/>
          <p:nvPr/>
        </p:nvSpPr>
        <p:spPr>
          <a:xfrm>
            <a:off x="411480" y="4133088"/>
            <a:ext cx="5303520" cy="347472"/>
          </a:xfrm>
          <a:prstGeom prst="roundRect">
            <a:avLst>
              <a:gd name="adj" fmla="val 15789"/>
            </a:avLst>
          </a:prstGeom>
          <a:solidFill>
            <a:srgbClr val="0E1C38"/>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12" name="Text 9"/>
          <p:cNvSpPr/>
          <p:nvPr/>
        </p:nvSpPr>
        <p:spPr>
          <a:xfrm>
            <a:off x="548640" y="4133088"/>
            <a:ext cx="5029200" cy="347472"/>
          </a:xfrm>
          <a:prstGeom prst="rect">
            <a:avLst/>
          </a:prstGeom>
          <a:noFill/>
          <a:ln/>
        </p:spPr>
        <p:txBody>
          <a:bodyPr wrap="square" rtlCol="0" anchor="ctr"/>
          <a:lstStyle/>
          <a:p>
            <a:pPr indent="0" marL="0">
              <a:buNone/>
            </a:pPr>
            <a:r>
              <a:rPr lang="en-US" sz="1200" dirty="0">
                <a:solidFill>
                  <a:srgbClr val="7A9ACC"/>
                </a:solidFill>
                <a:latin typeface="Calibri" pitchFamily="34" charset="0"/>
                <a:ea typeface="Calibri" pitchFamily="34" charset="-122"/>
                <a:cs typeface="Calibri" pitchFamily="34" charset="-120"/>
              </a:rPr>
              <a:t>📸  @aventris.ai</a:t>
            </a:r>
            <a:endParaRPr lang="en-US" sz="1200" dirty="0"/>
          </a:p>
        </p:txBody>
      </p:sp>
      <p:sp>
        <p:nvSpPr>
          <p:cNvPr id="13" name="Shape 10"/>
          <p:cNvSpPr/>
          <p:nvPr/>
        </p:nvSpPr>
        <p:spPr>
          <a:xfrm>
            <a:off x="411480" y="4553712"/>
            <a:ext cx="5303520" cy="347472"/>
          </a:xfrm>
          <a:prstGeom prst="roundRect">
            <a:avLst>
              <a:gd name="adj" fmla="val 15789"/>
            </a:avLst>
          </a:prstGeom>
          <a:solidFill>
            <a:srgbClr val="0E1C38"/>
          </a:solidFill>
          <a:ln w="12700">
            <a:solidFill>
              <a:srgbClr val="1A2D52"/>
            </a:solidFill>
            <a:prstDash val="solid"/>
          </a:ln>
          <a:effectLst>
            <a:outerShdw sx="100000" sy="100000" kx="0" ky="0" algn="bl" rotWithShape="0" blurRad="50800" dist="12700" dir="2700000">
              <a:srgbClr val="000000">
                <a:alpha val="15000"/>
              </a:srgbClr>
            </a:outerShdw>
          </a:effectLst>
        </p:spPr>
      </p:sp>
      <p:sp>
        <p:nvSpPr>
          <p:cNvPr id="14" name="Text 11"/>
          <p:cNvSpPr/>
          <p:nvPr/>
        </p:nvSpPr>
        <p:spPr>
          <a:xfrm>
            <a:off x="548640" y="4553712"/>
            <a:ext cx="5029200" cy="347472"/>
          </a:xfrm>
          <a:prstGeom prst="rect">
            <a:avLst/>
          </a:prstGeom>
          <a:noFill/>
          <a:ln/>
        </p:spPr>
        <p:txBody>
          <a:bodyPr wrap="square" rtlCol="0" anchor="ctr"/>
          <a:lstStyle/>
          <a:p>
            <a:pPr indent="0" marL="0">
              <a:buNone/>
            </a:pPr>
            <a:r>
              <a:rPr lang="en-US" sz="1200" dirty="0">
                <a:solidFill>
                  <a:srgbClr val="7A9ACC"/>
                </a:solidFill>
                <a:latin typeface="Calibri" pitchFamily="34" charset="0"/>
                <a:ea typeface="Calibri" pitchFamily="34" charset="-122"/>
                <a:cs typeface="Calibri" pitchFamily="34" charset="-120"/>
              </a:rPr>
              <a:t>🌐  aventris.vercel.app</a:t>
            </a:r>
            <a:endParaRPr lang="en-US" sz="1200" dirty="0"/>
          </a:p>
        </p:txBody>
      </p:sp>
      <p:sp>
        <p:nvSpPr>
          <p:cNvPr id="15" name="Shape 12"/>
          <p:cNvSpPr/>
          <p:nvPr/>
        </p:nvSpPr>
        <p:spPr>
          <a:xfrm>
            <a:off x="6400800" y="1371600"/>
            <a:ext cx="2377440" cy="2377440"/>
          </a:xfrm>
          <a:prstGeom prst="roundRect">
            <a:avLst>
              <a:gd name="adj" fmla="val 4615"/>
            </a:avLst>
          </a:prstGeom>
          <a:solidFill>
            <a:srgbClr val="0E1C38"/>
          </a:solidFill>
          <a:ln w="12700">
            <a:solidFill>
              <a:srgbClr val="1A2D52"/>
            </a:solidFill>
            <a:prstDash val="solid"/>
          </a:ln>
          <a:effectLst>
            <a:outerShdw sx="100000" sy="100000" kx="0" ky="0" algn="bl" rotWithShape="0" blurRad="127000" dist="38100" dir="2700000">
              <a:srgbClr val="000000">
                <a:alpha val="30000"/>
              </a:srgbClr>
            </a:outerShdw>
          </a:effectLst>
        </p:spPr>
      </p:sp>
      <p:sp>
        <p:nvSpPr>
          <p:cNvPr id="16" name="Text 13"/>
          <p:cNvSpPr/>
          <p:nvPr/>
        </p:nvSpPr>
        <p:spPr>
          <a:xfrm>
            <a:off x="6400800" y="1371600"/>
            <a:ext cx="2377440" cy="2377440"/>
          </a:xfrm>
          <a:prstGeom prst="rect">
            <a:avLst/>
          </a:prstGeom>
          <a:noFill/>
          <a:ln/>
        </p:spPr>
        <p:txBody>
          <a:bodyPr wrap="square" rtlCol="0" anchor="ctr"/>
          <a:lstStyle/>
          <a:p>
            <a:pPr algn="ctr" indent="0" marL="0">
              <a:lnSpc>
                <a:spcPct val="140000"/>
              </a:lnSpc>
              <a:buNone/>
            </a:pPr>
            <a:r>
              <a:rPr lang="en-US" sz="1200" dirty="0">
                <a:solidFill>
                  <a:srgbClr val="7A9ACC"/>
                </a:solidFill>
                <a:latin typeface="Calibri" pitchFamily="34" charset="0"/>
                <a:ea typeface="Calibri" pitchFamily="34" charset="-122"/>
                <a:cs typeface="Calibri" pitchFamily="34" charset="-120"/>
              </a:rPr>
              <a:t>QR CODE</a:t>
            </a:r>
            <a:endParaRPr lang="en-US" sz="1200" dirty="0"/>
          </a:p>
          <a:p>
            <a:pPr algn="ctr" indent="0" marL="0">
              <a:lnSpc>
                <a:spcPct val="140000"/>
              </a:lnSpc>
              <a:buNone/>
            </a:pPr>
            <a:endParaRPr lang="en-US" sz="1200" dirty="0"/>
          </a:p>
          <a:p>
            <a:pPr algn="ctr" indent="0" marL="0">
              <a:lnSpc>
                <a:spcPct val="140000"/>
              </a:lnSpc>
              <a:buNone/>
            </a:pPr>
            <a:r>
              <a:rPr lang="en-US" sz="1200" dirty="0">
                <a:solidFill>
                  <a:srgbClr val="7A9ACC"/>
                </a:solidFill>
                <a:latin typeface="Calibri" pitchFamily="34" charset="0"/>
                <a:ea typeface="Calibri" pitchFamily="34" charset="-122"/>
                <a:cs typeface="Calibri" pitchFamily="34" charset="-120"/>
              </a:rPr>
              <a:t>Scan to register</a:t>
            </a:r>
            <a:endParaRPr lang="en-US" sz="1200" dirty="0"/>
          </a:p>
          <a:p>
            <a:pPr algn="ctr" indent="0" marL="0">
              <a:lnSpc>
                <a:spcPct val="140000"/>
              </a:lnSpc>
              <a:buNone/>
            </a:pPr>
            <a:r>
              <a:rPr lang="en-US" sz="1200" dirty="0">
                <a:solidFill>
                  <a:srgbClr val="7A9ACC"/>
                </a:solidFill>
                <a:latin typeface="Calibri" pitchFamily="34" charset="0"/>
                <a:ea typeface="Calibri" pitchFamily="34" charset="-122"/>
                <a:cs typeface="Calibri" pitchFamily="34" charset="-120"/>
              </a:rPr>
              <a:t>interest</a:t>
            </a:r>
            <a:endParaRPr lang="en-US" sz="1200" dirty="0"/>
          </a:p>
        </p:txBody>
      </p:sp>
      <p:sp>
        <p:nvSpPr>
          <p:cNvPr id="17" name="Text 14"/>
          <p:cNvSpPr/>
          <p:nvPr/>
        </p:nvSpPr>
        <p:spPr>
          <a:xfrm>
            <a:off x="6400800" y="3474720"/>
            <a:ext cx="2377440" cy="365760"/>
          </a:xfrm>
          <a:prstGeom prst="rect">
            <a:avLst/>
          </a:prstGeom>
          <a:noFill/>
          <a:ln/>
        </p:spPr>
        <p:txBody>
          <a:bodyPr wrap="square" rtlCol="0" anchor="ctr"/>
          <a:lstStyle/>
          <a:p>
            <a:pPr algn="ctr" indent="0" marL="0">
              <a:buNone/>
            </a:pPr>
            <a:r>
              <a:rPr lang="en-US" sz="900" i="1" dirty="0">
                <a:solidFill>
                  <a:srgbClr val="3A5070"/>
                </a:solidFill>
                <a:latin typeface="Calibri" pitchFamily="34" charset="0"/>
                <a:ea typeface="Calibri" pitchFamily="34" charset="-122"/>
                <a:cs typeface="Calibri" pitchFamily="34" charset="-120"/>
              </a:rPr>
              <a:t>[Add QR to your</a:t>
            </a:r>
            <a:endParaRPr lang="en-US" sz="900" dirty="0"/>
          </a:p>
          <a:p>
            <a:pPr algn="ctr" indent="0" marL="0">
              <a:buNone/>
            </a:pPr>
            <a:r>
              <a:rPr lang="en-US" sz="900" i="1" dirty="0">
                <a:solidFill>
                  <a:srgbClr val="3A5070"/>
                </a:solidFill>
                <a:latin typeface="Calibri" pitchFamily="34" charset="0"/>
                <a:ea typeface="Calibri" pitchFamily="34" charset="-122"/>
                <a:cs typeface="Calibri" pitchFamily="34" charset="-120"/>
              </a:rPr>
              <a:t>WhatsApp/form]</a:t>
            </a:r>
            <a:endParaRPr lang="en-US" sz="900" dirty="0"/>
          </a:p>
        </p:txBody>
      </p:sp>
      <p:sp>
        <p:nvSpPr>
          <p:cNvPr id="18" name="Text 15"/>
          <p:cNvSpPr/>
          <p:nvPr/>
        </p:nvSpPr>
        <p:spPr>
          <a:xfrm>
            <a:off x="8046720" y="4800600"/>
            <a:ext cx="822960" cy="228600"/>
          </a:xfrm>
          <a:prstGeom prst="rect">
            <a:avLst/>
          </a:prstGeom>
          <a:noFill/>
          <a:ln/>
        </p:spPr>
        <p:txBody>
          <a:bodyPr wrap="square" lIns="0" tIns="0" rIns="0" bIns="0" rtlCol="0" anchor="ctr"/>
          <a:lstStyle/>
          <a:p>
            <a:pPr algn="r" indent="0" marL="0">
              <a:buNone/>
            </a:pPr>
            <a:r>
              <a:rPr lang="en-US" sz="900" dirty="0">
                <a:solidFill>
                  <a:srgbClr val="3A5070"/>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AI Will Change Careers &amp; Education — UpMentor</dc:title>
  <dc:subject>PptxGenJS Presentation</dc:subject>
  <dc:creator>UpMentor Edutech Pvt Ltd</dc:creator>
  <cp:lastModifiedBy>UpMentor Edutech Pvt Ltd</cp:lastModifiedBy>
  <cp:revision>1</cp:revision>
  <dcterms:created xsi:type="dcterms:W3CDTF">2026-06-11T10:37:53Z</dcterms:created>
  <dcterms:modified xsi:type="dcterms:W3CDTF">2026-06-11T10:37:53Z</dcterms:modified>
</cp:coreProperties>
</file>